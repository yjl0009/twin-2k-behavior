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a2e67fd1e31498d" /><Relationship Type="http://schemas.openxmlformats.org/officeDocument/2006/relationships/extended-properties" Target="/docProps/app.xml" Id="Ra54e48d0dacc4a03" /><Relationship Type="http://schemas.openxmlformats.org/officeDocument/2006/relationships/officeDocument" Target="/ppt/presentation.xml" Id="Rc400f7e42c5a4c78" /></Relationships>
</file>

<file path=ppt/presentation.xml><?xml version="1.0" encoding="utf-8"?>
<p:presentation xmlns:p="http://schemas.openxmlformats.org/presentationml/2006/main">
  <p:sldMasterIdLst>
    <p:sldMasterId xmlns:r="http://schemas.openxmlformats.org/officeDocument/2006/relationships" id="2147483648" r:id="Rd547659f338e4535"/>
  </p:sldMasterIdLst>
  <p:notesMasterIdLst>
    <p:notesMasterId xmlns:r="http://schemas.openxmlformats.org/officeDocument/2006/relationships" r:id="R1749407fa97c478b"/>
  </p:notesMasterIdLst>
  <p:sldIdLst>
    <p:sldId xmlns:r="http://schemas.openxmlformats.org/officeDocument/2006/relationships" id="256" r:id="R09fb7051af394491"/>
    <p:sldId xmlns:r="http://schemas.openxmlformats.org/officeDocument/2006/relationships" id="257" r:id="R27ffa9ece0fc462f"/>
    <p:sldId xmlns:r="http://schemas.openxmlformats.org/officeDocument/2006/relationships" id="258" r:id="Ra9d6118135ae40c6"/>
    <p:sldId xmlns:r="http://schemas.openxmlformats.org/officeDocument/2006/relationships" id="259" r:id="Rc5b3a9912e8f4208"/>
    <p:sldId xmlns:r="http://schemas.openxmlformats.org/officeDocument/2006/relationships" id="260" r:id="R653c01b185ca4a8c"/>
    <p:sldId xmlns:r="http://schemas.openxmlformats.org/officeDocument/2006/relationships" id="261" r:id="R7d2851b3bb624cb0"/>
    <p:sldId xmlns:r="http://schemas.openxmlformats.org/officeDocument/2006/relationships" id="262" r:id="Rfc4e89eeb02f4478"/>
    <p:sldId xmlns:r="http://schemas.openxmlformats.org/officeDocument/2006/relationships" id="263" r:id="Rc5f783b666e04cc2"/>
    <p:sldId xmlns:r="http://schemas.openxmlformats.org/officeDocument/2006/relationships" id="264" r:id="R04ca0942df2941a4"/>
    <p:sldId xmlns:r="http://schemas.openxmlformats.org/officeDocument/2006/relationships" id="265" r:id="Rec770c76bef54a04"/>
    <p:sldId xmlns:r="http://schemas.openxmlformats.org/officeDocument/2006/relationships" id="266" r:id="R4e47ffa6ebfd44d5"/>
    <p:sldId xmlns:r="http://schemas.openxmlformats.org/officeDocument/2006/relationships" id="267" r:id="Rfffe3d8e4259449a"/>
    <p:sldId xmlns:r="http://schemas.openxmlformats.org/officeDocument/2006/relationships" id="268" r:id="R9099c4241f464ec4"/>
    <p:sldId xmlns:r="http://schemas.openxmlformats.org/officeDocument/2006/relationships" id="269" r:id="R9c2f98a9577c498d"/>
    <p:sldId xmlns:r="http://schemas.openxmlformats.org/officeDocument/2006/relationships" id="270" r:id="R5d019f315f504382"/>
    <p:sldId xmlns:r="http://schemas.openxmlformats.org/officeDocument/2006/relationships" id="271" r:id="Ra336f5a2a6c4475d"/>
    <p:sldId xmlns:r="http://schemas.openxmlformats.org/officeDocument/2006/relationships" id="272" r:id="R486880e3c45948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d527dcb5cb49d8" /><Relationship Type="http://schemas.openxmlformats.org/officeDocument/2006/relationships/slideMaster" Target="/ppt/slideMasters/slideMaster1.xml" Id="Rd547659f338e4535" /><Relationship Type="http://schemas.openxmlformats.org/officeDocument/2006/relationships/notesMaster" Target="/ppt/notesMasters/notesMaster1.xml" Id="R1749407fa97c478b" /><Relationship Type="http://schemas.openxmlformats.org/officeDocument/2006/relationships/presProps" Target="/ppt/presProps.xml" Id="R62bbd04915ea4cb2" /><Relationship Type="http://schemas.openxmlformats.org/officeDocument/2006/relationships/tableStyles" Target="/ppt/tableStyles.xml" Id="R9f42818c4e094e60" /><Relationship Type="http://schemas.openxmlformats.org/officeDocument/2006/relationships/slide" Target="/ppt/slides/slide1.xml" Id="R09fb7051af394491" /><Relationship Type="http://schemas.openxmlformats.org/officeDocument/2006/relationships/slide" Target="/ppt/slides/slide2.xml" Id="R27ffa9ece0fc462f" /><Relationship Type="http://schemas.openxmlformats.org/officeDocument/2006/relationships/slide" Target="/ppt/slides/slide3.xml" Id="Ra9d6118135ae40c6" /><Relationship Type="http://schemas.openxmlformats.org/officeDocument/2006/relationships/slide" Target="/ppt/slides/slide4.xml" Id="Rc5b3a9912e8f4208" /><Relationship Type="http://schemas.openxmlformats.org/officeDocument/2006/relationships/slide" Target="/ppt/slides/slide5.xml" Id="R653c01b185ca4a8c" /><Relationship Type="http://schemas.openxmlformats.org/officeDocument/2006/relationships/slide" Target="/ppt/slides/slide6.xml" Id="R7d2851b3bb624cb0" /><Relationship Type="http://schemas.openxmlformats.org/officeDocument/2006/relationships/slide" Target="/ppt/slides/slide7.xml" Id="Rfc4e89eeb02f4478" /><Relationship Type="http://schemas.openxmlformats.org/officeDocument/2006/relationships/slide" Target="/ppt/slides/slide8.xml" Id="Rc5f783b666e04cc2" /><Relationship Type="http://schemas.openxmlformats.org/officeDocument/2006/relationships/slide" Target="/ppt/slides/slide9.xml" Id="R04ca0942df2941a4" /><Relationship Type="http://schemas.openxmlformats.org/officeDocument/2006/relationships/slide" Target="/ppt/slides/slide10.xml" Id="Rec770c76bef54a04" /><Relationship Type="http://schemas.openxmlformats.org/officeDocument/2006/relationships/slide" Target="/ppt/slides/slide11.xml" Id="R4e47ffa6ebfd44d5" /><Relationship Type="http://schemas.openxmlformats.org/officeDocument/2006/relationships/slide" Target="/ppt/slides/slide12.xml" Id="Rfffe3d8e4259449a" /><Relationship Type="http://schemas.openxmlformats.org/officeDocument/2006/relationships/slide" Target="/ppt/slides/slide13.xml" Id="R9099c4241f464ec4" /><Relationship Type="http://schemas.openxmlformats.org/officeDocument/2006/relationships/slide" Target="/ppt/slides/slide14.xml" Id="R9c2f98a9577c498d" /><Relationship Type="http://schemas.openxmlformats.org/officeDocument/2006/relationships/slide" Target="/ppt/slides/slide15.xml" Id="R5d019f315f504382" /><Relationship Type="http://schemas.openxmlformats.org/officeDocument/2006/relationships/slide" Target="/ppt/slides/slide16.xml" Id="Ra336f5a2a6c4475d" /><Relationship Type="http://schemas.openxmlformats.org/officeDocument/2006/relationships/slide" Target="/ppt/slides/slide17.xml" Id="R486880e3c45948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7b53b7c5f040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42875" dist="51294" dir="4091915">
              <a:srgbClr val="327BC3">
                <a:alpha val="9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59ca7094a04e4a" /><Relationship Type="http://schemas.openxmlformats.org/officeDocument/2006/relationships/notesMaster" Target="/ppt/notesMasters/notesMaster1.xml" Id="R53f215bd1a6149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657e768f6c460e" /><Relationship Type="http://schemas.openxmlformats.org/officeDocument/2006/relationships/notesMaster" Target="/ppt/notesMasters/notesMaster1.xml" Id="Rba13e9cb8da544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22088253444ede" /><Relationship Type="http://schemas.openxmlformats.org/officeDocument/2006/relationships/notesMaster" Target="/ppt/notesMasters/notesMaster1.xml" Id="Rb85152bd577149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76aabf4712451d" /><Relationship Type="http://schemas.openxmlformats.org/officeDocument/2006/relationships/notesMaster" Target="/ppt/notesMasters/notesMaster1.xml" Id="Rc7248ea2913f46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e4d6a07dbb4964" /><Relationship Type="http://schemas.openxmlformats.org/officeDocument/2006/relationships/notesMaster" Target="/ppt/notesMasters/notesMaster1.xml" Id="R66b94326684843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1ffce939094ed6" /><Relationship Type="http://schemas.openxmlformats.org/officeDocument/2006/relationships/notesMaster" Target="/ppt/notesMasters/notesMaster1.xml" Id="R0ba0e4c1563a4f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6168efcf6349a0" /><Relationship Type="http://schemas.openxmlformats.org/officeDocument/2006/relationships/notesMaster" Target="/ppt/notesMasters/notesMaster1.xml" Id="R9612f461ec7843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944310e64048c6" /><Relationship Type="http://schemas.openxmlformats.org/officeDocument/2006/relationships/notesMaster" Target="/ppt/notesMasters/notesMaster1.xml" Id="R64793c9c3bf444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615677e75b46bc" /><Relationship Type="http://schemas.openxmlformats.org/officeDocument/2006/relationships/notesMaster" Target="/ppt/notesMasters/notesMaster1.xml" Id="Rb690492093414c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b07c37d2a24a05" /><Relationship Type="http://schemas.openxmlformats.org/officeDocument/2006/relationships/notesMaster" Target="/ppt/notesMasters/notesMaster1.xml" Id="R7b904d789cc146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5f796dfea54d64" /><Relationship Type="http://schemas.openxmlformats.org/officeDocument/2006/relationships/notesMaster" Target="/ppt/notesMasters/notesMaster1.xml" Id="R253bb11a9fc34a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aba57ae5e0d4847" /><Relationship Type="http://schemas.openxmlformats.org/officeDocument/2006/relationships/notesMaster" Target="/ppt/notesMasters/notesMaster1.xml" Id="R0003dedc893c47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bba5f7556094826" /><Relationship Type="http://schemas.openxmlformats.org/officeDocument/2006/relationships/notesMaster" Target="/ppt/notesMasters/notesMaster1.xml" Id="R30332d8b12e54cc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7fd767c1d149b3" /><Relationship Type="http://schemas.openxmlformats.org/officeDocument/2006/relationships/notesMaster" Target="/ppt/notesMasters/notesMaster1.xml" Id="Rfe5726a4576a498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f7c929cf05c4844" /><Relationship Type="http://schemas.openxmlformats.org/officeDocument/2006/relationships/notesMaster" Target="/ppt/notesMasters/notesMaster1.xml" Id="R57604d9378104f3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58008567ceb4a95" /><Relationship Type="http://schemas.openxmlformats.org/officeDocument/2006/relationships/notesMaster" Target="/ppt/notesMasters/notesMaster1.xml" Id="R0f4570e0dcc3413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98fa27f9481413a" /><Relationship Type="http://schemas.openxmlformats.org/officeDocument/2006/relationships/notesMaster" Target="/ppt/notesMasters/notesMaster1.xml" Id="R85f7bf4eb60143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was to predict individual survey responses with a small language model. This deck presents development evidence, including experiments that did not beat a simple baseline. All reported evaluation uses validation C. The reserved test set remains untouched.</a:t>
            </a:r>
          </a:p>
          <a:p xmlns:a="http://schemas.openxmlformats.org/drawingml/2006/main">
            <a:r>
              <a:t/>
            </a:r>
          </a:p>
          <a:p xmlns:a="http://schemas.openxmlformats.org/drawingml/2006/main">
            <a:r>
              <a:t>Sources: Uploaded report.txt, summary.json and metrics_by_question.csv. comparison_results.zip: comparison_config.json and comparison metrics. Exact checkpoint epoch_adapters/epoch-1 at global step 4321. Uploaded aggregate_results(2).zip. run_config.json, selected_answer_audit.json, comparison.csv, embedding_report.json, paired_demonstration_coverage.json, and per-method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first explain the dataset, A/B/C definitions, the leakage trap and evaluation metrics. Then I will cover the nine-question fine-tuning pilot, cross-validation and full-B Qwen LoRA. Next I will compare profile ablations and lexical or embedding retrieval methods, including numeric results. I will finish with the findings, limitations and proposed next step. All results are development validation; no test run is being launched.</a:t>
            </a:r>
          </a:p>
          <a:p xmlns:a="http://schemas.openxmlformats.org/drawingml/2006/main">
            <a:r>
              <a:t/>
            </a:r>
          </a:p>
          <a:p xmlns:a="http://schemas.openxmlformats.org/drawingml/2006/main">
            <a:r>
              <a:t>Source: contents of the existing Twin_2K_500_Experiments.pptx. This agenda introduces no new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contains earlier profile questions and answers that were not repeated in wave 4. B and C concern the repeated questions at earlier and later times. We train with A and the target question as input, and B as the answer label. C supplies the primary evaluation reference. Matrices expand one displayed question into several scalar targets.</a:t>
            </a:r>
          </a:p>
          <a:p xmlns:a="http://schemas.openxmlformats.org/drawingml/2006/main">
            <a:r>
              <a:t/>
            </a:r>
          </a:p>
          <a:p xmlns:a="http://schemas.openxmlformats.org/drawingml/2006/main">
            <a:r>
              <a:t>Sources: Twin_2K_500_EDA.ipynb, re-executed 12 October 2026. Dataset revision f883165a3026fde855dfd448e0cd16443ab257b6. https://huggingface.co/datasets/LLM-Digital-Twin/Twin-2K-500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concrete leakage example comes from training participant 574, QID158: B is option 3, C is option 4, and the merged full persona is option 4. Thus the full persona can expose the evaluation answer. Across participants, A has 150 shared exact definitions and 20 complete configurations. B has six shared exact definitions and 2,058 complete configurations. Pricing QuestionIDs are positions, so eligibility must match actual product and exact price.</a:t>
            </a:r>
          </a:p>
          <a:p xmlns:a="http://schemas.openxmlformats.org/drawingml/2006/main">
            <a:r>
              <a:t/>
            </a:r>
          </a:p>
          <a:p xmlns:a="http://schemas.openxmlformats.org/drawingml/2006/main">
            <a:r>
              <a:t>Sources: Twin_2K_500_EDA.ipynb, re-executed 12 October 2026. Dataset revision f883165a3026fde855dfd448e0cd16443ab257b6. https://huggingface.co/datasets/LLM-Digital-Twin/Twin-2K-500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Scores first average cases within each QuestionID, then average QuestionIDs in the group. C is primary and B can provide a secondary reference. Invalid categorical outputs count as wrong. Invalid ordinal and bounded numeric outputs receive error 1. Unbounded numeric errors remain in original units and accompany valid rates. Human B/C agreement is a repeatability reference, not a guaranteed upper limit.</a:t>
            </a:r>
          </a:p>
          <a:p xmlns:a="http://schemas.openxmlformats.org/drawingml/2006/main">
            <a:r>
              <a:t/>
            </a:r>
          </a:p>
          <a:p xmlns:a="http://schemas.openxmlformats.org/drawingml/2006/main">
            <a:r>
              <a:t>Sources: Uploaded report.txt, summary.json and metrics_by_question.csv. comparison_results.zip: comparison_config.json and comparison metrics. Exact checkpoint epoch_adapters/epoch-1 at global step 4321. Uploaded aggregate_results(2).zip. run_config.json, selected_answer_audit.json, comparison.csv, embedding_report.json, paired_demonstration_coverage.json, and per-method scores.</a:t>
            </a:r>
          </a:p>
          <a:p xmlns:a="http://schemas.openxmlformats.org/drawingml/2006/main">
            <a:r>
              <a:t>The question-only baseline is a lookup from training B answers for the exact target condition. It does not use A and does not run an LLM. The next slide defines this term with an illustrative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binary-choice pilot describes the experiment scope, while the question-only baseline describes a prediction rule. The pilot has nine binary QIDs across five scenarios: African-country QID163/165, redwood-height QID167/169, discount QID183/184, lottery QID192/193, and marble-tray QID196. Each person receives one version from each of the four pairs and QID196, giving five answers. Thus 1,440 x 5 = 7,200 training and 309 x 5 = 1,545 validation answers. The later pilot-subset result rows refer to these same questions, even when the model was trained on full B. The baseline uses all eligible training participants with the exact target question/condition and predicts their B mode for nominal answers, lower sample median for ordinal answers, or median for numeric answers. It never uses the recipient A or B, or any held-out C. The milk example is illustrative, with invented counts, and is not a measured result. A different price uses a separate matching training group. The LLM receives A plus the target question. To assess whether A provides useful information, use both baseline comparisons and profile ablations.</a:t>
            </a:r>
          </a:p>
          <a:p xmlns:a="http://schemas.openxmlformats.org/drawingml/2006/main">
            <a:r>
              <a:t/>
            </a:r>
          </a:p>
          <a:p xmlns:a="http://schemas.openxmlformats.org/drawingml/2006/main">
            <a:r>
              <a:t>Sources: existing deck and verified question catalog question_catalog_and_human_response_csv/question_catalog.json; baseline implementation epoch1_comparisons/baselines.py. No new experiment was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binary-choice pilot uses five administered binary questions per person, giving 7,200 training and 1,545 validation examples. Full-B uses 90,720 question records from 1,440 training people, expanded into 138,264 scalar targets. The full-B checkpoint is epoch 1 at step 4,321 of the original three-epoch schedule. Source recipe: rank 8, alpha 16, dropout 0.05, AdamW, learning rate 1e-4, linear schedule with 5% warmup, batch 16 and accumulation 2. LoRA targets q/k/v/o and gate/up/down projections. Prompt and padding are masked. Loss averages answer-plus-EOS tokens per example. Qwen has 494,032,768 base parameters and 4,399,104 adapter parameters. Whole A units are selected in source order using the original 8,192-token Liquid-tokenizer selection budget, then retokenized with Qwen. Not all A content necessarily fits. Legacy LoRA source defaults used q/v projections, one epoch and learning rate 1e-4. Legacy full fine-tuning used learning rate 1e-5 and three epoch candidates. Actual original remote configuration files were not supplied for every legacy run.</a:t>
            </a:r>
          </a:p>
          <a:p xmlns:a="http://schemas.openxmlformats.org/drawingml/2006/main">
            <a:r>
              <a:t/>
            </a:r>
          </a:p>
          <a:p xmlns:a="http://schemas.openxmlformats.org/drawingml/2006/main">
            <a:r>
              <a:t>Sources: User-provided run logs in Continue After EDA: qwen_baseline_v1, qwen_lora_v1, liquid_plain_target_v3, liquid_lora_v1, liquid_full_v1, qwen_cv_v1. Source recipe audit: experiment_setup_audit.json and twin_experiments_release/docs/EXPERIMENTS.md. Uploaded report.txt, summary.json and metrics_by_question.csv. comparison_results.zip: comparison_config.json and comparison metrics. Exact checkpoint epoch_adapters/epoch-1 at global step 4321.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concerns only the binary-choice pilot. Full fine-tuning reaches the training-majority baseline for both models. The Qwen zero-shot run emitted option 2 on all 1,545 cases. The Liquid zero-shot number is from the corrected plain-target prompt. Human paired B/C consistency is 76.73%. These results are not directly comparable with the later all-B training scope.</a:t>
            </a:r>
          </a:p>
          <a:p xmlns:a="http://schemas.openxmlformats.org/drawingml/2006/main">
            <a:r>
              <a:t/>
            </a:r>
          </a:p>
          <a:p xmlns:a="http://schemas.openxmlformats.org/drawingml/2006/main">
            <a:r>
              <a:t>Sources: User-provided run logs in Continue After EDA: qwen_baseline_v1, qwen_lora_v1, liquid_plain_target_v3, liquid_lora_v1, liquid_full_v1, qwen_cv_v1. Source recipe audit: experiment_setup_audit.json and twin_experiments_release/docs/EXPERIMENTS.md.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cross-validation fold starts from a fresh full model and trains for three fixed epochs. This differs from best-of-three checkpoint selection in the original split. PID574 remains train-only, so 1,748 development participants receive out-of-fold predictions. Qwen out-of-fold macro accuracy is 72.39%, against majority 72.80%. Fold SD is 0.64 percentage points and is not a confidence interval. Two folds exactly reproduce majority hard answers. In the original validation split, the selected checkpoint also matched majority on every hard answer. The saved exact-target profile-permutation diagnostic changed no hard predictions, though conditional P(2) changed by 0.009775 on average. That does not prove the model ignores A.</a:t>
            </a:r>
          </a:p>
          <a:p xmlns:a="http://schemas.openxmlformats.org/drawingml/2006/main">
            <a:r>
              <a:t/>
            </a:r>
          </a:p>
          <a:p xmlns:a="http://schemas.openxmlformats.org/drawingml/2006/main">
            <a:r>
              <a:t>Sources: User-provided run logs in Continue After EDA: qwen_baseline_v1, qwen_lora_v1, liquid_plain_target_v3, liquid_lora_v1, liquid_full_v1, qwen_cv_v1. Source recipe audit: experiment_setup_audit.json and twin_experiments_release/docs/EXPERIMENTS.md.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full-B epoch-1 adapter achieves pricing accuracy 73.4871%, against the exact-question-only baseline 73.4061%, a difference of 0.0809 percentage points. No statistical significance has been established. The other five displayed groups tie or trail their baselines. The table uses the question-only baseline stage, not the older per-item training_B_baseline field. Nominal matrix equality in score alone does not establish identical predictions.</a:t>
            </a:r>
          </a:p>
          <a:p xmlns:a="http://schemas.openxmlformats.org/drawingml/2006/main">
            <a:r>
              <a:t/>
            </a:r>
          </a:p>
          <a:p xmlns:a="http://schemas.openxmlformats.org/drawingml/2006/main">
            <a:r>
              <a:t>Sources: Uploaded report.txt, summary.json and metrics_by_question.csv. comparison_results.zip: comparison_config.json and comparison metrics. Exact checkpoint epoch_adapters/epoch-1 at global step 4321. Uploaded aggregate_results(2).zip. run_config.json, selected_answer_audit.json, comparison.csv, embedding_report.json, paired_demonstration_coverage.json, and per-method scores.</a:t>
            </a:r>
          </a:p>
          <a:p xmlns:a="http://schemas.openxmlformats.org/drawingml/2006/main">
            <a:r>
              <a:t>Pilot subset accuracy is evaluated on the same nine binary QIDs as the earlier pilot. Here it is produced by the model trained on all supported B targets. A question-only baseline can be strong because many people choose the same answer for a given target 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adapter receives original A, no A, or another validation person’s A. Target wording, product, price and the recipient C reference stay fixed. Shuffling uses one global no-self participant permutation with seed20261012. It changes 4,555 of 29,690 parsed answers, or15.34%. The result suggests useful profile association for some cases, but one permutation does not establish causality or an uncertainty interval.</a:t>
            </a:r>
          </a:p>
          <a:p xmlns:a="http://schemas.openxmlformats.org/drawingml/2006/main">
            <a:r>
              <a:t/>
            </a:r>
          </a:p>
          <a:p xmlns:a="http://schemas.openxmlformats.org/drawingml/2006/main">
            <a:r>
              <a:t>Sources: Uploaded report.txt, summary.json and metrics_by_question.csv. comparison_results.zip: comparison_config.json and comparison metrics. Exact checkpoint epoch_adapters/epoch-1 at global step 4321.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TF-IDF is the earlier lexical retrieval method. Top-five neighbor B answers supply a nominal mode or numeric/ordinal median. The demonstration arm uses three neighbors with the original Qwen base model. Its prompt format differs from the later embedding experiment, so cross-run differences cannot be attributed entirely to the retriever. A training-only product-price isotonic baseline reaches73.4385% pricing accuracy, just0.0485 percentage points behind LoRA.</a:t>
            </a:r>
          </a:p>
          <a:p xmlns:a="http://schemas.openxmlformats.org/drawingml/2006/main">
            <a:r>
              <a:t/>
            </a:r>
          </a:p>
          <a:p xmlns:a="http://schemas.openxmlformats.org/drawingml/2006/main">
            <a:r>
              <a:t>Sources: Uploaded report.txt, summary.json and metrics_by_question.csv. comparison_results.zip: comparison_config.json and comparison metrics. Exact checkpoint epoch_adapters/epoch-1 at global step 4321.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frozen Qwen3 embedding model has595,776,512 parameters and1024-dimensional outputs. A profiles are encoded in2048-token chunks using last-real-token pooling and a normalized, content-token-weighted profile average. No B/C or participant identifiers enter the embedding. Candidates come from1440 training people and must match the target condition. Each case gets five donors. The direct method uses mode for nominal, lower sample median for ordinal, and median for numeric answers. The other method supplies those same five donors to original Qwen2.5-0.5B-Instruct without an adapter. There is no reranker. Own/donor A selection budgets are1600 tokens each before shared-definition compression, and generation has a12288-token cap. Actual selected-answer prompts contain2357–4961 tokens. This0.6B retrieval component is an extra experiment outside the under0.5B fine-tuning claim.</a:t>
            </a:r>
          </a:p>
          <a:p xmlns:a="http://schemas.openxmlformats.org/drawingml/2006/main">
            <a:r>
              <a:t/>
            </a:r>
          </a:p>
          <a:p xmlns:a="http://schemas.openxmlformats.org/drawingml/2006/main">
            <a:r>
              <a:t>Sources: Uploaded aggregate_results(1).zip. run_config.json, comparison.csv, embedding_report.json, prompt_compression_report.json, and per-method scores. Uploaded aggregate_results(2).zip. run_config.json, selected_answer_audit.json, comparison.csv, embedding_report.json, paired_demonstration_coverage.json, and per-method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all-options representation embeds question wording, option lists and selected answers. The no-neighbor Qwen control uses the same selected own-A evidence as its demonstration arm. Every column uses the same validation C cases and group aggregation. The exact-question-only baseline leads all six groups shown. Additional unbounded numeric outcomes appear later.</a:t>
            </a:r>
          </a:p>
          <a:p xmlns:a="http://schemas.openxmlformats.org/drawingml/2006/main">
            <a:r>
              <a:t/>
            </a:r>
          </a:p>
          <a:p xmlns:a="http://schemas.openxmlformats.org/drawingml/2006/main">
            <a:r>
              <a:t>Sources: Uploaded aggregate_results(1).zip. run_config.json, comparison.csv, embedding_report.json, prompt_compression_report.json, and per-method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selected-answer representation retains the question context and selected response meaning while omitting unselected options. Neighbor identities can change, but the generator’s shared-definition prompt format stays fixed. Top-five voting improves in five of six displayed groups relative to all-options embeddings; bounded numeric error worsens. Nominal matrix accuracy rises from55.57% to74.51%. Every selected-answer retrieval method still trails the question-only baseline in these six groups.</a:t>
            </a:r>
          </a:p>
          <a:p xmlns:a="http://schemas.openxmlformats.org/drawingml/2006/main">
            <a:r>
              <a:t/>
            </a:r>
          </a:p>
          <a:p xmlns:a="http://schemas.openxmlformats.org/drawingml/2006/main">
            <a:r>
              <a:t>Sources: Uploaded aggregate_results(2).zip. run_config.json, selected_answer_audit.json, comparison.csv, embedding_report.json, paired_demonstration_coverage.json, and per-method scores. Uploaded aggregate_results(1).zip. run_config.json, comparison.csv, embedding_report.json, prompt_compression_report.json, and per-method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four unbounded questions contain149,160,161 and148 cases, respectively, totaling618. All four listed methods return valid numeric output for every case. MAE remains in countries or feet and is never averaged across those units. Median absolute errors for baseline, LoRA, top-five and Qwen are respectively: QID164 [15,15,15,21], QID166 [10,10,15,47], QID168 [50,50,80,127], QID170 [250,800,280,348.5]. Human B/C MAEs are10.36,46.33,66.07 and432.71, as descriptive references. No verified outlier counts are available, so the deck does not attribute the error to specific extreme responses.</a:t>
            </a:r>
          </a:p>
          <a:p xmlns:a="http://schemas.openxmlformats.org/drawingml/2006/main">
            <a:r>
              <a:t/>
            </a:r>
          </a:p>
          <a:p xmlns:a="http://schemas.openxmlformats.org/drawingml/2006/main">
            <a:r>
              <a:t>Sources: Uploaded report.txt, summary.json and metrics_by_question.csv. comparison_results.zip: comparison_config.json and comparison metrics. Exact checkpoint epoch_adapters/epoch-1 at global step 4321. Uploaded aggregate_results(2).zip. run_config.json, selected_answer_audit.json, comparison.csv, embedding_report.json, paired_demonstration_coverage.json, and per-method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conclusion is about evaluation discipline: question-only baselines are difficult to beat, and matching their score does not establish personalization. Full-B ablations show profile sensitivity, while retrieval changes show representation matters. These are repeatedly used development results. A final claim should come from one frozen evaluation on the reserved participants, with uncertainty computed at participant level and with the baseline measured on the same cases.</a:t>
            </a:r>
          </a:p>
          <a:p xmlns:a="http://schemas.openxmlformats.org/drawingml/2006/main">
            <a:r>
              <a:t/>
            </a:r>
          </a:p>
          <a:p xmlns:a="http://schemas.openxmlformats.org/drawingml/2006/main">
            <a:r>
              <a:t>Sources: User-provided run logs in Continue After EDA: qwen_baseline_v1, qwen_lora_v1, liquid_plain_target_v3, liquid_lora_v1, liquid_full_v1, qwen_cv_v1. Source recipe audit: experiment_setup_audit.json and twin_experiments_release/docs/EXPERIMENTS.md. Uploaded report.txt, summary.json and metrics_by_question.csv. comparison_results.zip: comparison_config.json and comparison metrics. Exact checkpoint epoch_adapters/epoch-1 at global step 4321. Uploaded aggregate_results(2).zip. run_config.json, selected_answer_audit.json, comparison.csv, embedding_report.json, paired_demonstration_coverage.json, and per-method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4d8c10f0c7491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9218bbb9574a9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7e2bd56cdd4e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2d94820521c4c6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5d1a110260c4f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3d35d205b3b46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64D675-7329-4C0B-83DF-31CF6E2090D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1527C34-4A35-40E9-B666-5AA3B67DC66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D371C92-A4CE-475A-B72A-9DADB49BF8C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E98FD0-773B-4269-B10D-728BE6B1AE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B3F216D-D227-4AC7-BB37-20FC75BE56F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736C54A-6B39-4426-BC14-B2B86D8D4F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2214EA7-9A0C-491E-AADA-F51C04D8A1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8A0E70B-54E4-48C2-8D69-6710C5D5E9A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80C09F-4A05-4979-B81B-478B704B01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04ACFD-A60F-4A4D-ADFD-943E202CFDD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d9f3f6b7f840de" /><Relationship Type="http://schemas.openxmlformats.org/officeDocument/2006/relationships/slideLayout" Target="/ppt/slideLayouts/slideLayout1.xml" Id="R8d5b3fdb4da3494d" /><Relationship Type="http://schemas.openxmlformats.org/officeDocument/2006/relationships/slideLayout" Target="/ppt/slideLayouts/slideLayout2.xml" Id="Rc466de5579b9405c" /><Relationship Type="http://schemas.openxmlformats.org/officeDocument/2006/relationships/slideLayout" Target="/ppt/slideLayouts/slideLayout3.xml" Id="Ra3c7c6cb6ca6424d" /><Relationship Type="http://schemas.openxmlformats.org/officeDocument/2006/relationships/slideLayout" Target="/ppt/slideLayouts/slideLayout4.xml" Id="R3e331590a40a4f0a" /><Relationship Type="http://schemas.openxmlformats.org/officeDocument/2006/relationships/slideLayout" Target="/ppt/slideLayouts/slideLayout5.xml" Id="Rf65a5ed5b2af4ec2" /><Relationship Type="http://schemas.openxmlformats.org/officeDocument/2006/relationships/slideLayout" Target="/ppt/slideLayouts/slideLayout6.xml" Id="R8be77c222dc344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5b3fdb4da3494d"/>
    <p:sldLayoutId xmlns:r="http://schemas.openxmlformats.org/officeDocument/2006/relationships" id="2147483650" r:id="Rc466de5579b9405c"/>
    <p:sldLayoutId xmlns:r="http://schemas.openxmlformats.org/officeDocument/2006/relationships" id="2147483651" r:id="Ra3c7c6cb6ca6424d"/>
    <p:sldLayoutId xmlns:r="http://schemas.openxmlformats.org/officeDocument/2006/relationships" id="2147483652" r:id="R3e331590a40a4f0a"/>
    <p:sldLayoutId xmlns:r="http://schemas.openxmlformats.org/officeDocument/2006/relationships" id="2147483653" r:id="Rf65a5ed5b2af4ec2"/>
    <p:sldLayoutId xmlns:r="http://schemas.openxmlformats.org/officeDocument/2006/relationships" id="2147483654" r:id="R8be77c222dc344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42875" dist="51294" dir="4091915">
              <a:srgbClr val="327BC3">
                <a:alpha val="9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15ae783d75e471c" /><Relationship Type="http://schemas.openxmlformats.org/officeDocument/2006/relationships/image" Target="/ppt/media/image.png" Id="R4653c04a026d4b4b" /><Relationship Type="http://schemas.openxmlformats.org/officeDocument/2006/relationships/notesSlide" Target="/ppt/notesSlides/notesSlide1.xml" Id="Rafa90d4201c34d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16a75cac16e40d7" /><Relationship Type="http://schemas.openxmlformats.org/officeDocument/2006/relationships/notesSlide" Target="/ppt/notesSlides/notesSlide2.xml" Id="R14534e4d120e49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95a4603b79545ff" /><Relationship Type="http://schemas.openxmlformats.org/officeDocument/2006/relationships/notesSlide" Target="/ppt/notesSlides/notesSlide3.xml" Id="Rf6d368f6ac4d43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e86e522f8ec4e4c" /><Relationship Type="http://schemas.openxmlformats.org/officeDocument/2006/relationships/notesSlide" Target="/ppt/notesSlides/notesSlide4.xml" Id="Rb97714377adf43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960d62124dd4eaa" /><Relationship Type="http://schemas.openxmlformats.org/officeDocument/2006/relationships/notesSlide" Target="/ppt/notesSlides/notesSlide5.xml" Id="Rb40ee823bb4144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eaa91f61464841" /><Relationship Type="http://schemas.openxmlformats.org/officeDocument/2006/relationships/notesSlide" Target="/ppt/notesSlides/notesSlide6.xml" Id="Rb1e408c0c38741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c1c8b2754bb42f8" /><Relationship Type="http://schemas.openxmlformats.org/officeDocument/2006/relationships/notesSlide" Target="/ppt/notesSlides/notesSlide7.xml" Id="R125eb47820d24e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a60e6d941f14ade" /><Relationship Type="http://schemas.openxmlformats.org/officeDocument/2006/relationships/notesSlide" Target="/ppt/notesSlides/notesSlide8.xml" Id="R0a981051b3f24d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8d98bd6a6b94201" /><Relationship Type="http://schemas.openxmlformats.org/officeDocument/2006/relationships/chart" Target="/ppt/slides/charts/chart1.xml" Id="R34adb2070cf240fc" /><Relationship Type="http://schemas.openxmlformats.org/officeDocument/2006/relationships/notesSlide" Target="/ppt/notesSlides/notesSlide9.xml" Id="R800a8d71ec2b40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9fc8355da0c4fe4" /><Relationship Type="http://schemas.openxmlformats.org/officeDocument/2006/relationships/notesSlide" Target="/ppt/notesSlides/notesSlide10.xml" Id="Rfade35a4ce2e492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83e3df7e4fa44f4" /><Relationship Type="http://schemas.openxmlformats.org/officeDocument/2006/relationships/notesSlide" Target="/ppt/notesSlides/notesSlide11.xml" Id="Rc88c7cca4f3b43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2a4e9c84b8c4180" /><Relationship Type="http://schemas.openxmlformats.org/officeDocument/2006/relationships/notesSlide" Target="/ppt/notesSlides/notesSlide12.xml" Id="Rcc945057ed454b7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9cf81a3fe89401a" /><Relationship Type="http://schemas.openxmlformats.org/officeDocument/2006/relationships/notesSlide" Target="/ppt/notesSlides/notesSlide13.xml" Id="R6a72a29557c34a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8cce98634cb4d7d" /><Relationship Type="http://schemas.openxmlformats.org/officeDocument/2006/relationships/notesSlide" Target="/ppt/notesSlides/notesSlide14.xml" Id="R5e0e0bf830b74e3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df745b458b549e9" /><Relationship Type="http://schemas.openxmlformats.org/officeDocument/2006/relationships/notesSlide" Target="/ppt/notesSlides/notesSlide15.xml" Id="Re19296b8da4c4a3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1ac0d0d8ad64042" /><Relationship Type="http://schemas.openxmlformats.org/officeDocument/2006/relationships/notesSlide" Target="/ppt/notesSlides/notesSlide16.xml" Id="R9297c8dc3269438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18460970d1341ce" /><Relationship Type="http://schemas.openxmlformats.org/officeDocument/2006/relationships/notesSlide" Target="/ppt/notesSlides/notesSlide17.xml" Id="R6de8d8eb23a14eb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Qwen full FT</c:v>
          </c:tx>
          <c:spPr>
            <a:solidFill xmlns:a="http://schemas.openxmlformats.org/drawingml/2006/main">
              <a:srgbClr val="1673FF"/>
            </a:solidFill>
          </c:spPr>
          <c:cat>
            <c:strRef>
              <c:f>'Chart Data'!$A$2:$A$4</c:f>
              <c:strCache>
                <c:ptCount val="3"/>
                <c:pt idx="0">
                  <c:v>Fold 1</c:v>
                </c:pt>
                <c:pt idx="1">
                  <c:v>Fold 2</c:v>
                </c:pt>
                <c:pt idx="2">
                  <c:v>Fold 3</c:v>
                </c:pt>
              </c:strCache>
            </c:strRef>
          </c:cat>
          <c:val>
            <c:numRef>
              <c:f>'Chart Data'!$B$2:$B$4</c:f>
              <c:numCache>
                <c:formatCode>0%</c:formatCode>
                <c:ptCount val="3"/>
                <c:pt idx="0">
                  <c:v>0.7248415968</c:v>
                </c:pt>
                <c:pt idx="1">
                  <c:v>0.71708112</c:v>
                </c:pt>
                <c:pt idx="2">
                  <c:v>0.7297886036</c:v>
                </c:pt>
              </c:numCache>
            </c:numRef>
          </c:val>
        </c:ser>
        <c:ser>
          <c:idx val="1"/>
          <c:order val="1"/>
          <c:tx>
            <c:v>Training majority</c:v>
          </c:tx>
          <c:spPr>
            <a:solidFill xmlns:a="http://schemas.openxmlformats.org/drawingml/2006/main">
              <a:srgbClr val="009E9A"/>
            </a:solidFill>
          </c:spPr>
          <c:cat>
            <c:strRef>
              <c:f>'Chart Data'!$C$2:$C$4</c:f>
              <c:strCache>
                <c:ptCount val="3"/>
                <c:pt idx="0">
                  <c:v>Fold 1</c:v>
                </c:pt>
                <c:pt idx="1">
                  <c:v>Fold 2</c:v>
                </c:pt>
                <c:pt idx="2">
                  <c:v>Fold 3</c:v>
                </c:pt>
              </c:strCache>
            </c:strRef>
          </c:cat>
          <c:val>
            <c:numRef>
              <c:f>'Chart Data'!$D$2:$D$4</c:f>
              <c:numCache>
                <c:formatCode>0%</c:formatCode>
                <c:ptCount val="3"/>
                <c:pt idx="0">
                  <c:v>0.7248415968</c:v>
                </c:pt>
                <c:pt idx="1">
                  <c:v>0.729084182</c:v>
                </c:pt>
                <c:pt idx="2">
                  <c:v>0.7297886036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061747"/>
                  </a:solidFill>
                  <a:latin typeface="Nimbus Sans"/>
                  <a:ea typeface="Nimbus Sans"/>
                  <a:cs typeface="Nimbus Sans"/>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061747"/>
                </a:solidFill>
                <a:latin typeface="Nimbus Sans"/>
                <a:ea typeface="Nimbus Sans"/>
                <a:cs typeface="Nimbus Sans"/>
              </a:defRPr>
            </a:pPr>
          </a:p>
        </c:txPr>
        <c:crossAx val="48672768"/>
      </c:catAx>
      <c:valAx>
        <c:axId val="48672768"/>
        <c:scaling>
          <c:orientation val="minMax"/>
          <c:max val="0.8"/>
          <c:min val="0"/>
        </c:scaling>
        <c:delete val="0"/>
        <c:axPos val="l"/>
        <c:majorGridlines>
          <c:spPr>
            <a:ln xmlns:a="http://schemas.openxmlformats.org/drawingml/2006/main" w="9525">
              <a:solidFill>
                <a:srgbClr val="DBE8F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37B9C"/>
                </a:solidFill>
                <a:latin typeface="Nimbus Sans"/>
                <a:ea typeface="Nimbus Sans"/>
                <a:cs typeface="Nimbus Sans"/>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637B9C"/>
              </a:solidFill>
              <a:latin typeface="Nimbus Sans"/>
              <a:ea typeface="Nimbus Sans"/>
              <a:cs typeface="Nimbus San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Behavior prediction&#10;on Twin-2K-500">
            <a:extLst xmlns:a="http://schemas.openxmlformats.org/drawingml/2006/main">
              <a:ext uri="{FF2B5EF4-FFF2-40B4-BE49-F238E27FC236}">
                <a16:creationId xmlns:a16="http://schemas.microsoft.com/office/drawing/2014/main" id="{59F0F36B-98A2-4E14-9011-C400D27FAE05}"/>
              </a:ext>
            </a:extLst>
          </p:cNvPr>
          <p:cNvSpPr>
            <a:spLocks xmlns:a="http://schemas.openxmlformats.org/drawingml/2006/main" noGrp="1"/>
          </p:cNvSpPr>
          <p:nvPr/>
        </p:nvSpPr>
        <p:spPr>
          <a:xfrm xmlns:a="http://schemas.openxmlformats.org/drawingml/2006/main">
            <a:off x="590550" y="895350"/>
            <a:ext cx="7239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061747"/>
                </a:solidFill>
                <a:latin typeface="Nimbus Sans"/>
                <a:ea typeface="Nimbus Sans"/>
                <a:cs typeface="Nimbus Sans"/>
              </a:defRPr>
            </a:defPPr>
          </a:lstStyle>
          <a:p xmlns:a="http://schemas.openxmlformats.org/drawingml/2006/main">
            <a:pPr algn="l">
              <a:buNone/>
              <a:defRPr sz="4050" b="1">
                <a:solidFill>
                  <a:srgbClr val="061747"/>
                </a:solidFill>
                <a:latin typeface="Nimbus Sans"/>
                <a:ea typeface="Nimbus Sans"/>
                <a:cs typeface="Nimbus Sans"/>
              </a:defRPr>
            </a:pPr>
            <a:r>
              <a:rPr sz="4050" b="1">
                <a:solidFill>
                  <a:srgbClr val="061747"/>
                </a:solidFill>
                <a:latin typeface="Nimbus Sans"/>
                <a:ea typeface="Nimbus Sans"/>
                <a:cs typeface="Nimbus Sans"/>
              </a:rPr>
              <a:t>Behavior prediction</a:t>
            </a:r>
          </a:p>
          <a:p xmlns:a="http://schemas.openxmlformats.org/drawingml/2006/main">
            <a:pPr algn="l">
              <a:buNone/>
              <a:defRPr sz="4050" b="1">
                <a:solidFill>
                  <a:srgbClr val="061747"/>
                </a:solidFill>
                <a:latin typeface="Nimbus Sans"/>
                <a:ea typeface="Nimbus Sans"/>
                <a:cs typeface="Nimbus Sans"/>
              </a:defRPr>
            </a:pPr>
            <a:r>
              <a:rPr sz="4050" b="1">
                <a:solidFill>
                  <a:srgbClr val="061747"/>
                </a:solidFill>
                <a:latin typeface="Nimbus Sans"/>
                <a:ea typeface="Nimbus Sans"/>
                <a:cs typeface="Nimbus Sans"/>
              </a:rPr>
              <a:t>on Twin-2K-500</a:t>
            </a:r>
          </a:p>
        </p:txBody>
      </p:sp>
      <p:sp>
        <p:nvSpPr>
          <p:cNvPr id="2" name="Experiment setup and validation results">
            <a:extLst xmlns:a="http://schemas.openxmlformats.org/drawingml/2006/main">
              <a:ext uri="{FF2B5EF4-FFF2-40B4-BE49-F238E27FC236}">
                <a16:creationId xmlns:a16="http://schemas.microsoft.com/office/drawing/2014/main" id="{708ABC14-FAD3-4A33-BA4E-7CDD9F67152C}"/>
              </a:ext>
            </a:extLst>
          </p:cNvPr>
          <p:cNvSpPr>
            <a:spLocks xmlns:a="http://schemas.openxmlformats.org/drawingml/2006/main" noGrp="1"/>
          </p:cNvSpPr>
          <p:nvPr/>
        </p:nvSpPr>
        <p:spPr>
          <a:xfrm xmlns:a="http://schemas.openxmlformats.org/drawingml/2006/main">
            <a:off x="619125" y="268605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37B9C"/>
                </a:solidFill>
                <a:latin typeface="Nimbus Sans"/>
                <a:ea typeface="Nimbus Sans"/>
                <a:cs typeface="Nimbus Sans"/>
              </a:defRPr>
            </a:defPPr>
          </a:lstStyle>
          <a:p xmlns:a="http://schemas.openxmlformats.org/drawingml/2006/main">
            <a:pPr algn="l">
              <a:buNone/>
              <a:defRPr sz="2100" b="0">
                <a:solidFill>
                  <a:srgbClr val="637B9C"/>
                </a:solidFill>
                <a:latin typeface="Nimbus Sans"/>
                <a:ea typeface="Nimbus Sans"/>
                <a:cs typeface="Nimbus Sans"/>
              </a:defRPr>
            </a:pPr>
            <a:r>
              <a:rPr sz="2100" b="0">
                <a:solidFill>
                  <a:srgbClr val="637B9C"/>
                </a:solidFill>
                <a:latin typeface="Nimbus Sans"/>
                <a:ea typeface="Nimbus Sans"/>
                <a:cs typeface="Nimbus Sans"/>
              </a:rPr>
              <a:t>Experiment setup and validation results</a:t>
            </a:r>
          </a:p>
        </p:txBody>
      </p:sp>
      <p:pic>
        <p:nvPicPr>
          <p:cNvPr id="3" name="">
            <a:extLst xmlns:a="http://schemas.openxmlformats.org/drawingml/2006/main">
              <a:ext uri="{FF2B5EF4-FFF2-40B4-BE49-F238E27FC236}">
                <a16:creationId xmlns:a16="http://schemas.microsoft.com/office/drawing/2014/main" id="{42142E13-D106-434D-A7C4-2139AF7F4FE6}"/>
              </a:ext>
            </a:extLst>
          </p:cNvPr>
          <p:cNvPicPr>
            <a:picLocks xmlns:a="http://schemas.openxmlformats.org/drawingml/2006/main" noChangeAspect="1"/>
          </p:cNvPicPr>
          <p:nvPr/>
        </p:nvPicPr>
        <p:blipFill>
          <a:blip xmlns:r="http://schemas.openxmlformats.org/officeDocument/2006/relationships" xmlns:a="http://schemas.openxmlformats.org/drawingml/2006/main" r:embed="R4653c04a026d4b4b"/>
          <a:stretch xmlns:a="http://schemas.openxmlformats.org/drawingml/2006/main"/>
        </p:blipFill>
        <p:spPr>
          <a:xfrm xmlns:a="http://schemas.openxmlformats.org/drawingml/2006/main">
            <a:off x="5834063" y="3286125"/>
            <a:ext cx="5429250" cy="2714625"/>
          </a:xfrm>
          <a:prstGeom xmlns:a="http://schemas.openxmlformats.org/drawingml/2006/main" prst="rect">
            <a:avLst/>
          </a:prstGeom>
        </p:spPr>
      </p:pic>
      <p:sp>
        <p:nvSpPr>
          <p:cNvPr id="4" name="Strong baselines remain&#10;difficult to beat">
            <a:extLst xmlns:a="http://schemas.openxmlformats.org/drawingml/2006/main">
              <a:ext uri="{FF2B5EF4-FFF2-40B4-BE49-F238E27FC236}">
                <a16:creationId xmlns:a16="http://schemas.microsoft.com/office/drawing/2014/main" id="{6AC2E378-28AB-482D-8B97-38521DCC23FD}"/>
              </a:ext>
            </a:extLst>
          </p:cNvPr>
          <p:cNvSpPr>
            <a:spLocks xmlns:a="http://schemas.openxmlformats.org/drawingml/2006/main" noGrp="1"/>
          </p:cNvSpPr>
          <p:nvPr/>
        </p:nvSpPr>
        <p:spPr>
          <a:xfrm xmlns:a="http://schemas.openxmlformats.org/drawingml/2006/main">
            <a:off x="628650" y="384810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09E9A"/>
                </a:solidFill>
                <a:latin typeface="Nimbus Sans"/>
                <a:ea typeface="Nimbus Sans"/>
                <a:cs typeface="Nimbus Sans"/>
              </a:defRPr>
            </a:defPPr>
          </a:lstStyle>
          <a:p xmlns:a="http://schemas.openxmlformats.org/drawingml/2006/main">
            <a:pPr algn="l">
              <a:buNone/>
              <a:defRPr sz="2475" b="1">
                <a:solidFill>
                  <a:srgbClr val="009E9A"/>
                </a:solidFill>
                <a:latin typeface="Nimbus Sans"/>
                <a:ea typeface="Nimbus Sans"/>
                <a:cs typeface="Nimbus Sans"/>
              </a:defRPr>
            </a:pPr>
            <a:r>
              <a:rPr sz="2475" b="1">
                <a:solidFill>
                  <a:srgbClr val="009E9A"/>
                </a:solidFill>
                <a:latin typeface="Nimbus Sans"/>
                <a:ea typeface="Nimbus Sans"/>
                <a:cs typeface="Nimbus Sans"/>
              </a:rPr>
              <a:t>Strong baselines remain</a:t>
            </a:r>
          </a:p>
          <a:p xmlns:a="http://schemas.openxmlformats.org/drawingml/2006/main">
            <a:pPr algn="l">
              <a:buNone/>
              <a:defRPr sz="2475" b="1">
                <a:solidFill>
                  <a:srgbClr val="009E9A"/>
                </a:solidFill>
                <a:latin typeface="Nimbus Sans"/>
                <a:ea typeface="Nimbus Sans"/>
                <a:cs typeface="Nimbus Sans"/>
              </a:defRPr>
            </a:pPr>
            <a:r>
              <a:rPr sz="2475" b="1">
                <a:solidFill>
                  <a:srgbClr val="009E9A"/>
                </a:solidFill>
                <a:latin typeface="Nimbus Sans"/>
                <a:ea typeface="Nimbus Sans"/>
                <a:cs typeface="Nimbus Sans"/>
              </a:rPr>
              <a:t>difficult to beat</a:t>
            </a:r>
          </a:p>
        </p:txBody>
      </p:sp>
      <p:sp>
        <p:nvSpPr>
          <p:cNvPr id="5" name="Jinlong Yao&#10;12 October 2026">
            <a:extLst xmlns:a="http://schemas.openxmlformats.org/drawingml/2006/main">
              <a:ext uri="{FF2B5EF4-FFF2-40B4-BE49-F238E27FC236}">
                <a16:creationId xmlns:a16="http://schemas.microsoft.com/office/drawing/2014/main" id="{A8966E98-75E6-479C-B76A-F00FD7C8FCBE}"/>
              </a:ext>
            </a:extLst>
          </p:cNvPr>
          <p:cNvSpPr>
            <a:spLocks xmlns:a="http://schemas.openxmlformats.org/drawingml/2006/main" noGrp="1"/>
          </p:cNvSpPr>
          <p:nvPr/>
        </p:nvSpPr>
        <p:spPr>
          <a:xfrm xmlns:a="http://schemas.openxmlformats.org/drawingml/2006/main">
            <a:off x="628650" y="560070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Jinlong Yao</a:t>
            </a:r>
          </a:p>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12 October 2026</a:t>
            </a:r>
          </a:p>
        </p:txBody>
      </p:sp>
    </p:spTree>
    <p:extLst>
      <p:ext uri="{BB962C8B-B14F-4D97-AF65-F5344CB8AC3E}">
        <p14:creationId xmlns:p14="http://schemas.microsoft.com/office/powerpoint/2010/main" val="5051397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Presentation overview">
            <a:extLst xmlns:a="http://schemas.openxmlformats.org/drawingml/2006/main">
              <a:ext uri="{FF2B5EF4-FFF2-40B4-BE49-F238E27FC236}">
                <a16:creationId xmlns:a16="http://schemas.microsoft.com/office/drawing/2014/main" id="{F304F47C-6927-41FA-A46D-91C35D83DF20}"/>
              </a:ext>
            </a:extLst>
          </p:cNvPr>
          <p:cNvSpPr>
            <a:spLocks xmlns:a="http://schemas.openxmlformats.org/drawingml/2006/main" noGrp="1"/>
          </p:cNvSpPr>
          <p:nvPr/>
        </p:nvSpPr>
        <p:spPr>
          <a:xfrm xmlns:a="http://schemas.openxmlformats.org/drawingml/2006/main">
            <a:off x="571500" y="285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61747"/>
                </a:solidFill>
                <a:latin typeface="Nimbus Sans"/>
                <a:ea typeface="Nimbus Sans"/>
                <a:cs typeface="Nimbus Sans"/>
              </a:defRPr>
            </a:defPPr>
          </a:lstStyle>
          <a:p xmlns:a="http://schemas.openxmlformats.org/drawingml/2006/main">
            <a:pPr algn="l">
              <a:buNone/>
              <a:defRPr sz="3075" b="1">
                <a:solidFill>
                  <a:srgbClr val="061747"/>
                </a:solidFill>
                <a:latin typeface="Nimbus Sans"/>
                <a:ea typeface="Nimbus Sans"/>
                <a:cs typeface="Nimbus Sans"/>
              </a:defRPr>
            </a:pPr>
            <a:r>
              <a:rPr sz="3075" b="1">
                <a:solidFill>
                  <a:srgbClr val="061747"/>
                </a:solidFill>
                <a:latin typeface="Nimbus Sans"/>
                <a:ea typeface="Nimbus Sans"/>
                <a:cs typeface="Nimbus Sans"/>
              </a:rPr>
              <a:t>Presentation overview</a:t>
            </a:r>
          </a:p>
        </p:txBody>
      </p:sp>
      <p:sp>
        <p:nvSpPr>
          <p:cNvPr id="2" name="Dataset, experimental methods and validation findings">
            <a:extLst xmlns:a="http://schemas.openxmlformats.org/drawingml/2006/main">
              <a:ext uri="{FF2B5EF4-FFF2-40B4-BE49-F238E27FC236}">
                <a16:creationId xmlns:a16="http://schemas.microsoft.com/office/drawing/2014/main" id="{DACB9666-751A-4C4A-943A-8F28628A6F0A}"/>
              </a:ext>
            </a:extLst>
          </p:cNvPr>
          <p:cNvSpPr>
            <a:spLocks xmlns:a="http://schemas.openxmlformats.org/drawingml/2006/main" noGrp="1"/>
          </p:cNvSpPr>
          <p:nvPr/>
        </p:nvSpPr>
        <p:spPr>
          <a:xfrm xmlns:a="http://schemas.openxmlformats.org/drawingml/2006/main">
            <a:off x="590550" y="914400"/>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Dataset, experimental methods and validation findings</a:t>
            </a:r>
          </a:p>
        </p:txBody>
      </p:sp>
      <p:sp>
        <p:nvSpPr>
          <p:cNvPr id="3" name="01">
            <a:extLst xmlns:a="http://schemas.openxmlformats.org/drawingml/2006/main">
              <a:ext uri="{FF2B5EF4-FFF2-40B4-BE49-F238E27FC236}">
                <a16:creationId xmlns:a16="http://schemas.microsoft.com/office/drawing/2014/main" id="{A43E3FD7-42DB-4BAB-A1A8-97F09AFF9C0B}"/>
              </a:ext>
            </a:extLst>
          </p:cNvPr>
          <p:cNvSpPr>
            <a:spLocks xmlns:a="http://schemas.openxmlformats.org/drawingml/2006/main" noGrp="1"/>
          </p:cNvSpPr>
          <p:nvPr/>
        </p:nvSpPr>
        <p:spPr>
          <a:xfrm xmlns:a="http://schemas.openxmlformats.org/drawingml/2006/main">
            <a:off x="609600" y="1685925"/>
            <a:ext cx="7048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1673FF"/>
                </a:solidFill>
                <a:latin typeface="Nimbus Sans"/>
                <a:ea typeface="Nimbus Sans"/>
                <a:cs typeface="Nimbus Sans"/>
              </a:defRPr>
            </a:defPPr>
          </a:lstStyle>
          <a:p xmlns:a="http://schemas.openxmlformats.org/drawingml/2006/main">
            <a:pPr algn="l">
              <a:buNone/>
              <a:defRPr sz="3075" b="1">
                <a:solidFill>
                  <a:srgbClr val="1673FF"/>
                </a:solidFill>
                <a:latin typeface="Nimbus Sans"/>
                <a:ea typeface="Nimbus Sans"/>
                <a:cs typeface="Nimbus Sans"/>
              </a:defRPr>
            </a:pPr>
            <a:r>
              <a:rPr sz="3075" b="1">
                <a:solidFill>
                  <a:srgbClr val="1673FF"/>
                </a:solidFill>
                <a:latin typeface="Nimbus Sans"/>
                <a:ea typeface="Nimbus Sans"/>
                <a:cs typeface="Nimbus Sans"/>
              </a:rPr>
              <a:t>01</a:t>
            </a:r>
          </a:p>
        </p:txBody>
      </p:sp>
      <p:sp>
        <p:nvSpPr>
          <p:cNvPr id="4" name="Data and evaluation">
            <a:extLst xmlns:a="http://schemas.openxmlformats.org/drawingml/2006/main">
              <a:ext uri="{FF2B5EF4-FFF2-40B4-BE49-F238E27FC236}">
                <a16:creationId xmlns:a16="http://schemas.microsoft.com/office/drawing/2014/main" id="{3A4C5259-7551-4173-B71B-5FA4CDC610CA}"/>
              </a:ext>
            </a:extLst>
          </p:cNvPr>
          <p:cNvSpPr>
            <a:spLocks xmlns:a="http://schemas.openxmlformats.org/drawingml/2006/main" noGrp="1"/>
          </p:cNvSpPr>
          <p:nvPr/>
        </p:nvSpPr>
        <p:spPr>
          <a:xfrm xmlns:a="http://schemas.openxmlformats.org/drawingml/2006/main">
            <a:off x="1533525" y="1676400"/>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61747"/>
                </a:solidFill>
                <a:latin typeface="Nimbus Sans"/>
                <a:ea typeface="Nimbus Sans"/>
                <a:cs typeface="Nimbus Sans"/>
              </a:defRPr>
            </a:defPPr>
          </a:lstStyle>
          <a:p xmlns:a="http://schemas.openxmlformats.org/drawingml/2006/main">
            <a:pPr algn="l">
              <a:buNone/>
              <a:defRPr sz="2100" b="1">
                <a:solidFill>
                  <a:srgbClr val="061747"/>
                </a:solidFill>
                <a:latin typeface="Nimbus Sans"/>
                <a:ea typeface="Nimbus Sans"/>
                <a:cs typeface="Nimbus Sans"/>
              </a:defRPr>
            </a:pPr>
            <a:r>
              <a:rPr sz="2100" b="1">
                <a:solidFill>
                  <a:srgbClr val="061747"/>
                </a:solidFill>
                <a:latin typeface="Nimbus Sans"/>
                <a:ea typeface="Nimbus Sans"/>
                <a:cs typeface="Nimbus Sans"/>
              </a:rPr>
              <a:t>Data and evaluation</a:t>
            </a:r>
          </a:p>
        </p:txBody>
      </p:sp>
      <p:sp>
        <p:nvSpPr>
          <p:cNvPr id="5" name="A/B/C, participant splits, leakage trap and question-specific me">
            <a:extLst xmlns:a="http://schemas.openxmlformats.org/drawingml/2006/main">
              <a:ext uri="{FF2B5EF4-FFF2-40B4-BE49-F238E27FC236}">
                <a16:creationId xmlns:a16="http://schemas.microsoft.com/office/drawing/2014/main" id="{AD63AFC4-E7CE-4C6E-833C-DF7B4A1F5D5F}"/>
              </a:ext>
            </a:extLst>
          </p:cNvPr>
          <p:cNvSpPr>
            <a:spLocks xmlns:a="http://schemas.openxmlformats.org/drawingml/2006/main" noGrp="1"/>
          </p:cNvSpPr>
          <p:nvPr/>
        </p:nvSpPr>
        <p:spPr>
          <a:xfrm xmlns:a="http://schemas.openxmlformats.org/drawingml/2006/main">
            <a:off x="1552575" y="2114550"/>
            <a:ext cx="8305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37B9C"/>
                </a:solidFill>
                <a:latin typeface="Nimbus Sans"/>
                <a:ea typeface="Nimbus Sans"/>
                <a:cs typeface="Nimbus Sans"/>
              </a:defRPr>
            </a:defPPr>
          </a:lstStyle>
          <a:p xmlns:a="http://schemas.openxmlformats.org/drawingml/2006/main">
            <a:pPr algn="l">
              <a:buNone/>
              <a:defRPr sz="1575" b="0">
                <a:solidFill>
                  <a:srgbClr val="637B9C"/>
                </a:solidFill>
                <a:latin typeface="Nimbus Sans"/>
                <a:ea typeface="Nimbus Sans"/>
                <a:cs typeface="Nimbus Sans"/>
              </a:defRPr>
            </a:pPr>
            <a:r>
              <a:rPr sz="1575" b="0">
                <a:solidFill>
                  <a:srgbClr val="637B9C"/>
                </a:solidFill>
                <a:latin typeface="Nimbus Sans"/>
                <a:ea typeface="Nimbus Sans"/>
                <a:cs typeface="Nimbus Sans"/>
              </a:rPr>
              <a:t>A/B/C, leakage, metrics, pilot scope and the baseline</a:t>
            </a:r>
          </a:p>
        </p:txBody>
      </p:sp>
      <p:sp>
        <p:nvSpPr>
          <p:cNvPr id="6" name="Slides 3–5">
            <a:extLst xmlns:a="http://schemas.openxmlformats.org/drawingml/2006/main">
              <a:ext uri="{FF2B5EF4-FFF2-40B4-BE49-F238E27FC236}">
                <a16:creationId xmlns:a16="http://schemas.microsoft.com/office/drawing/2014/main" id="{687B4B8F-0D9A-4532-A0AE-D7944B2D7725}"/>
              </a:ext>
            </a:extLst>
          </p:cNvPr>
          <p:cNvSpPr>
            <a:spLocks xmlns:a="http://schemas.openxmlformats.org/drawingml/2006/main" noGrp="1"/>
          </p:cNvSpPr>
          <p:nvPr/>
        </p:nvSpPr>
        <p:spPr>
          <a:xfrm xmlns:a="http://schemas.openxmlformats.org/drawingml/2006/main">
            <a:off x="9953625" y="1781175"/>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1673FF"/>
                </a:solidFill>
                <a:latin typeface="Nimbus Sans"/>
                <a:ea typeface="Nimbus Sans"/>
                <a:cs typeface="Nimbus Sans"/>
              </a:defRPr>
            </a:defPPr>
          </a:lstStyle>
          <a:p xmlns:a="http://schemas.openxmlformats.org/drawingml/2006/main">
            <a:pPr algn="r">
              <a:buNone/>
              <a:defRPr sz="1425" b="1">
                <a:solidFill>
                  <a:srgbClr val="1673FF"/>
                </a:solidFill>
                <a:latin typeface="Nimbus Sans"/>
                <a:ea typeface="Nimbus Sans"/>
                <a:cs typeface="Nimbus Sans"/>
              </a:defRPr>
            </a:pPr>
            <a:r>
              <a:rPr sz="1425" b="1">
                <a:solidFill>
                  <a:srgbClr val="1673FF"/>
                </a:solidFill>
                <a:latin typeface="Nimbus Sans"/>
                <a:ea typeface="Nimbus Sans"/>
                <a:cs typeface="Nimbus Sans"/>
              </a:rPr>
              <a:t>Slides 3–6</a:t>
            </a:r>
          </a:p>
        </p:txBody>
      </p:sp>
      <p:sp>
        <p:nvSpPr>
          <p:cNvPr id="7" name="">
            <a:extLst xmlns:a="http://schemas.openxmlformats.org/drawingml/2006/main">
              <a:ext uri="{FF2B5EF4-FFF2-40B4-BE49-F238E27FC236}">
                <a16:creationId xmlns:a16="http://schemas.microsoft.com/office/drawing/2014/main" id="{9034BF50-BEF0-4AE0-91A7-CB4C2674D6D1}"/>
              </a:ext>
            </a:extLst>
          </p:cNvPr>
          <p:cNvSpPr>
            <a:spLocks xmlns:a="http://schemas.openxmlformats.org/drawingml/2006/main" noGrp="1"/>
          </p:cNvSpPr>
          <p:nvPr/>
        </p:nvSpPr>
        <p:spPr>
          <a:xfrm xmlns:a="http://schemas.openxmlformats.org/drawingml/2006/main">
            <a:off x="571500" y="2581275"/>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8" name="02">
            <a:extLst xmlns:a="http://schemas.openxmlformats.org/drawingml/2006/main">
              <a:ext uri="{FF2B5EF4-FFF2-40B4-BE49-F238E27FC236}">
                <a16:creationId xmlns:a16="http://schemas.microsoft.com/office/drawing/2014/main" id="{A7E621A4-87D5-44FA-B3E7-AA6CD76539E0}"/>
              </a:ext>
            </a:extLst>
          </p:cNvPr>
          <p:cNvSpPr>
            <a:spLocks xmlns:a="http://schemas.openxmlformats.org/drawingml/2006/main" noGrp="1"/>
          </p:cNvSpPr>
          <p:nvPr/>
        </p:nvSpPr>
        <p:spPr>
          <a:xfrm xmlns:a="http://schemas.openxmlformats.org/drawingml/2006/main">
            <a:off x="609600" y="2733675"/>
            <a:ext cx="7048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09E9A"/>
                </a:solidFill>
                <a:latin typeface="Nimbus Sans"/>
                <a:ea typeface="Nimbus Sans"/>
                <a:cs typeface="Nimbus Sans"/>
              </a:defRPr>
            </a:defPPr>
          </a:lstStyle>
          <a:p xmlns:a="http://schemas.openxmlformats.org/drawingml/2006/main">
            <a:pPr algn="l">
              <a:buNone/>
              <a:defRPr sz="3075" b="1">
                <a:solidFill>
                  <a:srgbClr val="009E9A"/>
                </a:solidFill>
                <a:latin typeface="Nimbus Sans"/>
                <a:ea typeface="Nimbus Sans"/>
                <a:cs typeface="Nimbus Sans"/>
              </a:defRPr>
            </a:pPr>
            <a:r>
              <a:rPr sz="3075" b="1">
                <a:solidFill>
                  <a:srgbClr val="009E9A"/>
                </a:solidFill>
                <a:latin typeface="Nimbus Sans"/>
                <a:ea typeface="Nimbus Sans"/>
                <a:cs typeface="Nimbus Sans"/>
              </a:rPr>
              <a:t>02</a:t>
            </a:r>
          </a:p>
        </p:txBody>
      </p:sp>
      <p:sp>
        <p:nvSpPr>
          <p:cNvPr id="9" name="Fine-tuning experiments">
            <a:extLst xmlns:a="http://schemas.openxmlformats.org/drawingml/2006/main">
              <a:ext uri="{FF2B5EF4-FFF2-40B4-BE49-F238E27FC236}">
                <a16:creationId xmlns:a16="http://schemas.microsoft.com/office/drawing/2014/main" id="{C575CF1E-6031-4982-884D-DD9D02D73691}"/>
              </a:ext>
            </a:extLst>
          </p:cNvPr>
          <p:cNvSpPr>
            <a:spLocks xmlns:a="http://schemas.openxmlformats.org/drawingml/2006/main" noGrp="1"/>
          </p:cNvSpPr>
          <p:nvPr/>
        </p:nvSpPr>
        <p:spPr>
          <a:xfrm xmlns:a="http://schemas.openxmlformats.org/drawingml/2006/main">
            <a:off x="1533525" y="2724150"/>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61747"/>
                </a:solidFill>
                <a:latin typeface="Nimbus Sans"/>
                <a:ea typeface="Nimbus Sans"/>
                <a:cs typeface="Nimbus Sans"/>
              </a:defRPr>
            </a:defPPr>
          </a:lstStyle>
          <a:p xmlns:a="http://schemas.openxmlformats.org/drawingml/2006/main">
            <a:pPr algn="l">
              <a:buNone/>
              <a:defRPr sz="2100" b="1">
                <a:solidFill>
                  <a:srgbClr val="061747"/>
                </a:solidFill>
                <a:latin typeface="Nimbus Sans"/>
                <a:ea typeface="Nimbus Sans"/>
                <a:cs typeface="Nimbus Sans"/>
              </a:defRPr>
            </a:pPr>
            <a:r>
              <a:rPr sz="2100" b="1">
                <a:solidFill>
                  <a:srgbClr val="061747"/>
                </a:solidFill>
                <a:latin typeface="Nimbus Sans"/>
                <a:ea typeface="Nimbus Sans"/>
                <a:cs typeface="Nimbus Sans"/>
              </a:rPr>
              <a:t>Fine-tuning experiments</a:t>
            </a:r>
          </a:p>
        </p:txBody>
      </p:sp>
      <p:sp>
        <p:nvSpPr>
          <p:cNvPr id="10" name="Nine-question pilot, cross-validation and full-B Qwen LoRA">
            <a:extLst xmlns:a="http://schemas.openxmlformats.org/drawingml/2006/main">
              <a:ext uri="{FF2B5EF4-FFF2-40B4-BE49-F238E27FC236}">
                <a16:creationId xmlns:a16="http://schemas.microsoft.com/office/drawing/2014/main" id="{4EB9F6CC-75A2-4B21-A11D-FBEDB7F8FFD0}"/>
              </a:ext>
            </a:extLst>
          </p:cNvPr>
          <p:cNvSpPr>
            <a:spLocks xmlns:a="http://schemas.openxmlformats.org/drawingml/2006/main" noGrp="1"/>
          </p:cNvSpPr>
          <p:nvPr/>
        </p:nvSpPr>
        <p:spPr>
          <a:xfrm xmlns:a="http://schemas.openxmlformats.org/drawingml/2006/main">
            <a:off x="1552575" y="3162300"/>
            <a:ext cx="8305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37B9C"/>
                </a:solidFill>
                <a:latin typeface="Nimbus Sans"/>
                <a:ea typeface="Nimbus Sans"/>
                <a:cs typeface="Nimbus Sans"/>
              </a:defRPr>
            </a:defPPr>
          </a:lstStyle>
          <a:p xmlns:a="http://schemas.openxmlformats.org/drawingml/2006/main">
            <a:pPr algn="l">
              <a:buNone/>
              <a:defRPr sz="1575" b="0">
                <a:solidFill>
                  <a:srgbClr val="637B9C"/>
                </a:solidFill>
                <a:latin typeface="Nimbus Sans"/>
                <a:ea typeface="Nimbus Sans"/>
                <a:cs typeface="Nimbus Sans"/>
              </a:defRPr>
            </a:pPr>
            <a:r>
              <a:rPr sz="1575" b="0">
                <a:solidFill>
                  <a:srgbClr val="637B9C"/>
                </a:solidFill>
                <a:latin typeface="Nimbus Sans"/>
                <a:ea typeface="Nimbus Sans"/>
                <a:cs typeface="Nimbus Sans"/>
              </a:rPr>
              <a:t>Binary-choice pilot</a:t>
            </a:r>
            <a:r>
              <a:rPr sz="1575" b="0">
                <a:solidFill>
                  <a:srgbClr val="637B9C"/>
                </a:solidFill>
                <a:latin typeface="Nimbus Sans"/>
                <a:ea typeface="Nimbus Sans"/>
                <a:cs typeface="Nimbus Sans"/>
              </a:rPr>
              <a:t>, cross-validation and full-B Qwen LoRA</a:t>
            </a:r>
          </a:p>
        </p:txBody>
      </p:sp>
      <p:sp>
        <p:nvSpPr>
          <p:cNvPr id="11" name="Slides 6–9">
            <a:extLst xmlns:a="http://schemas.openxmlformats.org/drawingml/2006/main">
              <a:ext uri="{FF2B5EF4-FFF2-40B4-BE49-F238E27FC236}">
                <a16:creationId xmlns:a16="http://schemas.microsoft.com/office/drawing/2014/main" id="{868A591D-F366-42A8-B0EC-30701EFEE980}"/>
              </a:ext>
            </a:extLst>
          </p:cNvPr>
          <p:cNvSpPr>
            <a:spLocks xmlns:a="http://schemas.openxmlformats.org/drawingml/2006/main" noGrp="1"/>
          </p:cNvSpPr>
          <p:nvPr/>
        </p:nvSpPr>
        <p:spPr>
          <a:xfrm xmlns:a="http://schemas.openxmlformats.org/drawingml/2006/main">
            <a:off x="9953625" y="2828925"/>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009E9A"/>
                </a:solidFill>
                <a:latin typeface="Nimbus Sans"/>
                <a:ea typeface="Nimbus Sans"/>
                <a:cs typeface="Nimbus Sans"/>
              </a:defRPr>
            </a:defPPr>
          </a:lstStyle>
          <a:p xmlns:a="http://schemas.openxmlformats.org/drawingml/2006/main">
            <a:pPr algn="r">
              <a:buNone/>
              <a:defRPr sz="1425" b="1">
                <a:solidFill>
                  <a:srgbClr val="009E9A"/>
                </a:solidFill>
                <a:latin typeface="Nimbus Sans"/>
                <a:ea typeface="Nimbus Sans"/>
                <a:cs typeface="Nimbus Sans"/>
              </a:defRPr>
            </a:pPr>
            <a:r>
              <a:rPr sz="1425" b="1">
                <a:solidFill>
                  <a:srgbClr val="009E9A"/>
                </a:solidFill>
                <a:latin typeface="Nimbus Sans"/>
                <a:ea typeface="Nimbus Sans"/>
                <a:cs typeface="Nimbus Sans"/>
              </a:rPr>
              <a:t>Slides 7–10</a:t>
            </a:r>
          </a:p>
        </p:txBody>
      </p:sp>
      <p:sp>
        <p:nvSpPr>
          <p:cNvPr id="12" name="">
            <a:extLst xmlns:a="http://schemas.openxmlformats.org/drawingml/2006/main">
              <a:ext uri="{FF2B5EF4-FFF2-40B4-BE49-F238E27FC236}">
                <a16:creationId xmlns:a16="http://schemas.microsoft.com/office/drawing/2014/main" id="{2B70FA88-4978-42A5-B6FA-725EC8DFFDCA}"/>
              </a:ext>
            </a:extLst>
          </p:cNvPr>
          <p:cNvSpPr>
            <a:spLocks xmlns:a="http://schemas.openxmlformats.org/drawingml/2006/main" noGrp="1"/>
          </p:cNvSpPr>
          <p:nvPr/>
        </p:nvSpPr>
        <p:spPr>
          <a:xfrm xmlns:a="http://schemas.openxmlformats.org/drawingml/2006/main">
            <a:off x="571500" y="3629025"/>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13" name="03">
            <a:extLst xmlns:a="http://schemas.openxmlformats.org/drawingml/2006/main">
              <a:ext uri="{FF2B5EF4-FFF2-40B4-BE49-F238E27FC236}">
                <a16:creationId xmlns:a16="http://schemas.microsoft.com/office/drawing/2014/main" id="{376BB75B-DD2F-414F-8EF2-B67D84F48C94}"/>
              </a:ext>
            </a:extLst>
          </p:cNvPr>
          <p:cNvSpPr>
            <a:spLocks xmlns:a="http://schemas.openxmlformats.org/drawingml/2006/main" noGrp="1"/>
          </p:cNvSpPr>
          <p:nvPr/>
        </p:nvSpPr>
        <p:spPr>
          <a:xfrm xmlns:a="http://schemas.openxmlformats.org/drawingml/2006/main">
            <a:off x="609600" y="3781425"/>
            <a:ext cx="7048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8254F5"/>
                </a:solidFill>
                <a:latin typeface="Nimbus Sans"/>
                <a:ea typeface="Nimbus Sans"/>
                <a:cs typeface="Nimbus Sans"/>
              </a:defRPr>
            </a:defPPr>
          </a:lstStyle>
          <a:p xmlns:a="http://schemas.openxmlformats.org/drawingml/2006/main">
            <a:pPr algn="l">
              <a:buNone/>
              <a:defRPr sz="3075" b="1">
                <a:solidFill>
                  <a:srgbClr val="8254F5"/>
                </a:solidFill>
                <a:latin typeface="Nimbus Sans"/>
                <a:ea typeface="Nimbus Sans"/>
                <a:cs typeface="Nimbus Sans"/>
              </a:defRPr>
            </a:pPr>
            <a:r>
              <a:rPr sz="3075" b="1">
                <a:solidFill>
                  <a:srgbClr val="8254F5"/>
                </a:solidFill>
                <a:latin typeface="Nimbus Sans"/>
                <a:ea typeface="Nimbus Sans"/>
                <a:cs typeface="Nimbus Sans"/>
              </a:rPr>
              <a:t>03</a:t>
            </a:r>
          </a:p>
        </p:txBody>
      </p:sp>
      <p:sp>
        <p:nvSpPr>
          <p:cNvPr id="14" name="Profile tests and retrieval">
            <a:extLst xmlns:a="http://schemas.openxmlformats.org/drawingml/2006/main">
              <a:ext uri="{FF2B5EF4-FFF2-40B4-BE49-F238E27FC236}">
                <a16:creationId xmlns:a16="http://schemas.microsoft.com/office/drawing/2014/main" id="{1DC46DE4-A609-4662-AC5D-10F6135B73B2}"/>
              </a:ext>
            </a:extLst>
          </p:cNvPr>
          <p:cNvSpPr>
            <a:spLocks xmlns:a="http://schemas.openxmlformats.org/drawingml/2006/main" noGrp="1"/>
          </p:cNvSpPr>
          <p:nvPr/>
        </p:nvSpPr>
        <p:spPr>
          <a:xfrm xmlns:a="http://schemas.openxmlformats.org/drawingml/2006/main">
            <a:off x="1533525" y="3771900"/>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61747"/>
                </a:solidFill>
                <a:latin typeface="Nimbus Sans"/>
                <a:ea typeface="Nimbus Sans"/>
                <a:cs typeface="Nimbus Sans"/>
              </a:defRPr>
            </a:defPPr>
          </a:lstStyle>
          <a:p xmlns:a="http://schemas.openxmlformats.org/drawingml/2006/main">
            <a:pPr algn="l">
              <a:buNone/>
              <a:defRPr sz="2100" b="1">
                <a:solidFill>
                  <a:srgbClr val="061747"/>
                </a:solidFill>
                <a:latin typeface="Nimbus Sans"/>
                <a:ea typeface="Nimbus Sans"/>
                <a:cs typeface="Nimbus Sans"/>
              </a:defRPr>
            </a:pPr>
            <a:r>
              <a:rPr sz="2100" b="1">
                <a:solidFill>
                  <a:srgbClr val="061747"/>
                </a:solidFill>
                <a:latin typeface="Nimbus Sans"/>
                <a:ea typeface="Nimbus Sans"/>
                <a:cs typeface="Nimbus Sans"/>
              </a:rPr>
              <a:t>Profile tests and retrieval</a:t>
            </a:r>
          </a:p>
        </p:txBody>
      </p:sp>
      <p:sp>
        <p:nvSpPr>
          <p:cNvPr id="15" name="Ablations, lexical and embedding neighbors, numeric results">
            <a:extLst xmlns:a="http://schemas.openxmlformats.org/drawingml/2006/main">
              <a:ext uri="{FF2B5EF4-FFF2-40B4-BE49-F238E27FC236}">
                <a16:creationId xmlns:a16="http://schemas.microsoft.com/office/drawing/2014/main" id="{2D8B18F9-7953-4440-A740-AE5AB95AFA03}"/>
              </a:ext>
            </a:extLst>
          </p:cNvPr>
          <p:cNvSpPr>
            <a:spLocks xmlns:a="http://schemas.openxmlformats.org/drawingml/2006/main" noGrp="1"/>
          </p:cNvSpPr>
          <p:nvPr/>
        </p:nvSpPr>
        <p:spPr>
          <a:xfrm xmlns:a="http://schemas.openxmlformats.org/drawingml/2006/main">
            <a:off x="1552575" y="4210050"/>
            <a:ext cx="8305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37B9C"/>
                </a:solidFill>
                <a:latin typeface="Nimbus Sans"/>
                <a:ea typeface="Nimbus Sans"/>
                <a:cs typeface="Nimbus Sans"/>
              </a:defRPr>
            </a:defPPr>
          </a:lstStyle>
          <a:p xmlns:a="http://schemas.openxmlformats.org/drawingml/2006/main">
            <a:pPr algn="l">
              <a:buNone/>
              <a:defRPr sz="1575" b="0">
                <a:solidFill>
                  <a:srgbClr val="637B9C"/>
                </a:solidFill>
                <a:latin typeface="Nimbus Sans"/>
                <a:ea typeface="Nimbus Sans"/>
                <a:cs typeface="Nimbus Sans"/>
              </a:defRPr>
            </a:pPr>
            <a:r>
              <a:rPr sz="1575" b="0">
                <a:solidFill>
                  <a:srgbClr val="637B9C"/>
                </a:solidFill>
                <a:latin typeface="Nimbus Sans"/>
                <a:ea typeface="Nimbus Sans"/>
                <a:cs typeface="Nimbus Sans"/>
              </a:rPr>
              <a:t>Ablations, lexical and embedding neighbors, numeric results</a:t>
            </a:r>
          </a:p>
        </p:txBody>
      </p:sp>
      <p:sp>
        <p:nvSpPr>
          <p:cNvPr id="16" name="Slides 10–15">
            <a:extLst xmlns:a="http://schemas.openxmlformats.org/drawingml/2006/main">
              <a:ext uri="{FF2B5EF4-FFF2-40B4-BE49-F238E27FC236}">
                <a16:creationId xmlns:a16="http://schemas.microsoft.com/office/drawing/2014/main" id="{B2C6078F-C973-4809-9F5F-4D7A6EC9B2E3}"/>
              </a:ext>
            </a:extLst>
          </p:cNvPr>
          <p:cNvSpPr>
            <a:spLocks xmlns:a="http://schemas.openxmlformats.org/drawingml/2006/main" noGrp="1"/>
          </p:cNvSpPr>
          <p:nvPr/>
        </p:nvSpPr>
        <p:spPr>
          <a:xfrm xmlns:a="http://schemas.openxmlformats.org/drawingml/2006/main">
            <a:off x="9953625" y="3876675"/>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8254F5"/>
                </a:solidFill>
                <a:latin typeface="Nimbus Sans"/>
                <a:ea typeface="Nimbus Sans"/>
                <a:cs typeface="Nimbus Sans"/>
              </a:defRPr>
            </a:defPPr>
          </a:lstStyle>
          <a:p xmlns:a="http://schemas.openxmlformats.org/drawingml/2006/main">
            <a:pPr algn="r">
              <a:buNone/>
              <a:defRPr sz="1425" b="1">
                <a:solidFill>
                  <a:srgbClr val="8254F5"/>
                </a:solidFill>
                <a:latin typeface="Nimbus Sans"/>
                <a:ea typeface="Nimbus Sans"/>
                <a:cs typeface="Nimbus Sans"/>
              </a:defRPr>
            </a:pPr>
            <a:r>
              <a:rPr sz="1425" b="1">
                <a:solidFill>
                  <a:srgbClr val="8254F5"/>
                </a:solidFill>
                <a:latin typeface="Nimbus Sans"/>
                <a:ea typeface="Nimbus Sans"/>
                <a:cs typeface="Nimbus Sans"/>
              </a:rPr>
              <a:t>Slides 11–16</a:t>
            </a:r>
          </a:p>
        </p:txBody>
      </p:sp>
      <p:sp>
        <p:nvSpPr>
          <p:cNvPr id="17" name="">
            <a:extLst xmlns:a="http://schemas.openxmlformats.org/drawingml/2006/main">
              <a:ext uri="{FF2B5EF4-FFF2-40B4-BE49-F238E27FC236}">
                <a16:creationId xmlns:a16="http://schemas.microsoft.com/office/drawing/2014/main" id="{104845BF-252E-4DF4-8380-69345024E05B}"/>
              </a:ext>
            </a:extLst>
          </p:cNvPr>
          <p:cNvSpPr>
            <a:spLocks xmlns:a="http://schemas.openxmlformats.org/drawingml/2006/main" noGrp="1"/>
          </p:cNvSpPr>
          <p:nvPr/>
        </p:nvSpPr>
        <p:spPr>
          <a:xfrm xmlns:a="http://schemas.openxmlformats.org/drawingml/2006/main">
            <a:off x="571500" y="4676775"/>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18" name="04">
            <a:extLst xmlns:a="http://schemas.openxmlformats.org/drawingml/2006/main">
              <a:ext uri="{FF2B5EF4-FFF2-40B4-BE49-F238E27FC236}">
                <a16:creationId xmlns:a16="http://schemas.microsoft.com/office/drawing/2014/main" id="{3B41D61F-F7CE-4E6E-9E01-33924BB99437}"/>
              </a:ext>
            </a:extLst>
          </p:cNvPr>
          <p:cNvSpPr>
            <a:spLocks xmlns:a="http://schemas.openxmlformats.org/drawingml/2006/main" noGrp="1"/>
          </p:cNvSpPr>
          <p:nvPr/>
        </p:nvSpPr>
        <p:spPr>
          <a:xfrm xmlns:a="http://schemas.openxmlformats.org/drawingml/2006/main">
            <a:off x="609600" y="4829175"/>
            <a:ext cx="7048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1673FF"/>
                </a:solidFill>
                <a:latin typeface="Nimbus Sans"/>
                <a:ea typeface="Nimbus Sans"/>
                <a:cs typeface="Nimbus Sans"/>
              </a:defRPr>
            </a:defPPr>
          </a:lstStyle>
          <a:p xmlns:a="http://schemas.openxmlformats.org/drawingml/2006/main">
            <a:pPr algn="l">
              <a:buNone/>
              <a:defRPr sz="3075" b="1">
                <a:solidFill>
                  <a:srgbClr val="1673FF"/>
                </a:solidFill>
                <a:latin typeface="Nimbus Sans"/>
                <a:ea typeface="Nimbus Sans"/>
                <a:cs typeface="Nimbus Sans"/>
              </a:defRPr>
            </a:pPr>
            <a:r>
              <a:rPr sz="3075" b="1">
                <a:solidFill>
                  <a:srgbClr val="1673FF"/>
                </a:solidFill>
                <a:latin typeface="Nimbus Sans"/>
                <a:ea typeface="Nimbus Sans"/>
                <a:cs typeface="Nimbus Sans"/>
              </a:rPr>
              <a:t>04</a:t>
            </a:r>
          </a:p>
        </p:txBody>
      </p:sp>
      <p:sp>
        <p:nvSpPr>
          <p:cNvPr id="19" name="Findings and limitations">
            <a:extLst xmlns:a="http://schemas.openxmlformats.org/drawingml/2006/main">
              <a:ext uri="{FF2B5EF4-FFF2-40B4-BE49-F238E27FC236}">
                <a16:creationId xmlns:a16="http://schemas.microsoft.com/office/drawing/2014/main" id="{13E25B4A-47C1-4B68-B5D3-13EFC08AD769}"/>
              </a:ext>
            </a:extLst>
          </p:cNvPr>
          <p:cNvSpPr>
            <a:spLocks xmlns:a="http://schemas.openxmlformats.org/drawingml/2006/main" noGrp="1"/>
          </p:cNvSpPr>
          <p:nvPr/>
        </p:nvSpPr>
        <p:spPr>
          <a:xfrm xmlns:a="http://schemas.openxmlformats.org/drawingml/2006/main">
            <a:off x="1533525" y="4819650"/>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61747"/>
                </a:solidFill>
                <a:latin typeface="Nimbus Sans"/>
                <a:ea typeface="Nimbus Sans"/>
                <a:cs typeface="Nimbus Sans"/>
              </a:defRPr>
            </a:defPPr>
          </a:lstStyle>
          <a:p xmlns:a="http://schemas.openxmlformats.org/drawingml/2006/main">
            <a:pPr algn="l">
              <a:buNone/>
              <a:defRPr sz="2100" b="1">
                <a:solidFill>
                  <a:srgbClr val="061747"/>
                </a:solidFill>
                <a:latin typeface="Nimbus Sans"/>
                <a:ea typeface="Nimbus Sans"/>
                <a:cs typeface="Nimbus Sans"/>
              </a:defRPr>
            </a:pPr>
            <a:r>
              <a:rPr sz="2100" b="1">
                <a:solidFill>
                  <a:srgbClr val="061747"/>
                </a:solidFill>
                <a:latin typeface="Nimbus Sans"/>
                <a:ea typeface="Nimbus Sans"/>
                <a:cs typeface="Nimbus Sans"/>
              </a:rPr>
              <a:t>Findings and limitations</a:t>
            </a:r>
          </a:p>
        </p:txBody>
      </p:sp>
      <p:sp>
        <p:nvSpPr>
          <p:cNvPr id="20" name="What the experiments establish and the proposed next step">
            <a:extLst xmlns:a="http://schemas.openxmlformats.org/drawingml/2006/main">
              <a:ext uri="{FF2B5EF4-FFF2-40B4-BE49-F238E27FC236}">
                <a16:creationId xmlns:a16="http://schemas.microsoft.com/office/drawing/2014/main" id="{05E3B10C-DB7D-4003-B152-CFA135E9D774}"/>
              </a:ext>
            </a:extLst>
          </p:cNvPr>
          <p:cNvSpPr>
            <a:spLocks xmlns:a="http://schemas.openxmlformats.org/drawingml/2006/main" noGrp="1"/>
          </p:cNvSpPr>
          <p:nvPr/>
        </p:nvSpPr>
        <p:spPr>
          <a:xfrm xmlns:a="http://schemas.openxmlformats.org/drawingml/2006/main">
            <a:off x="1552575" y="5257800"/>
            <a:ext cx="8305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37B9C"/>
                </a:solidFill>
                <a:latin typeface="Nimbus Sans"/>
                <a:ea typeface="Nimbus Sans"/>
                <a:cs typeface="Nimbus Sans"/>
              </a:defRPr>
            </a:defPPr>
          </a:lstStyle>
          <a:p xmlns:a="http://schemas.openxmlformats.org/drawingml/2006/main">
            <a:pPr algn="l">
              <a:buNone/>
              <a:defRPr sz="1575" b="0">
                <a:solidFill>
                  <a:srgbClr val="637B9C"/>
                </a:solidFill>
                <a:latin typeface="Nimbus Sans"/>
                <a:ea typeface="Nimbus Sans"/>
                <a:cs typeface="Nimbus Sans"/>
              </a:defRPr>
            </a:pPr>
            <a:r>
              <a:rPr sz="1575" b="0">
                <a:solidFill>
                  <a:srgbClr val="637B9C"/>
                </a:solidFill>
                <a:latin typeface="Nimbus Sans"/>
                <a:ea typeface="Nimbus Sans"/>
                <a:cs typeface="Nimbus Sans"/>
              </a:rPr>
              <a:t>What the experiments establish and the proposed next step</a:t>
            </a:r>
          </a:p>
        </p:txBody>
      </p:sp>
      <p:sp>
        <p:nvSpPr>
          <p:cNvPr id="21" name="Slide 16">
            <a:extLst xmlns:a="http://schemas.openxmlformats.org/drawingml/2006/main">
              <a:ext uri="{FF2B5EF4-FFF2-40B4-BE49-F238E27FC236}">
                <a16:creationId xmlns:a16="http://schemas.microsoft.com/office/drawing/2014/main" id="{481AC3ED-04AF-4534-A62C-69139DA89D79}"/>
              </a:ext>
            </a:extLst>
          </p:cNvPr>
          <p:cNvSpPr>
            <a:spLocks xmlns:a="http://schemas.openxmlformats.org/drawingml/2006/main" noGrp="1"/>
          </p:cNvSpPr>
          <p:nvPr/>
        </p:nvSpPr>
        <p:spPr>
          <a:xfrm xmlns:a="http://schemas.openxmlformats.org/drawingml/2006/main">
            <a:off x="9953625" y="4924425"/>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1673FF"/>
                </a:solidFill>
                <a:latin typeface="Nimbus Sans"/>
                <a:ea typeface="Nimbus Sans"/>
                <a:cs typeface="Nimbus Sans"/>
              </a:defRPr>
            </a:defPPr>
          </a:lstStyle>
          <a:p xmlns:a="http://schemas.openxmlformats.org/drawingml/2006/main">
            <a:pPr algn="r">
              <a:buNone/>
              <a:defRPr sz="1425" b="1">
                <a:solidFill>
                  <a:srgbClr val="1673FF"/>
                </a:solidFill>
                <a:latin typeface="Nimbus Sans"/>
                <a:ea typeface="Nimbus Sans"/>
                <a:cs typeface="Nimbus Sans"/>
              </a:defRPr>
            </a:pPr>
            <a:r>
              <a:rPr sz="1425" b="1">
                <a:solidFill>
                  <a:srgbClr val="1673FF"/>
                </a:solidFill>
                <a:latin typeface="Nimbus Sans"/>
                <a:ea typeface="Nimbus Sans"/>
                <a:cs typeface="Nimbus Sans"/>
              </a:rPr>
              <a:t>Slide 17</a:t>
            </a:r>
          </a:p>
        </p:txBody>
      </p:sp>
      <p:sp>
        <p:nvSpPr>
          <p:cNvPr id="22" name="">
            <a:extLst xmlns:a="http://schemas.openxmlformats.org/drawingml/2006/main">
              <a:ext uri="{FF2B5EF4-FFF2-40B4-BE49-F238E27FC236}">
                <a16:creationId xmlns:a16="http://schemas.microsoft.com/office/drawing/2014/main" id="{DB5E9148-DEB6-4258-99A5-7DBFC781F2F6}"/>
              </a:ext>
            </a:extLst>
          </p:cNvPr>
          <p:cNvSpPr>
            <a:spLocks xmlns:a="http://schemas.openxmlformats.org/drawingml/2006/main" noGrp="1"/>
          </p:cNvSpPr>
          <p:nvPr/>
        </p:nvSpPr>
        <p:spPr>
          <a:xfrm xmlns:a="http://schemas.openxmlformats.org/drawingml/2006/main">
            <a:off x="571500" y="6229350"/>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23" name="All reported results use development validation. The reserved te">
            <a:extLst xmlns:a="http://schemas.openxmlformats.org/drawingml/2006/main">
              <a:ext uri="{FF2B5EF4-FFF2-40B4-BE49-F238E27FC236}">
                <a16:creationId xmlns:a16="http://schemas.microsoft.com/office/drawing/2014/main" id="{FE400EAD-C12C-4543-A92A-12794430A23C}"/>
              </a:ext>
            </a:extLst>
          </p:cNvPr>
          <p:cNvSpPr>
            <a:spLocks xmlns:a="http://schemas.openxmlformats.org/drawingml/2006/main" noGrp="1"/>
          </p:cNvSpPr>
          <p:nvPr/>
        </p:nvSpPr>
        <p:spPr>
          <a:xfrm xmlns:a="http://schemas.openxmlformats.org/drawingml/2006/main">
            <a:off x="590550" y="636270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7B9C"/>
                </a:solidFill>
                <a:latin typeface="Nimbus Sans"/>
                <a:ea typeface="Nimbus Sans"/>
                <a:cs typeface="Nimbus Sans"/>
              </a:defRPr>
            </a:defPPr>
          </a:lstStyle>
          <a:p xmlns:a="http://schemas.openxmlformats.org/drawingml/2006/main">
            <a:pPr algn="l">
              <a:buNone/>
              <a:defRPr sz="1050" b="0">
                <a:solidFill>
                  <a:srgbClr val="637B9C"/>
                </a:solidFill>
                <a:latin typeface="Nimbus Sans"/>
                <a:ea typeface="Nimbus Sans"/>
                <a:cs typeface="Nimbus Sans"/>
              </a:defRPr>
            </a:pPr>
            <a:r>
              <a:rPr sz="1050" b="0">
                <a:solidFill>
                  <a:srgbClr val="637B9C"/>
                </a:solidFill>
                <a:latin typeface="Nimbus Sans"/>
                <a:ea typeface="Nimbus Sans"/>
                <a:cs typeface="Nimbus Sans"/>
              </a:rPr>
              <a:t>All reported results use development validation. The reserved test set remains unscored.</a:t>
            </a:r>
          </a:p>
        </p:txBody>
      </p:sp>
      <p:sp>
        <p:nvSpPr>
          <p:cNvPr id="24" name="02">
            <a:extLst xmlns:a="http://schemas.openxmlformats.org/drawingml/2006/main">
              <a:ext uri="{FF2B5EF4-FFF2-40B4-BE49-F238E27FC236}">
                <a16:creationId xmlns:a16="http://schemas.microsoft.com/office/drawing/2014/main" id="{7050CA91-EA39-4172-9CA3-B4764C5C6043}"/>
              </a:ext>
            </a:extLst>
          </p:cNvPr>
          <p:cNvSpPr>
            <a:spLocks xmlns:a="http://schemas.openxmlformats.org/drawingml/2006/main" noGrp="1"/>
          </p:cNvSpPr>
          <p:nvPr/>
        </p:nvSpPr>
        <p:spPr>
          <a:xfrm xmlns:a="http://schemas.openxmlformats.org/drawingml/2006/main">
            <a:off x="11182350"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37B9C"/>
                </a:solidFill>
                <a:latin typeface="Nimbus Sans"/>
                <a:ea typeface="Nimbus Sans"/>
                <a:cs typeface="Nimbus Sans"/>
              </a:defRPr>
            </a:defPPr>
          </a:lstStyle>
          <a:p xmlns:a="http://schemas.openxmlformats.org/drawingml/2006/main">
            <a:pPr algn="r">
              <a:buNone/>
              <a:defRPr sz="1125" b="0">
                <a:solidFill>
                  <a:srgbClr val="637B9C"/>
                </a:solidFill>
                <a:latin typeface="Nimbus Sans"/>
                <a:ea typeface="Nimbus Sans"/>
                <a:cs typeface="Nimbus Sans"/>
              </a:defRPr>
            </a:pPr>
            <a:r>
              <a:rPr sz="1125" b="0">
                <a:solidFill>
                  <a:srgbClr val="637B9C"/>
                </a:solidFill>
                <a:latin typeface="Nimbus Sans"/>
                <a:ea typeface="Nimbus Sans"/>
                <a:cs typeface="Nimbus Sans"/>
              </a:rPr>
              <a:t>02</a:t>
            </a:r>
          </a:p>
        </p:txBody>
      </p:sp>
    </p:spTree>
    <p:extLst>
      <p:ext uri="{BB962C8B-B14F-4D97-AF65-F5344CB8AC3E}">
        <p14:creationId xmlns:p14="http://schemas.microsoft.com/office/powerpoint/2010/main" val="119876831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Dataset and prediction task">
            <a:extLst xmlns:a="http://schemas.openxmlformats.org/drawingml/2006/main">
              <a:ext uri="{FF2B5EF4-FFF2-40B4-BE49-F238E27FC236}">
                <a16:creationId xmlns:a16="http://schemas.microsoft.com/office/drawing/2014/main" id="{90FD8A9F-8FBE-4513-8C6B-83D78CFE3839}"/>
              </a:ext>
            </a:extLst>
          </p:cNvPr>
          <p:cNvSpPr>
            <a:spLocks xmlns:a="http://schemas.openxmlformats.org/drawingml/2006/main" noGrp="1"/>
          </p:cNvSpPr>
          <p:nvPr/>
        </p:nvSpPr>
        <p:spPr>
          <a:xfrm xmlns:a="http://schemas.openxmlformats.org/drawingml/2006/main">
            <a:off x="571500" y="285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61747"/>
                </a:solidFill>
                <a:latin typeface="Nimbus Sans"/>
                <a:ea typeface="Nimbus Sans"/>
                <a:cs typeface="Nimbus Sans"/>
              </a:defRPr>
            </a:defPPr>
          </a:lstStyle>
          <a:p xmlns:a="http://schemas.openxmlformats.org/drawingml/2006/main">
            <a:pPr algn="l">
              <a:buNone/>
              <a:defRPr sz="3075" b="1">
                <a:solidFill>
                  <a:srgbClr val="061747"/>
                </a:solidFill>
                <a:latin typeface="Nimbus Sans"/>
                <a:ea typeface="Nimbus Sans"/>
                <a:cs typeface="Nimbus Sans"/>
              </a:defRPr>
            </a:pPr>
            <a:r>
              <a:rPr sz="3075" b="1">
                <a:solidFill>
                  <a:srgbClr val="061747"/>
                </a:solidFill>
                <a:latin typeface="Nimbus Sans"/>
                <a:ea typeface="Nimbus Sans"/>
                <a:cs typeface="Nimbus Sans"/>
              </a:rPr>
              <a:t>Dataset and prediction task</a:t>
            </a:r>
          </a:p>
        </p:txBody>
      </p:sp>
      <p:sp>
        <p:nvSpPr>
          <p:cNvPr id="2" name="2,058 participants across seven dataset chunks">
            <a:extLst xmlns:a="http://schemas.openxmlformats.org/drawingml/2006/main">
              <a:ext uri="{FF2B5EF4-FFF2-40B4-BE49-F238E27FC236}">
                <a16:creationId xmlns:a16="http://schemas.microsoft.com/office/drawing/2014/main" id="{635B7B77-7ADF-4187-B1A5-554BF9F08414}"/>
              </a:ext>
            </a:extLst>
          </p:cNvPr>
          <p:cNvSpPr>
            <a:spLocks xmlns:a="http://schemas.openxmlformats.org/drawingml/2006/main" noGrp="1"/>
          </p:cNvSpPr>
          <p:nvPr/>
        </p:nvSpPr>
        <p:spPr>
          <a:xfrm xmlns:a="http://schemas.openxmlformats.org/drawingml/2006/main">
            <a:off x="590550" y="914400"/>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2,058 participants across seven dataset chunks</a:t>
            </a:r>
          </a:p>
        </p:txBody>
      </p:sp>
      <p:sp>
        <p:nvSpPr>
          <p:cNvPr id="3" name="">
            <a:extLst xmlns:a="http://schemas.openxmlformats.org/drawingml/2006/main">
              <a:ext uri="{FF2B5EF4-FFF2-40B4-BE49-F238E27FC236}">
                <a16:creationId xmlns:a16="http://schemas.microsoft.com/office/drawing/2014/main" id="{BC840DAF-4DF0-4589-86A1-3BB499713DB4}"/>
              </a:ext>
            </a:extLst>
          </p:cNvPr>
          <p:cNvSpPr>
            <a:spLocks xmlns:a="http://schemas.openxmlformats.org/drawingml/2006/main" noGrp="1"/>
          </p:cNvSpPr>
          <p:nvPr/>
        </p:nvSpPr>
        <p:spPr>
          <a:xfrm xmlns:a="http://schemas.openxmlformats.org/drawingml/2006/main">
            <a:off x="571500" y="6229350"/>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4" name="Participants stay in one split. One B question record can expand">
            <a:extLst xmlns:a="http://schemas.openxmlformats.org/drawingml/2006/main">
              <a:ext uri="{FF2B5EF4-FFF2-40B4-BE49-F238E27FC236}">
                <a16:creationId xmlns:a16="http://schemas.microsoft.com/office/drawing/2014/main" id="{0059B3BE-A4F6-4DAF-BD98-683E0D9798EE}"/>
              </a:ext>
            </a:extLst>
          </p:cNvPr>
          <p:cNvSpPr>
            <a:spLocks xmlns:a="http://schemas.openxmlformats.org/drawingml/2006/main" noGrp="1"/>
          </p:cNvSpPr>
          <p:nvPr/>
        </p:nvSpPr>
        <p:spPr>
          <a:xfrm xmlns:a="http://schemas.openxmlformats.org/drawingml/2006/main">
            <a:off x="590550" y="636270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7B9C"/>
                </a:solidFill>
                <a:latin typeface="Nimbus Sans"/>
                <a:ea typeface="Nimbus Sans"/>
                <a:cs typeface="Nimbus Sans"/>
              </a:defRPr>
            </a:defPPr>
          </a:lstStyle>
          <a:p xmlns:a="http://schemas.openxmlformats.org/drawingml/2006/main">
            <a:pPr algn="l">
              <a:buNone/>
              <a:defRPr sz="1050" b="0">
                <a:solidFill>
                  <a:srgbClr val="637B9C"/>
                </a:solidFill>
                <a:latin typeface="Nimbus Sans"/>
                <a:ea typeface="Nimbus Sans"/>
                <a:cs typeface="Nimbus Sans"/>
              </a:defRPr>
            </a:pPr>
            <a:r>
              <a:rPr sz="1050" b="0">
                <a:solidFill>
                  <a:srgbClr val="637B9C"/>
                </a:solidFill>
                <a:latin typeface="Nimbus Sans"/>
                <a:ea typeface="Nimbus Sans"/>
                <a:cs typeface="Nimbus Sans"/>
              </a:rPr>
              <a:t>Participants stay in one split. One B question record can expand into several scalar targets.</a:t>
            </a:r>
          </a:p>
        </p:txBody>
      </p:sp>
      <p:sp>
        <p:nvSpPr>
          <p:cNvPr id="5" name="02">
            <a:extLst xmlns:a="http://schemas.openxmlformats.org/drawingml/2006/main">
              <a:ext uri="{FF2B5EF4-FFF2-40B4-BE49-F238E27FC236}">
                <a16:creationId xmlns:a16="http://schemas.microsoft.com/office/drawing/2014/main" id="{BB9FDBAA-C9D3-41C2-B9FE-0B4FD3CDBD2E}"/>
              </a:ext>
            </a:extLst>
          </p:cNvPr>
          <p:cNvSpPr>
            <a:spLocks xmlns:a="http://schemas.openxmlformats.org/drawingml/2006/main" noGrp="1"/>
          </p:cNvSpPr>
          <p:nvPr/>
        </p:nvSpPr>
        <p:spPr>
          <a:xfrm xmlns:a="http://schemas.openxmlformats.org/drawingml/2006/main">
            <a:off x="11182350"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37B9C"/>
                </a:solidFill>
                <a:latin typeface="Nimbus Sans"/>
                <a:ea typeface="Nimbus Sans"/>
                <a:cs typeface="Nimbus Sans"/>
              </a:defRPr>
            </a:defPPr>
          </a:lstStyle>
          <a:p xmlns:a="http://schemas.openxmlformats.org/drawingml/2006/main">
            <a:pPr algn="r">
              <a:buNone/>
              <a:defRPr sz="1125" b="0">
                <a:solidFill>
                  <a:srgbClr val="637B9C"/>
                </a:solidFill>
                <a:latin typeface="Nimbus Sans"/>
                <a:ea typeface="Nimbus Sans"/>
                <a:cs typeface="Nimbus Sans"/>
              </a:defRPr>
            </a:pPr>
            <a:r>
              <a:rPr sz="1125" b="0">
                <a:solidFill>
                  <a:srgbClr val="637B9C"/>
                </a:solidFill>
                <a:latin typeface="Nimbus Sans"/>
                <a:ea typeface="Nimbus Sans"/>
                <a:cs typeface="Nimbus Sans"/>
              </a:rPr>
              <a:t>03</a:t>
            </a:r>
          </a:p>
        </p:txBody>
      </p:sp>
      <p:sp>
        <p:nvSpPr>
          <p:cNvPr id="6" name="content-surface">
            <a:extLst xmlns:a="http://schemas.openxmlformats.org/drawingml/2006/main">
              <a:ext uri="{FF2B5EF4-FFF2-40B4-BE49-F238E27FC236}">
                <a16:creationId xmlns:a16="http://schemas.microsoft.com/office/drawing/2014/main" id="{40AB8CA4-94D4-45DA-ADE5-14B0DD85614C}"/>
              </a:ext>
            </a:extLst>
          </p:cNvPr>
          <p:cNvSpPr>
            <a:spLocks xmlns:a="http://schemas.openxmlformats.org/drawingml/2006/main" noGrp="1"/>
          </p:cNvSpPr>
          <p:nvPr/>
        </p:nvSpPr>
        <p:spPr>
          <a:xfrm xmlns:a="http://schemas.openxmlformats.org/drawingml/2006/main">
            <a:off x="590550" y="1619250"/>
            <a:ext cx="3486150" cy="2714625"/>
          </a:xfrm>
          <a:prstGeom xmlns:a="http://schemas.openxmlformats.org/drawingml/2006/main" prst="roundRect">
            <a:avLst>
              <a:gd name="adj" fmla="val 4912"/>
            </a:avLst>
          </a:prstGeom>
          <a:solidFill xmlns:a="http://schemas.openxmlformats.org/drawingml/2006/main">
            <a:srgbClr val="EFF7FE"/>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7" name="A">
            <a:extLst xmlns:a="http://schemas.openxmlformats.org/drawingml/2006/main">
              <a:ext uri="{FF2B5EF4-FFF2-40B4-BE49-F238E27FC236}">
                <a16:creationId xmlns:a16="http://schemas.microsoft.com/office/drawing/2014/main" id="{4AA6376F-18E5-414E-AF10-AF579D6AE617}"/>
              </a:ext>
            </a:extLst>
          </p:cNvPr>
          <p:cNvSpPr>
            <a:spLocks xmlns:a="http://schemas.openxmlformats.org/drawingml/2006/main" noGrp="1"/>
          </p:cNvSpPr>
          <p:nvPr/>
        </p:nvSpPr>
        <p:spPr>
          <a:xfrm xmlns:a="http://schemas.openxmlformats.org/drawingml/2006/main">
            <a:off x="800100" y="1743075"/>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1673FF"/>
                </a:solidFill>
                <a:latin typeface="Nimbus Sans"/>
                <a:ea typeface="Nimbus Sans"/>
                <a:cs typeface="Nimbus Sans"/>
              </a:defRPr>
            </a:defPPr>
          </a:lstStyle>
          <a:p xmlns:a="http://schemas.openxmlformats.org/drawingml/2006/main">
            <a:pPr algn="l">
              <a:buNone/>
              <a:defRPr sz="4125" b="1">
                <a:solidFill>
                  <a:srgbClr val="1673FF"/>
                </a:solidFill>
                <a:latin typeface="Nimbus Sans"/>
                <a:ea typeface="Nimbus Sans"/>
                <a:cs typeface="Nimbus Sans"/>
              </a:defRPr>
            </a:pPr>
            <a:r>
              <a:rPr sz="4125" b="1">
                <a:solidFill>
                  <a:srgbClr val="1673FF"/>
                </a:solidFill>
                <a:latin typeface="Nimbus Sans"/>
                <a:ea typeface="Nimbus Sans"/>
                <a:cs typeface="Nimbus Sans"/>
              </a:rPr>
              <a:t>A</a:t>
            </a:r>
          </a:p>
        </p:txBody>
      </p:sp>
      <p:sp>
        <p:nvSpPr>
          <p:cNvPr id="8" name="Earlier profile">
            <a:extLst xmlns:a="http://schemas.openxmlformats.org/drawingml/2006/main">
              <a:ext uri="{FF2B5EF4-FFF2-40B4-BE49-F238E27FC236}">
                <a16:creationId xmlns:a16="http://schemas.microsoft.com/office/drawing/2014/main" id="{DC1841A3-EE1A-40C4-BF3B-32D4184F8941}"/>
              </a:ext>
            </a:extLst>
          </p:cNvPr>
          <p:cNvSpPr>
            <a:spLocks xmlns:a="http://schemas.openxmlformats.org/drawingml/2006/main" noGrp="1"/>
          </p:cNvSpPr>
          <p:nvPr/>
        </p:nvSpPr>
        <p:spPr>
          <a:xfrm xmlns:a="http://schemas.openxmlformats.org/drawingml/2006/main">
            <a:off x="800100" y="2466975"/>
            <a:ext cx="3067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61747"/>
                </a:solidFill>
                <a:latin typeface="Nimbus Sans"/>
                <a:ea typeface="Nimbus Sans"/>
                <a:cs typeface="Nimbus Sans"/>
              </a:defRPr>
            </a:defPPr>
          </a:lstStyle>
          <a:p xmlns:a="http://schemas.openxmlformats.org/drawingml/2006/main">
            <a:pPr algn="l">
              <a:buNone/>
              <a:defRPr sz="2025" b="1">
                <a:solidFill>
                  <a:srgbClr val="061747"/>
                </a:solidFill>
                <a:latin typeface="Nimbus Sans"/>
                <a:ea typeface="Nimbus Sans"/>
                <a:cs typeface="Nimbus Sans"/>
              </a:defRPr>
            </a:pPr>
            <a:r>
              <a:rPr sz="2025" b="1">
                <a:solidFill>
                  <a:srgbClr val="061747"/>
                </a:solidFill>
                <a:latin typeface="Nimbus Sans"/>
                <a:ea typeface="Nimbus Sans"/>
                <a:cs typeface="Nimbus Sans"/>
              </a:rPr>
              <a:t>Earlier profile</a:t>
            </a:r>
          </a:p>
        </p:txBody>
      </p:sp>
      <p:sp>
        <p:nvSpPr>
          <p:cNvPr id="9" name="Earlier questions and answers not repeated in wave 4.&#10;&#10;Input evi">
            <a:extLst xmlns:a="http://schemas.openxmlformats.org/drawingml/2006/main">
              <a:ext uri="{FF2B5EF4-FFF2-40B4-BE49-F238E27FC236}">
                <a16:creationId xmlns:a16="http://schemas.microsoft.com/office/drawing/2014/main" id="{EFADBDBE-35EE-4102-B3D9-EEB0F4FB0869}"/>
              </a:ext>
            </a:extLst>
          </p:cNvPr>
          <p:cNvSpPr>
            <a:spLocks xmlns:a="http://schemas.openxmlformats.org/drawingml/2006/main" noGrp="1"/>
          </p:cNvSpPr>
          <p:nvPr/>
        </p:nvSpPr>
        <p:spPr>
          <a:xfrm xmlns:a="http://schemas.openxmlformats.org/drawingml/2006/main">
            <a:off x="800100" y="2962275"/>
            <a:ext cx="30670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37B9C"/>
                </a:solidFill>
                <a:latin typeface="Nimbus Sans"/>
                <a:ea typeface="Nimbus Sans"/>
                <a:cs typeface="Nimbus Sans"/>
              </a:defRPr>
            </a:defPPr>
          </a:lstStyle>
          <a:p xmlns:a="http://schemas.openxmlformats.org/drawingml/2006/main">
            <a:pPr algn="l">
              <a:buNone/>
              <a:defRPr sz="1650" b="0">
                <a:solidFill>
                  <a:srgbClr val="637B9C"/>
                </a:solidFill>
                <a:latin typeface="Nimbus Sans"/>
                <a:ea typeface="Nimbus Sans"/>
                <a:cs typeface="Nimbus Sans"/>
              </a:defRPr>
            </a:pPr>
            <a:r>
              <a:rPr sz="1650" b="0">
                <a:solidFill>
                  <a:srgbClr val="637B9C"/>
                </a:solidFill>
                <a:latin typeface="Nimbus Sans"/>
                <a:ea typeface="Nimbus Sans"/>
                <a:cs typeface="Nimbus Sans"/>
              </a:rPr>
              <a:t>Earlier questions and answers not repeated in wave 4.</a:t>
            </a:r>
          </a:p>
          <a:p xmlns:a="http://schemas.openxmlformats.org/drawingml/2006/main">
            <a:r>
              <a:t/>
            </a:r>
          </a:p>
          <a:p xmlns:a="http://schemas.openxmlformats.org/drawingml/2006/main">
            <a:pPr algn="l">
              <a:buNone/>
              <a:defRPr sz="1650" b="0">
                <a:solidFill>
                  <a:srgbClr val="637B9C"/>
                </a:solidFill>
                <a:latin typeface="Nimbus Sans"/>
                <a:ea typeface="Nimbus Sans"/>
                <a:cs typeface="Nimbus Sans"/>
              </a:defRPr>
            </a:pPr>
            <a:r>
              <a:rPr sz="1650" b="0">
                <a:solidFill>
                  <a:srgbClr val="637B9C"/>
                </a:solidFill>
                <a:latin typeface="Nimbus Sans"/>
                <a:ea typeface="Nimbus Sans"/>
                <a:cs typeface="Nimbus Sans"/>
              </a:rPr>
              <a:t>Input evidence about the person.</a:t>
            </a:r>
          </a:p>
        </p:txBody>
      </p:sp>
      <p:sp>
        <p:nvSpPr>
          <p:cNvPr id="10" name="content-surface">
            <a:extLst xmlns:a="http://schemas.openxmlformats.org/drawingml/2006/main">
              <a:ext uri="{FF2B5EF4-FFF2-40B4-BE49-F238E27FC236}">
                <a16:creationId xmlns:a16="http://schemas.microsoft.com/office/drawing/2014/main" id="{7C7E0776-0FA1-47A9-9752-01845FD08383}"/>
              </a:ext>
            </a:extLst>
          </p:cNvPr>
          <p:cNvSpPr>
            <a:spLocks xmlns:a="http://schemas.openxmlformats.org/drawingml/2006/main" noGrp="1"/>
          </p:cNvSpPr>
          <p:nvPr/>
        </p:nvSpPr>
        <p:spPr>
          <a:xfrm xmlns:a="http://schemas.openxmlformats.org/drawingml/2006/main">
            <a:off x="4381500" y="1619250"/>
            <a:ext cx="3486150" cy="2714625"/>
          </a:xfrm>
          <a:prstGeom xmlns:a="http://schemas.openxmlformats.org/drawingml/2006/main" prst="roundRect">
            <a:avLst>
              <a:gd name="adj" fmla="val 4912"/>
            </a:avLst>
          </a:prstGeom>
          <a:solidFill xmlns:a="http://schemas.openxmlformats.org/drawingml/2006/main">
            <a:srgbClr val="EFFBFA"/>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1" name="B">
            <a:extLst xmlns:a="http://schemas.openxmlformats.org/drawingml/2006/main">
              <a:ext uri="{FF2B5EF4-FFF2-40B4-BE49-F238E27FC236}">
                <a16:creationId xmlns:a16="http://schemas.microsoft.com/office/drawing/2014/main" id="{33156BD8-B38F-4DD3-8E87-D5C50A0CA297}"/>
              </a:ext>
            </a:extLst>
          </p:cNvPr>
          <p:cNvSpPr>
            <a:spLocks xmlns:a="http://schemas.openxmlformats.org/drawingml/2006/main" noGrp="1"/>
          </p:cNvSpPr>
          <p:nvPr/>
        </p:nvSpPr>
        <p:spPr>
          <a:xfrm xmlns:a="http://schemas.openxmlformats.org/drawingml/2006/main">
            <a:off x="4591050" y="1743075"/>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009E9A"/>
                </a:solidFill>
                <a:latin typeface="Nimbus Sans"/>
                <a:ea typeface="Nimbus Sans"/>
                <a:cs typeface="Nimbus Sans"/>
              </a:defRPr>
            </a:defPPr>
          </a:lstStyle>
          <a:p xmlns:a="http://schemas.openxmlformats.org/drawingml/2006/main">
            <a:pPr algn="l">
              <a:buNone/>
              <a:defRPr sz="4125" b="1">
                <a:solidFill>
                  <a:srgbClr val="009E9A"/>
                </a:solidFill>
                <a:latin typeface="Nimbus Sans"/>
                <a:ea typeface="Nimbus Sans"/>
                <a:cs typeface="Nimbus Sans"/>
              </a:defRPr>
            </a:pPr>
            <a:r>
              <a:rPr sz="4125" b="1">
                <a:solidFill>
                  <a:srgbClr val="009E9A"/>
                </a:solidFill>
                <a:latin typeface="Nimbus Sans"/>
                <a:ea typeface="Nimbus Sans"/>
                <a:cs typeface="Nimbus Sans"/>
              </a:rPr>
              <a:t>B</a:t>
            </a:r>
          </a:p>
        </p:txBody>
      </p:sp>
      <p:sp>
        <p:nvSpPr>
          <p:cNvPr id="12" name="Training responses">
            <a:extLst xmlns:a="http://schemas.openxmlformats.org/drawingml/2006/main">
              <a:ext uri="{FF2B5EF4-FFF2-40B4-BE49-F238E27FC236}">
                <a16:creationId xmlns:a16="http://schemas.microsoft.com/office/drawing/2014/main" id="{BCDD0807-5E13-4524-A91F-0259AEA63818}"/>
              </a:ext>
            </a:extLst>
          </p:cNvPr>
          <p:cNvSpPr>
            <a:spLocks xmlns:a="http://schemas.openxmlformats.org/drawingml/2006/main" noGrp="1"/>
          </p:cNvSpPr>
          <p:nvPr/>
        </p:nvSpPr>
        <p:spPr>
          <a:xfrm xmlns:a="http://schemas.openxmlformats.org/drawingml/2006/main">
            <a:off x="4591050" y="2466975"/>
            <a:ext cx="3067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61747"/>
                </a:solidFill>
                <a:latin typeface="Nimbus Sans"/>
                <a:ea typeface="Nimbus Sans"/>
                <a:cs typeface="Nimbus Sans"/>
              </a:defRPr>
            </a:defPPr>
          </a:lstStyle>
          <a:p xmlns:a="http://schemas.openxmlformats.org/drawingml/2006/main">
            <a:pPr algn="l">
              <a:buNone/>
              <a:defRPr sz="2025" b="1">
                <a:solidFill>
                  <a:srgbClr val="061747"/>
                </a:solidFill>
                <a:latin typeface="Nimbus Sans"/>
                <a:ea typeface="Nimbus Sans"/>
                <a:cs typeface="Nimbus Sans"/>
              </a:defRPr>
            </a:pPr>
            <a:r>
              <a:rPr sz="2025" b="1">
                <a:solidFill>
                  <a:srgbClr val="061747"/>
                </a:solidFill>
                <a:latin typeface="Nimbus Sans"/>
                <a:ea typeface="Nimbus Sans"/>
                <a:cs typeface="Nimbus Sans"/>
              </a:rPr>
              <a:t>Training responses</a:t>
            </a:r>
          </a:p>
        </p:txBody>
      </p:sp>
      <p:sp>
        <p:nvSpPr>
          <p:cNvPr id="13" name="Earlier answers to the repeated questions.&#10;&#10;Training labels for ">
            <a:extLst xmlns:a="http://schemas.openxmlformats.org/drawingml/2006/main">
              <a:ext uri="{FF2B5EF4-FFF2-40B4-BE49-F238E27FC236}">
                <a16:creationId xmlns:a16="http://schemas.microsoft.com/office/drawing/2014/main" id="{FC7F2C5D-AFAA-4947-BB2F-6CB2EA76BB37}"/>
              </a:ext>
            </a:extLst>
          </p:cNvPr>
          <p:cNvSpPr>
            <a:spLocks xmlns:a="http://schemas.openxmlformats.org/drawingml/2006/main" noGrp="1"/>
          </p:cNvSpPr>
          <p:nvPr/>
        </p:nvSpPr>
        <p:spPr>
          <a:xfrm xmlns:a="http://schemas.openxmlformats.org/drawingml/2006/main">
            <a:off x="4591050" y="2962275"/>
            <a:ext cx="30670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37B9C"/>
                </a:solidFill>
                <a:latin typeface="Nimbus Sans"/>
                <a:ea typeface="Nimbus Sans"/>
                <a:cs typeface="Nimbus Sans"/>
              </a:defRPr>
            </a:defPPr>
          </a:lstStyle>
          <a:p xmlns:a="http://schemas.openxmlformats.org/drawingml/2006/main">
            <a:pPr algn="l">
              <a:buNone/>
              <a:defRPr sz="1650" b="0">
                <a:solidFill>
                  <a:srgbClr val="637B9C"/>
                </a:solidFill>
                <a:latin typeface="Nimbus Sans"/>
                <a:ea typeface="Nimbus Sans"/>
                <a:cs typeface="Nimbus Sans"/>
              </a:defRPr>
            </a:pPr>
            <a:r>
              <a:rPr sz="1650" b="0">
                <a:solidFill>
                  <a:srgbClr val="637B9C"/>
                </a:solidFill>
                <a:latin typeface="Nimbus Sans"/>
                <a:ea typeface="Nimbus Sans"/>
                <a:cs typeface="Nimbus Sans"/>
              </a:rPr>
              <a:t>Earlier answers to the repeated questions.</a:t>
            </a:r>
          </a:p>
          <a:p xmlns:a="http://schemas.openxmlformats.org/drawingml/2006/main">
            <a:r>
              <a:t/>
            </a:r>
          </a:p>
          <a:p xmlns:a="http://schemas.openxmlformats.org/drawingml/2006/main">
            <a:pPr algn="l">
              <a:buNone/>
              <a:defRPr sz="1650" b="0">
                <a:solidFill>
                  <a:srgbClr val="637B9C"/>
                </a:solidFill>
                <a:latin typeface="Nimbus Sans"/>
                <a:ea typeface="Nimbus Sans"/>
                <a:cs typeface="Nimbus Sans"/>
              </a:defRPr>
            </a:pPr>
            <a:r>
              <a:rPr sz="1650" b="0">
                <a:solidFill>
                  <a:srgbClr val="637B9C"/>
                </a:solidFill>
                <a:latin typeface="Nimbus Sans"/>
                <a:ea typeface="Nimbus Sans"/>
                <a:cs typeface="Nimbus Sans"/>
              </a:rPr>
              <a:t>Training labels for the model.</a:t>
            </a:r>
          </a:p>
        </p:txBody>
      </p:sp>
      <p:sp>
        <p:nvSpPr>
          <p:cNvPr id="14" name="content-surface">
            <a:extLst xmlns:a="http://schemas.openxmlformats.org/drawingml/2006/main">
              <a:ext uri="{FF2B5EF4-FFF2-40B4-BE49-F238E27FC236}">
                <a16:creationId xmlns:a16="http://schemas.microsoft.com/office/drawing/2014/main" id="{7CCEE3DF-466F-46D0-88EB-94AF26CA6C31}"/>
              </a:ext>
            </a:extLst>
          </p:cNvPr>
          <p:cNvSpPr>
            <a:spLocks xmlns:a="http://schemas.openxmlformats.org/drawingml/2006/main" noGrp="1"/>
          </p:cNvSpPr>
          <p:nvPr/>
        </p:nvSpPr>
        <p:spPr>
          <a:xfrm xmlns:a="http://schemas.openxmlformats.org/drawingml/2006/main">
            <a:off x="8172450" y="1619250"/>
            <a:ext cx="3486150" cy="2714625"/>
          </a:xfrm>
          <a:prstGeom xmlns:a="http://schemas.openxmlformats.org/drawingml/2006/main" prst="roundRect">
            <a:avLst>
              <a:gd name="adj" fmla="val 4912"/>
            </a:avLst>
          </a:prstGeom>
          <a:solidFill xmlns:a="http://schemas.openxmlformats.org/drawingml/2006/main">
            <a:srgbClr val="F5F3FE"/>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5" name="C">
            <a:extLst xmlns:a="http://schemas.openxmlformats.org/drawingml/2006/main">
              <a:ext uri="{FF2B5EF4-FFF2-40B4-BE49-F238E27FC236}">
                <a16:creationId xmlns:a16="http://schemas.microsoft.com/office/drawing/2014/main" id="{AA0F5CE4-92D2-4FBE-A1E2-F1915764CA44}"/>
              </a:ext>
            </a:extLst>
          </p:cNvPr>
          <p:cNvSpPr>
            <a:spLocks xmlns:a="http://schemas.openxmlformats.org/drawingml/2006/main" noGrp="1"/>
          </p:cNvSpPr>
          <p:nvPr/>
        </p:nvSpPr>
        <p:spPr>
          <a:xfrm xmlns:a="http://schemas.openxmlformats.org/drawingml/2006/main">
            <a:off x="8382000" y="1743075"/>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8254F5"/>
                </a:solidFill>
                <a:latin typeface="Nimbus Sans"/>
                <a:ea typeface="Nimbus Sans"/>
                <a:cs typeface="Nimbus Sans"/>
              </a:defRPr>
            </a:defPPr>
          </a:lstStyle>
          <a:p xmlns:a="http://schemas.openxmlformats.org/drawingml/2006/main">
            <a:pPr algn="l">
              <a:buNone/>
              <a:defRPr sz="4125" b="1">
                <a:solidFill>
                  <a:srgbClr val="8254F5"/>
                </a:solidFill>
                <a:latin typeface="Nimbus Sans"/>
                <a:ea typeface="Nimbus Sans"/>
                <a:cs typeface="Nimbus Sans"/>
              </a:defRPr>
            </a:pPr>
            <a:r>
              <a:rPr sz="4125" b="1">
                <a:solidFill>
                  <a:srgbClr val="8254F5"/>
                </a:solidFill>
                <a:latin typeface="Nimbus Sans"/>
                <a:ea typeface="Nimbus Sans"/>
                <a:cs typeface="Nimbus Sans"/>
              </a:rPr>
              <a:t>C</a:t>
            </a:r>
          </a:p>
        </p:txBody>
      </p:sp>
      <p:sp>
        <p:nvSpPr>
          <p:cNvPr id="16" name="Evaluation responses">
            <a:extLst xmlns:a="http://schemas.openxmlformats.org/drawingml/2006/main">
              <a:ext uri="{FF2B5EF4-FFF2-40B4-BE49-F238E27FC236}">
                <a16:creationId xmlns:a16="http://schemas.microsoft.com/office/drawing/2014/main" id="{3DA6F948-FD3E-445B-9DC3-3888ABA6E569}"/>
              </a:ext>
            </a:extLst>
          </p:cNvPr>
          <p:cNvSpPr>
            <a:spLocks xmlns:a="http://schemas.openxmlformats.org/drawingml/2006/main" noGrp="1"/>
          </p:cNvSpPr>
          <p:nvPr/>
        </p:nvSpPr>
        <p:spPr>
          <a:xfrm xmlns:a="http://schemas.openxmlformats.org/drawingml/2006/main">
            <a:off x="8382000" y="2466975"/>
            <a:ext cx="3067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61747"/>
                </a:solidFill>
                <a:latin typeface="Nimbus Sans"/>
                <a:ea typeface="Nimbus Sans"/>
                <a:cs typeface="Nimbus Sans"/>
              </a:defRPr>
            </a:defPPr>
          </a:lstStyle>
          <a:p xmlns:a="http://schemas.openxmlformats.org/drawingml/2006/main">
            <a:pPr algn="l">
              <a:buNone/>
              <a:defRPr sz="2025" b="1">
                <a:solidFill>
                  <a:srgbClr val="061747"/>
                </a:solidFill>
                <a:latin typeface="Nimbus Sans"/>
                <a:ea typeface="Nimbus Sans"/>
                <a:cs typeface="Nimbus Sans"/>
              </a:defRPr>
            </a:pPr>
            <a:r>
              <a:rPr sz="2025" b="1">
                <a:solidFill>
                  <a:srgbClr val="061747"/>
                </a:solidFill>
                <a:latin typeface="Nimbus Sans"/>
                <a:ea typeface="Nimbus Sans"/>
                <a:cs typeface="Nimbus Sans"/>
              </a:rPr>
              <a:t>Evaluation responses</a:t>
            </a:r>
          </a:p>
        </p:txBody>
      </p:sp>
      <p:sp>
        <p:nvSpPr>
          <p:cNvPr id="17" name="Later answers to the same repeated questions.&#10;&#10;Primary evaluatio">
            <a:extLst xmlns:a="http://schemas.openxmlformats.org/drawingml/2006/main">
              <a:ext uri="{FF2B5EF4-FFF2-40B4-BE49-F238E27FC236}">
                <a16:creationId xmlns:a16="http://schemas.microsoft.com/office/drawing/2014/main" id="{5225F01A-3BFE-48CB-ABB6-72A0020530A5}"/>
              </a:ext>
            </a:extLst>
          </p:cNvPr>
          <p:cNvSpPr>
            <a:spLocks xmlns:a="http://schemas.openxmlformats.org/drawingml/2006/main" noGrp="1"/>
          </p:cNvSpPr>
          <p:nvPr/>
        </p:nvSpPr>
        <p:spPr>
          <a:xfrm xmlns:a="http://schemas.openxmlformats.org/drawingml/2006/main">
            <a:off x="8382000" y="2962275"/>
            <a:ext cx="30670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37B9C"/>
                </a:solidFill>
                <a:latin typeface="Nimbus Sans"/>
                <a:ea typeface="Nimbus Sans"/>
                <a:cs typeface="Nimbus Sans"/>
              </a:defRPr>
            </a:defPPr>
          </a:lstStyle>
          <a:p xmlns:a="http://schemas.openxmlformats.org/drawingml/2006/main">
            <a:pPr algn="l">
              <a:buNone/>
              <a:defRPr sz="1650" b="0">
                <a:solidFill>
                  <a:srgbClr val="637B9C"/>
                </a:solidFill>
                <a:latin typeface="Nimbus Sans"/>
                <a:ea typeface="Nimbus Sans"/>
                <a:cs typeface="Nimbus Sans"/>
              </a:defRPr>
            </a:pPr>
            <a:r>
              <a:rPr sz="1650" b="0">
                <a:solidFill>
                  <a:srgbClr val="637B9C"/>
                </a:solidFill>
                <a:latin typeface="Nimbus Sans"/>
                <a:ea typeface="Nimbus Sans"/>
                <a:cs typeface="Nimbus Sans"/>
              </a:rPr>
              <a:t>Later answers to the same repeated questions.</a:t>
            </a:r>
          </a:p>
          <a:p xmlns:a="http://schemas.openxmlformats.org/drawingml/2006/main">
            <a:r>
              <a:t/>
            </a:r>
          </a:p>
          <a:p xmlns:a="http://schemas.openxmlformats.org/drawingml/2006/main">
            <a:pPr algn="l">
              <a:buNone/>
              <a:defRPr sz="1650" b="0">
                <a:solidFill>
                  <a:srgbClr val="637B9C"/>
                </a:solidFill>
                <a:latin typeface="Nimbus Sans"/>
                <a:ea typeface="Nimbus Sans"/>
                <a:cs typeface="Nimbus Sans"/>
              </a:defRPr>
            </a:pPr>
            <a:r>
              <a:rPr sz="1650" b="0">
                <a:solidFill>
                  <a:srgbClr val="637B9C"/>
                </a:solidFill>
                <a:latin typeface="Nimbus Sans"/>
                <a:ea typeface="Nimbus Sans"/>
                <a:cs typeface="Nimbus Sans"/>
              </a:rPr>
              <a:t>Primary evaluation reference.</a:t>
            </a:r>
          </a:p>
        </p:txBody>
      </p:sp>
      <p:graphicFrame>
        <p:nvGraphicFramePr>
          <p:cNvPr id="18" name="">
            <a:extLst xmlns:a="http://schemas.openxmlformats.org/drawingml/2006/main">
              <a:ext uri="{FF2B5EF4-FFF2-40B4-BE49-F238E27FC236}">
                <a16:creationId xmlns:a16="http://schemas.microsoft.com/office/drawing/2014/main" id="{159CC72B-A3CB-46E0-817F-3C32831ED573}"/>
              </a:ext>
            </a:extLst>
          </p:cNvPr>
          <p:cNvGraphicFramePr/>
          <p:nvPr/>
        </p:nvGraphicFramePr>
        <p:xfrm>
          <a:off xmlns:a="http://schemas.openxmlformats.org/drawingml/2006/main" x="609600" y="4810125"/>
          <a:ext xmlns:a="http://schemas.openxmlformats.org/drawingml/2006/main" cx="10972800" cy="1028700"/>
        </p:xfrm>
        <a:graphic xmlns:a="http://schemas.openxmlformats.org/drawingml/2006/main">
          <a:graphicData uri="http://schemas.openxmlformats.org/drawingml/2006/table">
            <a:tbl>
              <a:tblPr/>
              <a:tblGrid>
                <a:gridCol w="3657600"/>
                <a:gridCol w="3657600"/>
                <a:gridCol w="3657600"/>
              </a:tblGrid>
              <a:tr h="514350">
                <a:tc>
                  <a:txBody>
                    <a:bodyPr/>
                    <a:lstStyle/>
                    <a:p>
                      <a:pPr algn="l">
                        <a:buNone/>
                      </a:pPr>
                      <a:r>
                        <a:rPr sz="1500" b="1">
                          <a:solidFill>
                            <a:srgbClr val="061747"/>
                          </a:solidFill>
                          <a:latin typeface="Nimbus Sans"/>
                          <a:ea typeface="Nimbus Sans"/>
                          <a:cs typeface="Nimbus Sans"/>
                        </a:rPr>
                        <a:t>Training people</a:t>
                      </a:r>
                    </a:p>
                  </a:txBody>
                  <a:tcPr marL="133350" marR="114300" marT="95250" marB="95250" anchor="ctr">
                    <a:lnL w="7620">
                      <a:solidFill>
                        <a:srgbClr val="C9DAEB"/>
                      </a:solidFill>
                      <a:prstDash val="solid"/>
                    </a:lnL>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500" b="1">
                          <a:solidFill>
                            <a:srgbClr val="061747"/>
                          </a:solidFill>
                          <a:latin typeface="Nimbus Sans"/>
                          <a:ea typeface="Nimbus Sans"/>
                          <a:cs typeface="Nimbus Sans"/>
                        </a:rPr>
                        <a:t>Validation people</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500" b="1">
                          <a:solidFill>
                            <a:srgbClr val="061747"/>
                          </a:solidFill>
                          <a:latin typeface="Nimbus Sans"/>
                          <a:ea typeface="Nimbus Sans"/>
                          <a:cs typeface="Nimbus Sans"/>
                        </a:rPr>
                        <a:t>Reserved test people</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r>
              <a:tr h="514350">
                <a:tc>
                  <a:txBody>
                    <a:bodyPr/>
                    <a:lstStyle/>
                    <a:p>
                      <a:pPr algn="l">
                        <a:buNone/>
                      </a:pPr>
                      <a:r>
                        <a:rPr sz="2100" b="0">
                          <a:solidFill>
                            <a:srgbClr val="061747"/>
                          </a:solidFill>
                          <a:latin typeface="Nimbus Sans"/>
                          <a:ea typeface="Nimbus Sans"/>
                          <a:cs typeface="Nimbus Sans"/>
                        </a:rPr>
                        <a:t>1,440</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2100" b="0">
                          <a:solidFill>
                            <a:srgbClr val="061747"/>
                          </a:solidFill>
                          <a:latin typeface="Nimbus Sans"/>
                          <a:ea typeface="Nimbus Sans"/>
                          <a:cs typeface="Nimbus Sans"/>
                        </a:rPr>
                        <a:t>309</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2100" b="0">
                          <a:solidFill>
                            <a:srgbClr val="061747"/>
                          </a:solidFill>
                          <a:latin typeface="Nimbus Sans"/>
                          <a:ea typeface="Nimbus Sans"/>
                          <a:cs typeface="Nimbus Sans"/>
                        </a:rPr>
                        <a:t>309</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bl>
          </a:graphicData>
        </a:graphic>
      </p:graphicFrame>
    </p:spTree>
    <p:extLst>
      <p:ext uri="{BB962C8B-B14F-4D97-AF65-F5344CB8AC3E}">
        <p14:creationId xmlns:p14="http://schemas.microsoft.com/office/powerpoint/2010/main" val="8178387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Leakage and participant-specific questions">
            <a:extLst xmlns:a="http://schemas.openxmlformats.org/drawingml/2006/main">
              <a:ext uri="{FF2B5EF4-FFF2-40B4-BE49-F238E27FC236}">
                <a16:creationId xmlns:a16="http://schemas.microsoft.com/office/drawing/2014/main" id="{67CDAF82-2203-479B-94C7-0A070A753DBB}"/>
              </a:ext>
            </a:extLst>
          </p:cNvPr>
          <p:cNvSpPr>
            <a:spLocks xmlns:a="http://schemas.openxmlformats.org/drawingml/2006/main" noGrp="1"/>
          </p:cNvSpPr>
          <p:nvPr/>
        </p:nvSpPr>
        <p:spPr>
          <a:xfrm xmlns:a="http://schemas.openxmlformats.org/drawingml/2006/main">
            <a:off x="571500" y="285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61747"/>
                </a:solidFill>
                <a:latin typeface="Nimbus Sans"/>
                <a:ea typeface="Nimbus Sans"/>
                <a:cs typeface="Nimbus Sans"/>
              </a:defRPr>
            </a:defPPr>
          </a:lstStyle>
          <a:p xmlns:a="http://schemas.openxmlformats.org/drawingml/2006/main">
            <a:pPr algn="l">
              <a:buNone/>
              <a:defRPr sz="3075" b="1">
                <a:solidFill>
                  <a:srgbClr val="061747"/>
                </a:solidFill>
                <a:latin typeface="Nimbus Sans"/>
                <a:ea typeface="Nimbus Sans"/>
                <a:cs typeface="Nimbus Sans"/>
              </a:defRPr>
            </a:pPr>
            <a:r>
              <a:rPr sz="3075" b="1">
                <a:solidFill>
                  <a:srgbClr val="061747"/>
                </a:solidFill>
                <a:latin typeface="Nimbus Sans"/>
                <a:ea typeface="Nimbus Sans"/>
                <a:cs typeface="Nimbus Sans"/>
              </a:rPr>
              <a:t>Leakage and participant-specific questions</a:t>
            </a:r>
          </a:p>
        </p:txBody>
      </p:sp>
      <p:sp>
        <p:nvSpPr>
          <p:cNvPr id="2" name="The target condition is part of the input">
            <a:extLst xmlns:a="http://schemas.openxmlformats.org/drawingml/2006/main">
              <a:ext uri="{FF2B5EF4-FFF2-40B4-BE49-F238E27FC236}">
                <a16:creationId xmlns:a16="http://schemas.microsoft.com/office/drawing/2014/main" id="{9EFEF125-3F99-402B-86BB-7C4CBF329B49}"/>
              </a:ext>
            </a:extLst>
          </p:cNvPr>
          <p:cNvSpPr>
            <a:spLocks xmlns:a="http://schemas.openxmlformats.org/drawingml/2006/main" noGrp="1"/>
          </p:cNvSpPr>
          <p:nvPr/>
        </p:nvSpPr>
        <p:spPr>
          <a:xfrm xmlns:a="http://schemas.openxmlformats.org/drawingml/2006/main">
            <a:off x="590550" y="914400"/>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The target condition is part of the input</a:t>
            </a:r>
          </a:p>
        </p:txBody>
      </p:sp>
      <p:sp>
        <p:nvSpPr>
          <p:cNvPr id="3" name="">
            <a:extLst xmlns:a="http://schemas.openxmlformats.org/drawingml/2006/main">
              <a:ext uri="{FF2B5EF4-FFF2-40B4-BE49-F238E27FC236}">
                <a16:creationId xmlns:a16="http://schemas.microsoft.com/office/drawing/2014/main" id="{AC0DE7AB-8B7D-47AC-BFCA-C7A00B36B5D6}"/>
              </a:ext>
            </a:extLst>
          </p:cNvPr>
          <p:cNvSpPr>
            <a:spLocks xmlns:a="http://schemas.openxmlformats.org/drawingml/2006/main" noGrp="1"/>
          </p:cNvSpPr>
          <p:nvPr/>
        </p:nvSpPr>
        <p:spPr>
          <a:xfrm xmlns:a="http://schemas.openxmlformats.org/drawingml/2006/main">
            <a:off x="571500" y="6229350"/>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4" name="A/B overlap counts compare answer-free question definitions, inc">
            <a:extLst xmlns:a="http://schemas.openxmlformats.org/drawingml/2006/main">
              <a:ext uri="{FF2B5EF4-FFF2-40B4-BE49-F238E27FC236}">
                <a16:creationId xmlns:a16="http://schemas.microsoft.com/office/drawing/2014/main" id="{0F9E7CE5-FFA5-49F9-A3F8-7BCE899BA34F}"/>
              </a:ext>
            </a:extLst>
          </p:cNvPr>
          <p:cNvSpPr>
            <a:spLocks xmlns:a="http://schemas.openxmlformats.org/drawingml/2006/main" noGrp="1"/>
          </p:cNvSpPr>
          <p:nvPr/>
        </p:nvSpPr>
        <p:spPr>
          <a:xfrm xmlns:a="http://schemas.openxmlformats.org/drawingml/2006/main">
            <a:off x="590550" y="636270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7B9C"/>
                </a:solidFill>
                <a:latin typeface="Nimbus Sans"/>
                <a:ea typeface="Nimbus Sans"/>
                <a:cs typeface="Nimbus Sans"/>
              </a:defRPr>
            </a:defPPr>
          </a:lstStyle>
          <a:p xmlns:a="http://schemas.openxmlformats.org/drawingml/2006/main">
            <a:pPr algn="l">
              <a:buNone/>
              <a:defRPr sz="1050" b="0">
                <a:solidFill>
                  <a:srgbClr val="637B9C"/>
                </a:solidFill>
                <a:latin typeface="Nimbus Sans"/>
                <a:ea typeface="Nimbus Sans"/>
                <a:cs typeface="Nimbus Sans"/>
              </a:defRPr>
            </a:pPr>
            <a:r>
              <a:rPr sz="1050" b="0">
                <a:solidFill>
                  <a:srgbClr val="637B9C"/>
                </a:solidFill>
                <a:latin typeface="Nimbus Sans"/>
                <a:ea typeface="Nimbus Sans"/>
                <a:cs typeface="Nimbus Sans"/>
              </a:rPr>
              <a:t>A/B overlap counts compare answer-free question definitions, including block, instructions and option order.</a:t>
            </a:r>
          </a:p>
        </p:txBody>
      </p:sp>
      <p:sp>
        <p:nvSpPr>
          <p:cNvPr id="5" name="03">
            <a:extLst xmlns:a="http://schemas.openxmlformats.org/drawingml/2006/main">
              <a:ext uri="{FF2B5EF4-FFF2-40B4-BE49-F238E27FC236}">
                <a16:creationId xmlns:a16="http://schemas.microsoft.com/office/drawing/2014/main" id="{3C744422-2420-4FE7-B174-C2444B74E03E}"/>
              </a:ext>
            </a:extLst>
          </p:cNvPr>
          <p:cNvSpPr>
            <a:spLocks xmlns:a="http://schemas.openxmlformats.org/drawingml/2006/main" noGrp="1"/>
          </p:cNvSpPr>
          <p:nvPr/>
        </p:nvSpPr>
        <p:spPr>
          <a:xfrm xmlns:a="http://schemas.openxmlformats.org/drawingml/2006/main">
            <a:off x="11182350"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37B9C"/>
                </a:solidFill>
                <a:latin typeface="Nimbus Sans"/>
                <a:ea typeface="Nimbus Sans"/>
                <a:cs typeface="Nimbus Sans"/>
              </a:defRPr>
            </a:defPPr>
          </a:lstStyle>
          <a:p xmlns:a="http://schemas.openxmlformats.org/drawingml/2006/main">
            <a:pPr algn="r">
              <a:buNone/>
              <a:defRPr sz="1125" b="0">
                <a:solidFill>
                  <a:srgbClr val="637B9C"/>
                </a:solidFill>
                <a:latin typeface="Nimbus Sans"/>
                <a:ea typeface="Nimbus Sans"/>
                <a:cs typeface="Nimbus Sans"/>
              </a:defRPr>
            </a:pPr>
            <a:r>
              <a:rPr sz="1125" b="0">
                <a:solidFill>
                  <a:srgbClr val="637B9C"/>
                </a:solidFill>
                <a:latin typeface="Nimbus Sans"/>
                <a:ea typeface="Nimbus Sans"/>
                <a:cs typeface="Nimbus Sans"/>
              </a:rPr>
              <a:t>04</a:t>
            </a:r>
          </a:p>
        </p:txBody>
      </p:sp>
      <p:sp>
        <p:nvSpPr>
          <p:cNvPr id="6" name="content-surface">
            <a:extLst xmlns:a="http://schemas.openxmlformats.org/drawingml/2006/main">
              <a:ext uri="{FF2B5EF4-FFF2-40B4-BE49-F238E27FC236}">
                <a16:creationId xmlns:a16="http://schemas.microsoft.com/office/drawing/2014/main" id="{1ECABB77-11CF-4653-96D8-74774BA2061B}"/>
              </a:ext>
            </a:extLst>
          </p:cNvPr>
          <p:cNvSpPr>
            <a:spLocks xmlns:a="http://schemas.openxmlformats.org/drawingml/2006/main" noGrp="1"/>
          </p:cNvSpPr>
          <p:nvPr/>
        </p:nvSpPr>
        <p:spPr>
          <a:xfrm xmlns:a="http://schemas.openxmlformats.org/drawingml/2006/main">
            <a:off x="590550" y="1543050"/>
            <a:ext cx="5276850" cy="4362450"/>
          </a:xfrm>
          <a:prstGeom xmlns:a="http://schemas.openxmlformats.org/drawingml/2006/main" prst="roundRect">
            <a:avLst>
              <a:gd name="adj" fmla="val 3057"/>
            </a:avLst>
          </a:prstGeom>
          <a:solidFill xmlns:a="http://schemas.openxmlformats.org/drawingml/2006/main">
            <a:srgbClr val="EFF7FE"/>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7" name="content-surface">
            <a:extLst xmlns:a="http://schemas.openxmlformats.org/drawingml/2006/main">
              <a:ext uri="{FF2B5EF4-FFF2-40B4-BE49-F238E27FC236}">
                <a16:creationId xmlns:a16="http://schemas.microsoft.com/office/drawing/2014/main" id="{536F3DE6-833A-45DA-9A97-82DDE6AF03E6}"/>
              </a:ext>
            </a:extLst>
          </p:cNvPr>
          <p:cNvSpPr>
            <a:spLocks xmlns:a="http://schemas.openxmlformats.org/drawingml/2006/main" noGrp="1"/>
          </p:cNvSpPr>
          <p:nvPr/>
        </p:nvSpPr>
        <p:spPr>
          <a:xfrm xmlns:a="http://schemas.openxmlformats.org/drawingml/2006/main">
            <a:off x="6115050" y="1543050"/>
            <a:ext cx="5467350" cy="4362450"/>
          </a:xfrm>
          <a:prstGeom xmlns:a="http://schemas.openxmlformats.org/drawingml/2006/main" prst="roundRect">
            <a:avLst>
              <a:gd name="adj" fmla="val 3057"/>
            </a:avLst>
          </a:prstGeom>
          <a:solidFill xmlns:a="http://schemas.openxmlformats.org/drawingml/2006/main">
            <a:srgbClr val="F5F3FE"/>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8" name="Full persona reveals C">
            <a:extLst xmlns:a="http://schemas.openxmlformats.org/drawingml/2006/main">
              <a:ext uri="{FF2B5EF4-FFF2-40B4-BE49-F238E27FC236}">
                <a16:creationId xmlns:a16="http://schemas.microsoft.com/office/drawing/2014/main" id="{7CB39FB8-156F-4425-800E-9107498CDFEF}"/>
              </a:ext>
            </a:extLst>
          </p:cNvPr>
          <p:cNvSpPr>
            <a:spLocks xmlns:a="http://schemas.openxmlformats.org/drawingml/2006/main" noGrp="1"/>
          </p:cNvSpPr>
          <p:nvPr/>
        </p:nvSpPr>
        <p:spPr>
          <a:xfrm xmlns:a="http://schemas.openxmlformats.org/drawingml/2006/main">
            <a:off x="809625" y="17621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61747"/>
                </a:solidFill>
                <a:latin typeface="Nimbus Sans"/>
                <a:ea typeface="Nimbus Sans"/>
                <a:cs typeface="Nimbus Sans"/>
              </a:defRPr>
            </a:defPPr>
          </a:lstStyle>
          <a:p xmlns:a="http://schemas.openxmlformats.org/drawingml/2006/main">
            <a:pPr algn="l">
              <a:buNone/>
              <a:defRPr sz="2175" b="1">
                <a:solidFill>
                  <a:srgbClr val="061747"/>
                </a:solidFill>
                <a:latin typeface="Nimbus Sans"/>
                <a:ea typeface="Nimbus Sans"/>
                <a:cs typeface="Nimbus Sans"/>
              </a:defRPr>
            </a:pPr>
            <a:r>
              <a:rPr sz="2175" b="1">
                <a:solidFill>
                  <a:srgbClr val="061747"/>
                </a:solidFill>
                <a:latin typeface="Nimbus Sans"/>
                <a:ea typeface="Nimbus Sans"/>
                <a:cs typeface="Nimbus Sans"/>
              </a:rPr>
              <a:t>Full persona reveals C</a:t>
            </a:r>
          </a:p>
        </p:txBody>
      </p:sp>
      <p:sp>
        <p:nvSpPr>
          <p:cNvPr id="9" name="Training participant 574, QID158">
            <a:extLst xmlns:a="http://schemas.openxmlformats.org/drawingml/2006/main">
              <a:ext uri="{FF2B5EF4-FFF2-40B4-BE49-F238E27FC236}">
                <a16:creationId xmlns:a16="http://schemas.microsoft.com/office/drawing/2014/main" id="{3BA0EDB9-7CD4-41D4-A79F-C5F40E8ECB35}"/>
              </a:ext>
            </a:extLst>
          </p:cNvPr>
          <p:cNvSpPr>
            <a:spLocks xmlns:a="http://schemas.openxmlformats.org/drawingml/2006/main" noGrp="1"/>
          </p:cNvSpPr>
          <p:nvPr/>
        </p:nvSpPr>
        <p:spPr>
          <a:xfrm xmlns:a="http://schemas.openxmlformats.org/drawingml/2006/main">
            <a:off x="809625" y="23145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Training participant 574, QID158</a:t>
            </a:r>
          </a:p>
        </p:txBody>
      </p:sp>
      <p:graphicFrame>
        <p:nvGraphicFramePr>
          <p:cNvPr id="10" name="">
            <a:extLst xmlns:a="http://schemas.openxmlformats.org/drawingml/2006/main">
              <a:ext uri="{FF2B5EF4-FFF2-40B4-BE49-F238E27FC236}">
                <a16:creationId xmlns:a16="http://schemas.microsoft.com/office/drawing/2014/main" id="{5DEF0221-4D85-4BF3-9213-A665F598D2F5}"/>
              </a:ext>
            </a:extLst>
          </p:cNvPr>
          <p:cNvGraphicFramePr/>
          <p:nvPr/>
        </p:nvGraphicFramePr>
        <p:xfrm>
          <a:off xmlns:a="http://schemas.openxmlformats.org/drawingml/2006/main" x="809625" y="2771775"/>
          <a:ext xmlns:a="http://schemas.openxmlformats.org/drawingml/2006/main" cx="4829175" cy="1047750"/>
        </p:xfrm>
        <a:graphic xmlns:a="http://schemas.openxmlformats.org/drawingml/2006/main">
          <a:graphicData uri="http://schemas.openxmlformats.org/drawingml/2006/table">
            <a:tbl>
              <a:tblPr/>
              <a:tblGrid>
                <a:gridCol w="1609725"/>
                <a:gridCol w="1609725"/>
                <a:gridCol w="1609725"/>
              </a:tblGrid>
              <a:tr h="523875">
                <a:tc>
                  <a:txBody>
                    <a:bodyPr/>
                    <a:lstStyle/>
                    <a:p>
                      <a:pPr algn="l">
                        <a:buNone/>
                      </a:pPr>
                      <a:r>
                        <a:rPr sz="1500" b="1">
                          <a:solidFill>
                            <a:srgbClr val="061747"/>
                          </a:solidFill>
                          <a:latin typeface="Nimbus Sans"/>
                          <a:ea typeface="Nimbus Sans"/>
                          <a:cs typeface="Nimbus Sans"/>
                        </a:rPr>
                        <a:t>Earlier B</a:t>
                      </a:r>
                    </a:p>
                  </a:txBody>
                  <a:tcPr marL="133350" marR="114300" marT="95250" marB="95250" anchor="ctr">
                    <a:lnL w="7620">
                      <a:solidFill>
                        <a:srgbClr val="C9DAEB"/>
                      </a:solidFill>
                      <a:prstDash val="solid"/>
                    </a:lnL>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500" b="1">
                          <a:solidFill>
                            <a:srgbClr val="061747"/>
                          </a:solidFill>
                          <a:latin typeface="Nimbus Sans"/>
                          <a:ea typeface="Nimbus Sans"/>
                          <a:cs typeface="Nimbus Sans"/>
                        </a:rPr>
                        <a:t>Later C</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500" b="1">
                          <a:solidFill>
                            <a:srgbClr val="061747"/>
                          </a:solidFill>
                          <a:latin typeface="Nimbus Sans"/>
                          <a:ea typeface="Nimbus Sans"/>
                          <a:cs typeface="Nimbus Sans"/>
                        </a:rPr>
                        <a:t>Full persona</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r>
              <a:tr h="523875">
                <a:tc>
                  <a:txBody>
                    <a:bodyPr/>
                    <a:lstStyle/>
                    <a:p>
                      <a:pPr algn="l">
                        <a:buNone/>
                      </a:pPr>
                      <a:r>
                        <a:rPr sz="2250" b="0">
                          <a:solidFill>
                            <a:srgbClr val="061747"/>
                          </a:solidFill>
                          <a:latin typeface="Nimbus Sans"/>
                          <a:ea typeface="Nimbus Sans"/>
                          <a:cs typeface="Nimbus Sans"/>
                        </a:rPr>
                        <a:t>3</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2250" b="0">
                          <a:solidFill>
                            <a:srgbClr val="061747"/>
                          </a:solidFill>
                          <a:latin typeface="Nimbus Sans"/>
                          <a:ea typeface="Nimbus Sans"/>
                          <a:cs typeface="Nimbus Sans"/>
                        </a:rPr>
                        <a:t>4</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2250" b="0">
                          <a:solidFill>
                            <a:srgbClr val="061747"/>
                          </a:solidFill>
                          <a:latin typeface="Nimbus Sans"/>
                          <a:ea typeface="Nimbus Sans"/>
                          <a:cs typeface="Nimbus Sans"/>
                        </a:rPr>
                        <a:t>4</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bl>
          </a:graphicData>
        </a:graphic>
      </p:graphicFrame>
      <p:sp>
        <p:nvSpPr>
          <p:cNvPr id="11" name="The merged full persona already contains the later answer.&#10;&#10;Use ">
            <a:extLst xmlns:a="http://schemas.openxmlformats.org/drawingml/2006/main">
              <a:ext uri="{FF2B5EF4-FFF2-40B4-BE49-F238E27FC236}">
                <a16:creationId xmlns:a16="http://schemas.microsoft.com/office/drawing/2014/main" id="{D84D52F7-761A-4046-B739-206E01369270}"/>
              </a:ext>
            </a:extLst>
          </p:cNvPr>
          <p:cNvSpPr>
            <a:spLocks xmlns:a="http://schemas.openxmlformats.org/drawingml/2006/main" noGrp="1"/>
          </p:cNvSpPr>
          <p:nvPr/>
        </p:nvSpPr>
        <p:spPr>
          <a:xfrm xmlns:a="http://schemas.openxmlformats.org/drawingml/2006/main">
            <a:off x="819150" y="4076700"/>
            <a:ext cx="46958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61747"/>
                </a:solidFill>
                <a:latin typeface="Nimbus Sans"/>
                <a:ea typeface="Nimbus Sans"/>
                <a:cs typeface="Nimbus Sans"/>
              </a:defRPr>
            </a:defPPr>
          </a:lstStyle>
          <a:p xmlns:a="http://schemas.openxmlformats.org/drawingml/2006/main">
            <a:pPr algn="l">
              <a:buNone/>
              <a:defRPr sz="1725" b="0">
                <a:solidFill>
                  <a:srgbClr val="061747"/>
                </a:solidFill>
                <a:latin typeface="Nimbus Sans"/>
                <a:ea typeface="Nimbus Sans"/>
                <a:cs typeface="Nimbus Sans"/>
              </a:defRPr>
            </a:pPr>
            <a:r>
              <a:rPr sz="1725" b="0">
                <a:solidFill>
                  <a:srgbClr val="061747"/>
                </a:solidFill>
                <a:latin typeface="Nimbus Sans"/>
                <a:ea typeface="Nimbus Sans"/>
                <a:cs typeface="Nimbus Sans"/>
              </a:rPr>
              <a:t>The merged full persona already contains the later answer.</a:t>
            </a:r>
          </a:p>
          <a:p xmlns:a="http://schemas.openxmlformats.org/drawingml/2006/main">
            <a:r>
              <a:t/>
            </a:r>
          </a:p>
          <a:p xmlns:a="http://schemas.openxmlformats.org/drawingml/2006/main">
            <a:pPr algn="l">
              <a:buNone/>
              <a:defRPr sz="1725" b="0">
                <a:solidFill>
                  <a:srgbClr val="061747"/>
                </a:solidFill>
                <a:latin typeface="Nimbus Sans"/>
                <a:ea typeface="Nimbus Sans"/>
                <a:cs typeface="Nimbus Sans"/>
              </a:defRPr>
            </a:pPr>
            <a:r>
              <a:rPr sz="1725" b="0">
                <a:solidFill>
                  <a:srgbClr val="061747"/>
                </a:solidFill>
                <a:latin typeface="Nimbus Sans"/>
                <a:ea typeface="Nimbus Sans"/>
                <a:cs typeface="Nimbus Sans"/>
              </a:rPr>
              <a:t>Use A only and strip answers from the target question.</a:t>
            </a:r>
          </a:p>
        </p:txBody>
      </p:sp>
      <p:sp>
        <p:nvSpPr>
          <p:cNvPr id="12" name="A is mostly shared. B varies.">
            <a:extLst xmlns:a="http://schemas.openxmlformats.org/drawingml/2006/main">
              <a:ext uri="{FF2B5EF4-FFF2-40B4-BE49-F238E27FC236}">
                <a16:creationId xmlns:a16="http://schemas.microsoft.com/office/drawing/2014/main" id="{3420C6A7-C869-49A6-8589-7A10EACEC21E}"/>
              </a:ext>
            </a:extLst>
          </p:cNvPr>
          <p:cNvSpPr>
            <a:spLocks xmlns:a="http://schemas.openxmlformats.org/drawingml/2006/main" noGrp="1"/>
          </p:cNvSpPr>
          <p:nvPr/>
        </p:nvSpPr>
        <p:spPr>
          <a:xfrm xmlns:a="http://schemas.openxmlformats.org/drawingml/2006/main">
            <a:off x="6362700" y="1771650"/>
            <a:ext cx="4991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61747"/>
                </a:solidFill>
                <a:latin typeface="Nimbus Sans"/>
                <a:ea typeface="Nimbus Sans"/>
                <a:cs typeface="Nimbus Sans"/>
              </a:defRPr>
            </a:defPPr>
          </a:lstStyle>
          <a:p xmlns:a="http://schemas.openxmlformats.org/drawingml/2006/main">
            <a:pPr algn="l">
              <a:buNone/>
              <a:defRPr sz="2100" b="1">
                <a:solidFill>
                  <a:srgbClr val="061747"/>
                </a:solidFill>
                <a:latin typeface="Nimbus Sans"/>
                <a:ea typeface="Nimbus Sans"/>
                <a:cs typeface="Nimbus Sans"/>
              </a:defRPr>
            </a:pPr>
            <a:r>
              <a:rPr sz="2100" b="1">
                <a:solidFill>
                  <a:srgbClr val="061747"/>
                </a:solidFill>
                <a:latin typeface="Nimbus Sans"/>
                <a:ea typeface="Nimbus Sans"/>
                <a:cs typeface="Nimbus Sans"/>
              </a:rPr>
              <a:t>A is mostly shared. B varies.</a:t>
            </a:r>
          </a:p>
        </p:txBody>
      </p:sp>
      <p:graphicFrame>
        <p:nvGraphicFramePr>
          <p:cNvPr id="13" name="">
            <a:extLst xmlns:a="http://schemas.openxmlformats.org/drawingml/2006/main">
              <a:ext uri="{FF2B5EF4-FFF2-40B4-BE49-F238E27FC236}">
                <a16:creationId xmlns:a16="http://schemas.microsoft.com/office/drawing/2014/main" id="{B7C192AB-AB1B-4313-A3D6-0BD6AFEEB5BD}"/>
              </a:ext>
            </a:extLst>
          </p:cNvPr>
          <p:cNvGraphicFramePr/>
          <p:nvPr/>
        </p:nvGraphicFramePr>
        <p:xfrm>
          <a:off xmlns:a="http://schemas.openxmlformats.org/drawingml/2006/main" x="6334125" y="2390775"/>
          <a:ext xmlns:a="http://schemas.openxmlformats.org/drawingml/2006/main" cx="4943475" cy="2209800"/>
        </p:xfrm>
        <a:graphic xmlns:a="http://schemas.openxmlformats.org/drawingml/2006/main">
          <a:graphicData uri="http://schemas.openxmlformats.org/drawingml/2006/table">
            <a:tbl>
              <a:tblPr/>
              <a:tblGrid>
                <a:gridCol w="2867025"/>
                <a:gridCol w="1038225"/>
                <a:gridCol w="1038225"/>
              </a:tblGrid>
              <a:tr h="552450">
                <a:tc>
                  <a:txBody>
                    <a:bodyPr/>
                    <a:lstStyle/>
                    <a:p>
                      <a:pPr algn="l">
                        <a:buNone/>
                      </a:pPr>
                      <a:r>
                        <a:rPr sz="1500" b="1">
                          <a:solidFill>
                            <a:srgbClr val="061747"/>
                          </a:solidFill>
                          <a:latin typeface="Nimbus Sans"/>
                          <a:ea typeface="Nimbus Sans"/>
                          <a:cs typeface="Nimbus Sans"/>
                        </a:rPr>
                        <a:t>Question audit</a:t>
                      </a:r>
                    </a:p>
                  </a:txBody>
                  <a:tcPr marL="133350" marR="114300" marT="95250" marB="95250" anchor="ctr">
                    <a:lnL w="7620">
                      <a:solidFill>
                        <a:srgbClr val="C9DAEB"/>
                      </a:solidFill>
                      <a:prstDash val="solid"/>
                    </a:lnL>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500" b="1">
                          <a:solidFill>
                            <a:srgbClr val="061747"/>
                          </a:solidFill>
                          <a:latin typeface="Nimbus Sans"/>
                          <a:ea typeface="Nimbus Sans"/>
                          <a:cs typeface="Nimbus Sans"/>
                        </a:rPr>
                        <a:t>A</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500" b="1">
                          <a:solidFill>
                            <a:srgbClr val="061747"/>
                          </a:solidFill>
                          <a:latin typeface="Nimbus Sans"/>
                          <a:ea typeface="Nimbus Sans"/>
                          <a:cs typeface="Nimbus Sans"/>
                        </a:rPr>
                        <a:t>B</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r>
              <a:tr h="552450">
                <a:tc>
                  <a:txBody>
                    <a:bodyPr/>
                    <a:lstStyle/>
                    <a:p>
                      <a:pPr algn="l">
                        <a:buNone/>
                      </a:pPr>
                      <a:r>
                        <a:rPr sz="1575" b="0">
                          <a:solidFill>
                            <a:srgbClr val="061747"/>
                          </a:solidFill>
                          <a:latin typeface="Nimbus Sans"/>
                          <a:ea typeface="Nimbus Sans"/>
                          <a:cs typeface="Nimbus Sans"/>
                        </a:rPr>
                        <a:t>Records per person</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575" b="0">
                          <a:solidFill>
                            <a:srgbClr val="061747"/>
                          </a:solidFill>
                          <a:latin typeface="Nimbus Sans"/>
                          <a:ea typeface="Nimbus Sans"/>
                          <a:cs typeface="Nimbus Sans"/>
                        </a:rPr>
                        <a:t>156–158</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575" b="0">
                          <a:solidFill>
                            <a:srgbClr val="061747"/>
                          </a:solidFill>
                          <a:latin typeface="Nimbus Sans"/>
                          <a:ea typeface="Nimbus Sans"/>
                          <a:cs typeface="Nimbus Sans"/>
                        </a:rPr>
                        <a:t>63</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52450">
                <a:tc>
                  <a:txBody>
                    <a:bodyPr/>
                    <a:lstStyle/>
                    <a:p>
                      <a:pPr algn="l">
                        <a:buNone/>
                      </a:pPr>
                      <a:r>
                        <a:rPr sz="1575" b="0">
                          <a:solidFill>
                            <a:srgbClr val="061747"/>
                          </a:solidFill>
                          <a:latin typeface="Nimbus Sans"/>
                          <a:ea typeface="Nimbus Sans"/>
                          <a:cs typeface="Nimbus Sans"/>
                        </a:rPr>
                        <a:t>Shared exact definitions</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575" b="0">
                          <a:solidFill>
                            <a:srgbClr val="061747"/>
                          </a:solidFill>
                          <a:latin typeface="Nimbus Sans"/>
                          <a:ea typeface="Nimbus Sans"/>
                          <a:cs typeface="Nimbus Sans"/>
                        </a:rPr>
                        <a:t>150</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575" b="0">
                          <a:solidFill>
                            <a:srgbClr val="061747"/>
                          </a:solidFill>
                          <a:latin typeface="Nimbus Sans"/>
                          <a:ea typeface="Nimbus Sans"/>
                          <a:cs typeface="Nimbus Sans"/>
                        </a:rPr>
                        <a:t>6</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r h="552450">
                <a:tc>
                  <a:txBody>
                    <a:bodyPr/>
                    <a:lstStyle/>
                    <a:p>
                      <a:pPr algn="l">
                        <a:buNone/>
                      </a:pPr>
                      <a:r>
                        <a:rPr sz="1575" b="0">
                          <a:solidFill>
                            <a:srgbClr val="061747"/>
                          </a:solidFill>
                          <a:latin typeface="Nimbus Sans"/>
                          <a:ea typeface="Nimbus Sans"/>
                          <a:cs typeface="Nimbus Sans"/>
                        </a:rPr>
                        <a:t>Full configurations</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575" b="0">
                          <a:solidFill>
                            <a:srgbClr val="061747"/>
                          </a:solidFill>
                          <a:latin typeface="Nimbus Sans"/>
                          <a:ea typeface="Nimbus Sans"/>
                          <a:cs typeface="Nimbus Sans"/>
                        </a:rPr>
                        <a:t>20</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575" b="0">
                          <a:solidFill>
                            <a:srgbClr val="061747"/>
                          </a:solidFill>
                          <a:latin typeface="Nimbus Sans"/>
                          <a:ea typeface="Nimbus Sans"/>
                          <a:cs typeface="Nimbus Sans"/>
                        </a:rPr>
                        <a:t>2,058</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bl>
          </a:graphicData>
        </a:graphic>
      </p:graphicFrame>
      <p:sp>
        <p:nvSpPr>
          <p:cNvPr id="14" name="Pricing uses the same 40 products, with different prices and slo">
            <a:extLst xmlns:a="http://schemas.openxmlformats.org/drawingml/2006/main">
              <a:ext uri="{FF2B5EF4-FFF2-40B4-BE49-F238E27FC236}">
                <a16:creationId xmlns:a16="http://schemas.microsoft.com/office/drawing/2014/main" id="{362FE624-96E4-4A87-9572-2CF61C7551A6}"/>
              </a:ext>
            </a:extLst>
          </p:cNvPr>
          <p:cNvSpPr>
            <a:spLocks xmlns:a="http://schemas.openxmlformats.org/drawingml/2006/main" noGrp="1"/>
          </p:cNvSpPr>
          <p:nvPr/>
        </p:nvSpPr>
        <p:spPr>
          <a:xfrm xmlns:a="http://schemas.openxmlformats.org/drawingml/2006/main">
            <a:off x="6362700" y="481012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37B9C"/>
                </a:solidFill>
                <a:latin typeface="Nimbus Sans"/>
                <a:ea typeface="Nimbus Sans"/>
                <a:cs typeface="Nimbus Sans"/>
              </a:defRPr>
            </a:defPPr>
          </a:lstStyle>
          <a:p xmlns:a="http://schemas.openxmlformats.org/drawingml/2006/main">
            <a:pPr algn="l">
              <a:buNone/>
              <a:defRPr sz="1650" b="0">
                <a:solidFill>
                  <a:srgbClr val="637B9C"/>
                </a:solidFill>
                <a:latin typeface="Nimbus Sans"/>
                <a:ea typeface="Nimbus Sans"/>
                <a:cs typeface="Nimbus Sans"/>
              </a:defRPr>
            </a:pPr>
            <a:r>
              <a:rPr sz="1650" b="0">
                <a:solidFill>
                  <a:srgbClr val="637B9C"/>
                </a:solidFill>
                <a:latin typeface="Nimbus Sans"/>
                <a:ea typeface="Nimbus Sans"/>
                <a:cs typeface="Nimbus Sans"/>
              </a:rPr>
              <a:t>Pricing uses the same 40 products, with different prices and slot order. Match product + exact price.</a:t>
            </a:r>
          </a:p>
        </p:txBody>
      </p:sp>
    </p:spTree>
    <p:extLst>
      <p:ext uri="{BB962C8B-B14F-4D97-AF65-F5344CB8AC3E}">
        <p14:creationId xmlns:p14="http://schemas.microsoft.com/office/powerpoint/2010/main" val="1181366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Evaluation protocol">
            <a:extLst xmlns:a="http://schemas.openxmlformats.org/drawingml/2006/main">
              <a:ext uri="{FF2B5EF4-FFF2-40B4-BE49-F238E27FC236}">
                <a16:creationId xmlns:a16="http://schemas.microsoft.com/office/drawing/2014/main" id="{A393C6BA-E2AB-4366-B7D4-BF2DDDAA1237}"/>
              </a:ext>
            </a:extLst>
          </p:cNvPr>
          <p:cNvSpPr>
            <a:spLocks xmlns:a="http://schemas.openxmlformats.org/drawingml/2006/main" noGrp="1"/>
          </p:cNvSpPr>
          <p:nvPr/>
        </p:nvSpPr>
        <p:spPr>
          <a:xfrm xmlns:a="http://schemas.openxmlformats.org/drawingml/2006/main">
            <a:off x="571500" y="285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61747"/>
                </a:solidFill>
                <a:latin typeface="Nimbus Sans"/>
                <a:ea typeface="Nimbus Sans"/>
                <a:cs typeface="Nimbus Sans"/>
              </a:defRPr>
            </a:defPPr>
          </a:lstStyle>
          <a:p xmlns:a="http://schemas.openxmlformats.org/drawingml/2006/main">
            <a:pPr algn="l">
              <a:buNone/>
              <a:defRPr sz="3075" b="1">
                <a:solidFill>
                  <a:srgbClr val="061747"/>
                </a:solidFill>
                <a:latin typeface="Nimbus Sans"/>
                <a:ea typeface="Nimbus Sans"/>
                <a:cs typeface="Nimbus Sans"/>
              </a:defRPr>
            </a:pPr>
            <a:r>
              <a:rPr sz="3075" b="1">
                <a:solidFill>
                  <a:srgbClr val="061747"/>
                </a:solidFill>
                <a:latin typeface="Nimbus Sans"/>
                <a:ea typeface="Nimbus Sans"/>
                <a:cs typeface="Nimbus Sans"/>
              </a:rPr>
              <a:t>Evaluation protocol</a:t>
            </a:r>
          </a:p>
        </p:txBody>
      </p:sp>
      <p:sp>
        <p:nvSpPr>
          <p:cNvPr id="2" name="Train against B. Evaluate against C on unseen participants.">
            <a:extLst xmlns:a="http://schemas.openxmlformats.org/drawingml/2006/main">
              <a:ext uri="{FF2B5EF4-FFF2-40B4-BE49-F238E27FC236}">
                <a16:creationId xmlns:a16="http://schemas.microsoft.com/office/drawing/2014/main" id="{AE6352D9-C7AE-4B7E-BFA8-93008B4D0A74}"/>
              </a:ext>
            </a:extLst>
          </p:cNvPr>
          <p:cNvSpPr>
            <a:spLocks xmlns:a="http://schemas.openxmlformats.org/drawingml/2006/main" noGrp="1"/>
          </p:cNvSpPr>
          <p:nvPr/>
        </p:nvSpPr>
        <p:spPr>
          <a:xfrm xmlns:a="http://schemas.openxmlformats.org/drawingml/2006/main">
            <a:off x="590550" y="914400"/>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Train against B. Evaluate against C on unseen participants.</a:t>
            </a:r>
          </a:p>
        </p:txBody>
      </p:sp>
      <p:sp>
        <p:nvSpPr>
          <p:cNvPr id="3" name="">
            <a:extLst xmlns:a="http://schemas.openxmlformats.org/drawingml/2006/main">
              <a:ext uri="{FF2B5EF4-FFF2-40B4-BE49-F238E27FC236}">
                <a16:creationId xmlns:a16="http://schemas.microsoft.com/office/drawing/2014/main" id="{D1235F95-8F85-493E-B883-EBDD78E313DA}"/>
              </a:ext>
            </a:extLst>
          </p:cNvPr>
          <p:cNvSpPr>
            <a:spLocks xmlns:a="http://schemas.openxmlformats.org/drawingml/2006/main" noGrp="1"/>
          </p:cNvSpPr>
          <p:nvPr/>
        </p:nvSpPr>
        <p:spPr>
          <a:xfrm xmlns:a="http://schemas.openxmlformats.org/drawingml/2006/main">
            <a:off x="571500" y="6229350"/>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4" name="Group scores average within QuestionID, then across QuestionIDs.">
            <a:extLst xmlns:a="http://schemas.openxmlformats.org/drawingml/2006/main">
              <a:ext uri="{FF2B5EF4-FFF2-40B4-BE49-F238E27FC236}">
                <a16:creationId xmlns:a16="http://schemas.microsoft.com/office/drawing/2014/main" id="{2F764F00-13A4-49EA-9479-51E5C11D281F}"/>
              </a:ext>
            </a:extLst>
          </p:cNvPr>
          <p:cNvSpPr>
            <a:spLocks xmlns:a="http://schemas.openxmlformats.org/drawingml/2006/main" noGrp="1"/>
          </p:cNvSpPr>
          <p:nvPr/>
        </p:nvSpPr>
        <p:spPr>
          <a:xfrm xmlns:a="http://schemas.openxmlformats.org/drawingml/2006/main">
            <a:off x="590550" y="636270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7B9C"/>
                </a:solidFill>
                <a:latin typeface="Nimbus Sans"/>
                <a:ea typeface="Nimbus Sans"/>
                <a:cs typeface="Nimbus Sans"/>
              </a:defRPr>
            </a:defPPr>
          </a:lstStyle>
          <a:p xmlns:a="http://schemas.openxmlformats.org/drawingml/2006/main">
            <a:pPr algn="l">
              <a:buNone/>
              <a:defRPr sz="1050" b="0">
                <a:solidFill>
                  <a:srgbClr val="637B9C"/>
                </a:solidFill>
                <a:latin typeface="Nimbus Sans"/>
                <a:ea typeface="Nimbus Sans"/>
                <a:cs typeface="Nimbus Sans"/>
              </a:defRPr>
            </a:pPr>
            <a:r>
              <a:rPr sz="1050" b="0">
                <a:solidFill>
                  <a:srgbClr val="637B9C"/>
                </a:solidFill>
                <a:latin typeface="Nimbus Sans"/>
                <a:ea typeface="Nimbus Sans"/>
                <a:cs typeface="Nimbus Sans"/>
              </a:rPr>
              <a:t>Group scores average within QuestionID, then across QuestionIDs. Human B/C consistency is a reference, not a hard ceiling.</a:t>
            </a:r>
          </a:p>
        </p:txBody>
      </p:sp>
      <p:sp>
        <p:nvSpPr>
          <p:cNvPr id="5" name="04">
            <a:extLst xmlns:a="http://schemas.openxmlformats.org/drawingml/2006/main">
              <a:ext uri="{FF2B5EF4-FFF2-40B4-BE49-F238E27FC236}">
                <a16:creationId xmlns:a16="http://schemas.microsoft.com/office/drawing/2014/main" id="{294C2610-BB7F-41FC-AAC7-937A96DDD5CF}"/>
              </a:ext>
            </a:extLst>
          </p:cNvPr>
          <p:cNvSpPr>
            <a:spLocks xmlns:a="http://schemas.openxmlformats.org/drawingml/2006/main" noGrp="1"/>
          </p:cNvSpPr>
          <p:nvPr/>
        </p:nvSpPr>
        <p:spPr>
          <a:xfrm xmlns:a="http://schemas.openxmlformats.org/drawingml/2006/main">
            <a:off x="11182350"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37B9C"/>
                </a:solidFill>
                <a:latin typeface="Nimbus Sans"/>
                <a:ea typeface="Nimbus Sans"/>
                <a:cs typeface="Nimbus Sans"/>
              </a:defRPr>
            </a:defPPr>
          </a:lstStyle>
          <a:p xmlns:a="http://schemas.openxmlformats.org/drawingml/2006/main">
            <a:pPr algn="r">
              <a:buNone/>
              <a:defRPr sz="1125" b="0">
                <a:solidFill>
                  <a:srgbClr val="637B9C"/>
                </a:solidFill>
                <a:latin typeface="Nimbus Sans"/>
                <a:ea typeface="Nimbus Sans"/>
                <a:cs typeface="Nimbus Sans"/>
              </a:defRPr>
            </a:pPr>
            <a:r>
              <a:rPr sz="1125" b="0">
                <a:solidFill>
                  <a:srgbClr val="637B9C"/>
                </a:solidFill>
                <a:latin typeface="Nimbus Sans"/>
                <a:ea typeface="Nimbus Sans"/>
                <a:cs typeface="Nimbus Sans"/>
              </a:rPr>
              <a:t>05</a:t>
            </a:r>
          </a:p>
        </p:txBody>
      </p:sp>
      <p:graphicFrame>
        <p:nvGraphicFramePr>
          <p:cNvPr id="6" name="">
            <a:extLst xmlns:a="http://schemas.openxmlformats.org/drawingml/2006/main">
              <a:ext uri="{FF2B5EF4-FFF2-40B4-BE49-F238E27FC236}">
                <a16:creationId xmlns:a16="http://schemas.microsoft.com/office/drawing/2014/main" id="{531A734A-5E2E-4049-B194-6B77D6778662}"/>
              </a:ext>
            </a:extLst>
          </p:cNvPr>
          <p:cNvGraphicFramePr/>
          <p:nvPr/>
        </p:nvGraphicFramePr>
        <p:xfrm>
          <a:off xmlns:a="http://schemas.openxmlformats.org/drawingml/2006/main" x="609600" y="1600200"/>
          <a:ext xmlns:a="http://schemas.openxmlformats.org/drawingml/2006/main" cx="10972800" cy="3714750"/>
        </p:xfrm>
        <a:graphic xmlns:a="http://schemas.openxmlformats.org/drawingml/2006/main">
          <a:graphicData uri="http://schemas.openxmlformats.org/drawingml/2006/table">
            <a:tbl>
              <a:tblPr/>
              <a:tblGrid>
                <a:gridCol w="3438525"/>
                <a:gridCol w="3743325"/>
                <a:gridCol w="3790950"/>
              </a:tblGrid>
              <a:tr h="619125">
                <a:tc>
                  <a:txBody>
                    <a:bodyPr/>
                    <a:lstStyle/>
                    <a:p>
                      <a:pPr algn="l">
                        <a:buNone/>
                      </a:pPr>
                      <a:r>
                        <a:rPr sz="1650" b="1">
                          <a:solidFill>
                            <a:srgbClr val="061747"/>
                          </a:solidFill>
                          <a:latin typeface="Nimbus Sans"/>
                          <a:ea typeface="Nimbus Sans"/>
                          <a:cs typeface="Nimbus Sans"/>
                        </a:rPr>
                        <a:t>Question type</a:t>
                      </a:r>
                    </a:p>
                  </a:txBody>
                  <a:tcPr marL="133350" marR="114300" marT="95250" marB="95250" anchor="ctr">
                    <a:lnL w="7620">
                      <a:solidFill>
                        <a:srgbClr val="C9DAEB"/>
                      </a:solidFill>
                      <a:prstDash val="solid"/>
                    </a:lnL>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650" b="1">
                          <a:solidFill>
                            <a:srgbClr val="061747"/>
                          </a:solidFill>
                          <a:latin typeface="Nimbus Sans"/>
                          <a:ea typeface="Nimbus Sans"/>
                          <a:cs typeface="Nimbus Sans"/>
                        </a:rPr>
                        <a:t>Primary metric</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575" b="1">
                          <a:solidFill>
                            <a:srgbClr val="061747"/>
                          </a:solidFill>
                          <a:latin typeface="Nimbus Sans"/>
                          <a:ea typeface="Nimbus Sans"/>
                          <a:cs typeface="Nimbus Sans"/>
                        </a:rPr>
                        <a:t>Question-only baseline</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r>
              <a:tr h="619125">
                <a:tc>
                  <a:txBody>
                    <a:bodyPr/>
                    <a:lstStyle/>
                    <a:p>
                      <a:pPr algn="l">
                        <a:buNone/>
                      </a:pPr>
                      <a:r>
                        <a:rPr sz="1650" b="0">
                          <a:solidFill>
                            <a:srgbClr val="061747"/>
                          </a:solidFill>
                          <a:latin typeface="Nimbus Sans"/>
                          <a:ea typeface="Nimbus Sans"/>
                          <a:cs typeface="Nimbus Sans"/>
                        </a:rPr>
                        <a:t>Nominal choice / pricing</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Accuracy</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Most common matching B answer</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619125">
                <a:tc>
                  <a:txBody>
                    <a:bodyPr/>
                    <a:lstStyle/>
                    <a:p>
                      <a:pPr algn="l">
                        <a:buNone/>
                      </a:pPr>
                      <a:r>
                        <a:rPr sz="1650" b="0">
                          <a:solidFill>
                            <a:srgbClr val="061747"/>
                          </a:solidFill>
                          <a:latin typeface="Nimbus Sans"/>
                          <a:ea typeface="Nimbus Sans"/>
                          <a:cs typeface="Nimbus Sans"/>
                        </a:rPr>
                        <a:t>Nominal matrix rows</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Row-wise accuracy</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Most common matching row answer</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r h="619125">
                <a:tc>
                  <a:txBody>
                    <a:bodyPr/>
                    <a:lstStyle/>
                    <a:p>
                      <a:pPr algn="l">
                        <a:buNone/>
                      </a:pPr>
                      <a:r>
                        <a:rPr sz="1650" b="0">
                          <a:solidFill>
                            <a:srgbClr val="061747"/>
                          </a:solidFill>
                          <a:latin typeface="Nimbus Sans"/>
                          <a:ea typeface="Nimbus Sans"/>
                          <a:cs typeface="Nimbus Sans"/>
                        </a:rPr>
                        <a:t>Ordinal choice / matrix</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|prediction − C| / (K − 1)</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Median of matching B answers</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619125">
                <a:tc>
                  <a:txBody>
                    <a:bodyPr/>
                    <a:lstStyle/>
                    <a:p>
                      <a:pPr algn="l">
                        <a:buNone/>
                      </a:pPr>
                      <a:r>
                        <a:rPr sz="1650" b="0">
                          <a:solidFill>
                            <a:srgbClr val="061747"/>
                          </a:solidFill>
                          <a:latin typeface="Nimbus Sans"/>
                          <a:ea typeface="Nimbus Sans"/>
                          <a:cs typeface="Nimbus Sans"/>
                        </a:rPr>
                        <a:t>Bounded numeric</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Absolute error / allowed range</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Median of matching B answers</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r h="619125">
                <a:tc>
                  <a:txBody>
                    <a:bodyPr/>
                    <a:lstStyle/>
                    <a:p>
                      <a:pPr algn="l">
                        <a:buNone/>
                      </a:pPr>
                      <a:r>
                        <a:rPr sz="1650" b="0">
                          <a:solidFill>
                            <a:srgbClr val="061747"/>
                          </a:solidFill>
                          <a:latin typeface="Nimbus Sans"/>
                          <a:ea typeface="Nimbus Sans"/>
                          <a:cs typeface="Nimbus Sans"/>
                        </a:rPr>
                        <a:t>Unbounded numeric</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MAE + median absolute error</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Median in original units</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bl>
          </a:graphicData>
        </a:graphic>
      </p:graphicFrame>
      <p:sp>
        <p:nvSpPr>
          <p:cNvPr id="7" name="Full-B validation: 29,690 scalar cases from 309 people">
            <a:extLst xmlns:a="http://schemas.openxmlformats.org/drawingml/2006/main">
              <a:ext uri="{FF2B5EF4-FFF2-40B4-BE49-F238E27FC236}">
                <a16:creationId xmlns:a16="http://schemas.microsoft.com/office/drawing/2014/main" id="{547F36C1-A316-476F-B731-8D9F9EACDCA4}"/>
              </a:ext>
            </a:extLst>
          </p:cNvPr>
          <p:cNvSpPr>
            <a:spLocks xmlns:a="http://schemas.openxmlformats.org/drawingml/2006/main" noGrp="1"/>
          </p:cNvSpPr>
          <p:nvPr/>
        </p:nvSpPr>
        <p:spPr>
          <a:xfrm xmlns:a="http://schemas.openxmlformats.org/drawingml/2006/main">
            <a:off x="619125" y="5610225"/>
            <a:ext cx="1095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9E9A"/>
                </a:solidFill>
                <a:latin typeface="Nimbus Sans"/>
                <a:ea typeface="Nimbus Sans"/>
                <a:cs typeface="Nimbus Sans"/>
              </a:defRPr>
            </a:defPPr>
          </a:lstStyle>
          <a:p xmlns:a="http://schemas.openxmlformats.org/drawingml/2006/main">
            <a:pPr algn="l">
              <a:buNone/>
              <a:defRPr sz="1725" b="1">
                <a:solidFill>
                  <a:srgbClr val="009E9A"/>
                </a:solidFill>
                <a:latin typeface="Nimbus Sans"/>
                <a:ea typeface="Nimbus Sans"/>
                <a:cs typeface="Nimbus Sans"/>
              </a:defRPr>
            </a:pPr>
            <a:r>
              <a:rPr sz="1725" b="1">
                <a:solidFill>
                  <a:srgbClr val="009E9A"/>
                </a:solidFill>
                <a:latin typeface="Nimbus Sans"/>
                <a:ea typeface="Nimbus Sans"/>
                <a:cs typeface="Nimbus Sans"/>
              </a:rPr>
              <a:t>Full-B validation: 29,690 scalar cases from 309 people</a:t>
            </a:r>
          </a:p>
        </p:txBody>
      </p:sp>
    </p:spTree>
    <p:extLst>
      <p:ext uri="{BB962C8B-B14F-4D97-AF65-F5344CB8AC3E}">
        <p14:creationId xmlns:p14="http://schemas.microsoft.com/office/powerpoint/2010/main" val="5267490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Pilot scope and question-only baseline">
            <a:extLst xmlns:a="http://schemas.openxmlformats.org/drawingml/2006/main">
              <a:ext uri="{FF2B5EF4-FFF2-40B4-BE49-F238E27FC236}">
                <a16:creationId xmlns:a16="http://schemas.microsoft.com/office/drawing/2014/main" id="{B83E7784-F6EE-4011-B2F0-81C664DC8B70}"/>
              </a:ext>
            </a:extLst>
          </p:cNvPr>
          <p:cNvSpPr>
            <a:spLocks xmlns:a="http://schemas.openxmlformats.org/drawingml/2006/main" noGrp="1"/>
          </p:cNvSpPr>
          <p:nvPr/>
        </p:nvSpPr>
        <p:spPr>
          <a:xfrm xmlns:a="http://schemas.openxmlformats.org/drawingml/2006/main">
            <a:off x="571500" y="285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61747"/>
                </a:solidFill>
                <a:latin typeface="Nimbus Sans"/>
                <a:ea typeface="Nimbus Sans"/>
                <a:cs typeface="Nimbus Sans"/>
              </a:defRPr>
            </a:defPPr>
          </a:lstStyle>
          <a:p xmlns:a="http://schemas.openxmlformats.org/drawingml/2006/main">
            <a:pPr algn="l">
              <a:defRPr sz="3075" b="1">
                <a:solidFill>
                  <a:srgbClr val="061747"/>
                </a:solidFill>
                <a:latin typeface="Nimbus Sans"/>
                <a:ea typeface="Nimbus Sans"/>
                <a:cs typeface="Nimbus Sans"/>
              </a:defRPr>
            </a:pPr>
            <a:r>
              <a:rPr sz="3075" b="1">
                <a:solidFill>
                  <a:srgbClr val="061747"/>
                </a:solidFill>
                <a:latin typeface="Nimbus Sans"/>
                <a:ea typeface="Nimbus Sans"/>
                <a:cs typeface="Nimbus Sans"/>
              </a:rPr>
              <a:t>Pilot scope and question-only baseline</a:t>
            </a:r>
          </a:p>
        </p:txBody>
      </p:sp>
      <p:sp>
        <p:nvSpPr>
          <p:cNvPr id="2" name="The pilot is a question subset. The baseline is a prediction rul">
            <a:extLst xmlns:a="http://schemas.openxmlformats.org/drawingml/2006/main">
              <a:ext uri="{FF2B5EF4-FFF2-40B4-BE49-F238E27FC236}">
                <a16:creationId xmlns:a16="http://schemas.microsoft.com/office/drawing/2014/main" id="{73B683FE-055B-45D0-9271-2370D2DA856D}"/>
              </a:ext>
            </a:extLst>
          </p:cNvPr>
          <p:cNvSpPr>
            <a:spLocks xmlns:a="http://schemas.openxmlformats.org/drawingml/2006/main" noGrp="1"/>
          </p:cNvSpPr>
          <p:nvPr/>
        </p:nvSpPr>
        <p:spPr>
          <a:xfrm xmlns:a="http://schemas.openxmlformats.org/drawingml/2006/main">
            <a:off x="590550" y="914400"/>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The pilot is a question subset. The baseline is a prediction rule.</a:t>
            </a:r>
          </a:p>
        </p:txBody>
      </p:sp>
      <p:sp>
        <p:nvSpPr>
          <p:cNvPr id="3" name="">
            <a:extLst xmlns:a="http://schemas.openxmlformats.org/drawingml/2006/main">
              <a:ext uri="{FF2B5EF4-FFF2-40B4-BE49-F238E27FC236}">
                <a16:creationId xmlns:a16="http://schemas.microsoft.com/office/drawing/2014/main" id="{0D191636-2407-40CD-A762-4F05744FBE08}"/>
              </a:ext>
            </a:extLst>
          </p:cNvPr>
          <p:cNvSpPr>
            <a:spLocks xmlns:a="http://schemas.openxmlformats.org/drawingml/2006/main" noGrp="1"/>
          </p:cNvSpPr>
          <p:nvPr/>
        </p:nvSpPr>
        <p:spPr>
          <a:xfrm xmlns:a="http://schemas.openxmlformats.org/drawingml/2006/main">
            <a:off x="590550" y="1543050"/>
            <a:ext cx="5276850" cy="4381500"/>
          </a:xfrm>
          <a:prstGeom xmlns:a="http://schemas.openxmlformats.org/drawingml/2006/main" prst="roundRect">
            <a:avLst>
              <a:gd name="adj" fmla="val 3043"/>
            </a:avLst>
          </a:prstGeom>
          <a:solidFill xmlns:a="http://schemas.openxmlformats.org/drawingml/2006/main">
            <a:srgbClr val="EFF7FE"/>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4" name="">
            <a:extLst xmlns:a="http://schemas.openxmlformats.org/drawingml/2006/main">
              <a:ext uri="{FF2B5EF4-FFF2-40B4-BE49-F238E27FC236}">
                <a16:creationId xmlns:a16="http://schemas.microsoft.com/office/drawing/2014/main" id="{14373BEB-54AC-47A3-B36A-0B02D263BE65}"/>
              </a:ext>
            </a:extLst>
          </p:cNvPr>
          <p:cNvSpPr>
            <a:spLocks xmlns:a="http://schemas.openxmlformats.org/drawingml/2006/main" noGrp="1"/>
          </p:cNvSpPr>
          <p:nvPr/>
        </p:nvSpPr>
        <p:spPr>
          <a:xfrm xmlns:a="http://schemas.openxmlformats.org/drawingml/2006/main">
            <a:off x="6115050" y="1543050"/>
            <a:ext cx="5467350" cy="4381500"/>
          </a:xfrm>
          <a:prstGeom xmlns:a="http://schemas.openxmlformats.org/drawingml/2006/main" prst="roundRect">
            <a:avLst>
              <a:gd name="adj" fmla="val 3043"/>
            </a:avLst>
          </a:prstGeom>
          <a:solidFill xmlns:a="http://schemas.openxmlformats.org/drawingml/2006/main">
            <a:srgbClr val="EFFBFA"/>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5" name="Binary-choice pilot">
            <a:extLst xmlns:a="http://schemas.openxmlformats.org/drawingml/2006/main">
              <a:ext uri="{FF2B5EF4-FFF2-40B4-BE49-F238E27FC236}">
                <a16:creationId xmlns:a16="http://schemas.microsoft.com/office/drawing/2014/main" id="{EB37BC8C-9DF7-44D9-A25A-1DF235B78718}"/>
              </a:ext>
            </a:extLst>
          </p:cNvPr>
          <p:cNvSpPr>
            <a:spLocks xmlns:a="http://schemas.openxmlformats.org/drawingml/2006/main" noGrp="1"/>
          </p:cNvSpPr>
          <p:nvPr/>
        </p:nvSpPr>
        <p:spPr>
          <a:xfrm xmlns:a="http://schemas.openxmlformats.org/drawingml/2006/main">
            <a:off x="809625" y="1743075"/>
            <a:ext cx="481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673FF"/>
                </a:solidFill>
                <a:latin typeface="Nimbus Sans"/>
                <a:ea typeface="Nimbus Sans"/>
                <a:cs typeface="Nimbus Sans"/>
              </a:defRPr>
            </a:defPPr>
          </a:lstStyle>
          <a:p xmlns:a="http://schemas.openxmlformats.org/drawingml/2006/main">
            <a:pPr algn="l">
              <a:defRPr sz="2175" b="1">
                <a:solidFill>
                  <a:srgbClr val="1673FF"/>
                </a:solidFill>
                <a:latin typeface="Nimbus Sans"/>
                <a:ea typeface="Nimbus Sans"/>
                <a:cs typeface="Nimbus Sans"/>
              </a:defRPr>
            </a:pPr>
            <a:r>
              <a:rPr sz="2175" b="1">
                <a:solidFill>
                  <a:srgbClr val="1673FF"/>
                </a:solidFill>
                <a:latin typeface="Nimbus Sans"/>
                <a:ea typeface="Nimbus Sans"/>
                <a:cs typeface="Nimbus Sans"/>
              </a:rPr>
              <a:t>Binary-choice pilot</a:t>
            </a:r>
          </a:p>
        </p:txBody>
      </p:sp>
      <p:sp>
        <p:nvSpPr>
          <p:cNvPr id="6" name="Five scenarios, nine question versions">
            <a:extLst xmlns:a="http://schemas.openxmlformats.org/drawingml/2006/main">
              <a:ext uri="{FF2B5EF4-FFF2-40B4-BE49-F238E27FC236}">
                <a16:creationId xmlns:a16="http://schemas.microsoft.com/office/drawing/2014/main" id="{DD5728B8-0A23-4D40-B38F-DF99E4612FB7}"/>
              </a:ext>
            </a:extLst>
          </p:cNvPr>
          <p:cNvSpPr>
            <a:spLocks xmlns:a="http://schemas.openxmlformats.org/drawingml/2006/main" noGrp="1"/>
          </p:cNvSpPr>
          <p:nvPr/>
        </p:nvSpPr>
        <p:spPr>
          <a:xfrm xmlns:a="http://schemas.openxmlformats.org/drawingml/2006/main">
            <a:off x="809625" y="2190750"/>
            <a:ext cx="481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37B9C"/>
                </a:solidFill>
                <a:latin typeface="Nimbus Sans"/>
                <a:ea typeface="Nimbus Sans"/>
                <a:cs typeface="Nimbus Sans"/>
              </a:defRPr>
            </a:defPPr>
          </a:lstStyle>
          <a:p xmlns:a="http://schemas.openxmlformats.org/drawingml/2006/main">
            <a:pPr algn="l">
              <a:defRPr sz="1575" b="0">
                <a:solidFill>
                  <a:srgbClr val="637B9C"/>
                </a:solidFill>
                <a:latin typeface="Nimbus Sans"/>
                <a:ea typeface="Nimbus Sans"/>
                <a:cs typeface="Nimbus Sans"/>
              </a:defRPr>
            </a:pPr>
            <a:r>
              <a:rPr sz="1575" b="0">
                <a:solidFill>
                  <a:srgbClr val="637B9C"/>
                </a:solidFill>
                <a:latin typeface="Nimbus Sans"/>
                <a:ea typeface="Nimbus Sans"/>
                <a:cs typeface="Nimbus Sans"/>
              </a:rPr>
              <a:t>Five scenarios, nine question versions</a:t>
            </a:r>
          </a:p>
        </p:txBody>
      </p:sp>
      <p:graphicFrame>
        <p:nvGraphicFramePr>
          <p:cNvPr id="7" name="">
            <a:extLst xmlns:a="http://schemas.openxmlformats.org/drawingml/2006/main">
              <a:ext uri="{FF2B5EF4-FFF2-40B4-BE49-F238E27FC236}">
                <a16:creationId xmlns:a16="http://schemas.microsoft.com/office/drawing/2014/main" id="{18B230BA-D211-4296-8070-3A56F81C1EC5}"/>
              </a:ext>
            </a:extLst>
          </p:cNvPr>
          <p:cNvGraphicFramePr/>
          <p:nvPr/>
        </p:nvGraphicFramePr>
        <p:xfrm>
          <a:off xmlns:a="http://schemas.openxmlformats.org/drawingml/2006/main" x="809625" y="2676525"/>
          <a:ext xmlns:a="http://schemas.openxmlformats.org/drawingml/2006/main" cx="4819650" cy="2228850"/>
        </p:xfrm>
        <a:graphic xmlns:a="http://schemas.openxmlformats.org/drawingml/2006/main">
          <a:graphicData uri="http://schemas.openxmlformats.org/drawingml/2006/table">
            <a:tbl>
              <a:tblPr/>
              <a:tblGrid>
                <a:gridCol w="3524250"/>
                <a:gridCol w="1295400"/>
              </a:tblGrid>
              <a:tr h="371475">
                <a:tc>
                  <a:txBody>
                    <a:bodyPr/>
                    <a:lstStyle/>
                    <a:p>
                      <a:pPr algn="l"/>
                      <a:r>
                        <a:rPr sz="1500" b="1">
                          <a:solidFill>
                            <a:srgbClr val="061747"/>
                          </a:solidFill>
                          <a:latin typeface="Nimbus Sans"/>
                          <a:ea typeface="Nimbus Sans"/>
                          <a:cs typeface="Nimbus Sans"/>
                        </a:rPr>
                        <a:t>Scenario</a:t>
                      </a:r>
                    </a:p>
                  </a:txBody>
                  <a:tcPr marL="114300" marR="85725" marT="57150" marB="57150" anchor="ctr">
                    <a:lnL w="7620">
                      <a:solidFill>
                        <a:srgbClr val="C9DAEB"/>
                      </a:solidFill>
                      <a:prstDash val="solid"/>
                    </a:lnL>
                    <a:lnR w="7620">
                      <a:solidFill>
                        <a:srgbClr val="C9DAEB"/>
                      </a:solidFill>
                      <a:prstDash val="solid"/>
                    </a:lnR>
                    <a:lnT w="7620">
                      <a:solidFill>
                        <a:srgbClr val="C9DAEB"/>
                      </a:solidFill>
                      <a:prstDash val="solid"/>
                    </a:lnT>
                    <a:lnB w="7620">
                      <a:solidFill>
                        <a:srgbClr val="C9DAEB"/>
                      </a:solidFill>
                      <a:prstDash val="solid"/>
                    </a:lnB>
                    <a:solidFill>
                      <a:srgbClr val="E4F0FC"/>
                    </a:solidFill>
                  </a:tcPr>
                </a:tc>
                <a:tc>
                  <a:txBody>
                    <a:bodyPr/>
                    <a:lstStyle/>
                    <a:p>
                      <a:pPr algn="ctr"/>
                      <a:r>
                        <a:rPr sz="1500" b="1">
                          <a:solidFill>
                            <a:srgbClr val="061747"/>
                          </a:solidFill>
                          <a:latin typeface="Nimbus Sans"/>
                          <a:ea typeface="Nimbus Sans"/>
                          <a:cs typeface="Nimbus Sans"/>
                        </a:rPr>
                        <a:t>Versions</a:t>
                      </a:r>
                    </a:p>
                  </a:txBody>
                  <a:tcPr marL="114300" marR="85725" marT="57150" marB="57150" anchor="ctr">
                    <a:lnR w="7620">
                      <a:solidFill>
                        <a:srgbClr val="C9DAEB"/>
                      </a:solidFill>
                      <a:prstDash val="solid"/>
                    </a:lnR>
                    <a:lnT w="7620">
                      <a:solidFill>
                        <a:srgbClr val="C9DAEB"/>
                      </a:solidFill>
                      <a:prstDash val="solid"/>
                    </a:lnT>
                    <a:lnB w="7620">
                      <a:solidFill>
                        <a:srgbClr val="C9DAEB"/>
                      </a:solidFill>
                      <a:prstDash val="solid"/>
                    </a:lnB>
                    <a:solidFill>
                      <a:srgbClr val="E4F0FC"/>
                    </a:solidFill>
                  </a:tcPr>
                </a:tc>
              </a:tr>
              <a:tr h="371475">
                <a:tc>
                  <a:txBody>
                    <a:bodyPr/>
                    <a:lstStyle/>
                    <a:p>
                      <a:pPr algn="l"/>
                      <a:r>
                        <a:rPr sz="1500" b="0">
                          <a:solidFill>
                            <a:srgbClr val="061747"/>
                          </a:solidFill>
                          <a:latin typeface="Nimbus Sans"/>
                          <a:ea typeface="Nimbus Sans"/>
                          <a:cs typeface="Nimbus Sans"/>
                        </a:rPr>
                        <a:t>African-country anchors</a:t>
                      </a:r>
                    </a:p>
                  </a:txBody>
                  <a:tcPr marL="114300" marR="85725" marT="57150" marB="571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r>
                        <a:rPr sz="1500" b="0">
                          <a:solidFill>
                            <a:srgbClr val="061747"/>
                          </a:solidFill>
                          <a:latin typeface="Nimbus Sans"/>
                          <a:ea typeface="Nimbus Sans"/>
                          <a:cs typeface="Nimbus Sans"/>
                        </a:rPr>
                        <a:t>2</a:t>
                      </a:r>
                    </a:p>
                  </a:txBody>
                  <a:tcPr marL="114300" marR="85725" marT="57150" marB="57150" anchor="ctr">
                    <a:lnR w="7620">
                      <a:solidFill>
                        <a:srgbClr val="C9DAEB"/>
                      </a:solidFill>
                      <a:prstDash val="solid"/>
                    </a:lnR>
                    <a:lnB w="7620">
                      <a:solidFill>
                        <a:srgbClr val="C9DAEB"/>
                      </a:solidFill>
                      <a:prstDash val="solid"/>
                    </a:lnB>
                    <a:solidFill>
                      <a:srgbClr val="FFFFFF"/>
                    </a:solidFill>
                  </a:tcPr>
                </a:tc>
              </a:tr>
              <a:tr h="371475">
                <a:tc>
                  <a:txBody>
                    <a:bodyPr/>
                    <a:lstStyle/>
                    <a:p>
                      <a:pPr algn="l"/>
                      <a:r>
                        <a:rPr sz="1500" b="0">
                          <a:solidFill>
                            <a:srgbClr val="061747"/>
                          </a:solidFill>
                          <a:latin typeface="Nimbus Sans"/>
                          <a:ea typeface="Nimbus Sans"/>
                          <a:cs typeface="Nimbus Sans"/>
                        </a:rPr>
                        <a:t>Redwood-height anchors</a:t>
                      </a:r>
                    </a:p>
                  </a:txBody>
                  <a:tcPr marL="114300" marR="85725" marT="57150" marB="571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r>
                        <a:rPr sz="1500" b="0">
                          <a:solidFill>
                            <a:srgbClr val="061747"/>
                          </a:solidFill>
                          <a:latin typeface="Nimbus Sans"/>
                          <a:ea typeface="Nimbus Sans"/>
                          <a:cs typeface="Nimbus Sans"/>
                        </a:rPr>
                        <a:t>2</a:t>
                      </a:r>
                    </a:p>
                  </a:txBody>
                  <a:tcPr marL="114300" marR="85725" marT="57150" marB="57150" anchor="ctr">
                    <a:lnR w="7620">
                      <a:solidFill>
                        <a:srgbClr val="C9DAEB"/>
                      </a:solidFill>
                      <a:prstDash val="solid"/>
                    </a:lnR>
                    <a:lnB w="7620">
                      <a:solidFill>
                        <a:srgbClr val="C9DAEB"/>
                      </a:solidFill>
                      <a:prstDash val="solid"/>
                    </a:lnB>
                    <a:solidFill>
                      <a:srgbClr val="FFFFFF"/>
                    </a:solidFill>
                  </a:tcPr>
                </a:tc>
              </a:tr>
              <a:tr h="371475">
                <a:tc>
                  <a:txBody>
                    <a:bodyPr/>
                    <a:lstStyle/>
                    <a:p>
                      <a:pPr algn="l"/>
                      <a:r>
                        <a:rPr sz="1500" b="0">
                          <a:solidFill>
                            <a:srgbClr val="061747"/>
                          </a:solidFill>
                          <a:latin typeface="Nimbus Sans"/>
                          <a:ea typeface="Nimbus Sans"/>
                          <a:cs typeface="Nimbus Sans"/>
                        </a:rPr>
                        <a:t>Discount decisions</a:t>
                      </a:r>
                    </a:p>
                  </a:txBody>
                  <a:tcPr marL="114300" marR="85725" marT="57150" marB="571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r>
                        <a:rPr sz="1500" b="0">
                          <a:solidFill>
                            <a:srgbClr val="061747"/>
                          </a:solidFill>
                          <a:latin typeface="Nimbus Sans"/>
                          <a:ea typeface="Nimbus Sans"/>
                          <a:cs typeface="Nimbus Sans"/>
                        </a:rPr>
                        <a:t>2</a:t>
                      </a:r>
                    </a:p>
                  </a:txBody>
                  <a:tcPr marL="114300" marR="85725" marT="57150" marB="57150" anchor="ctr">
                    <a:lnR w="7620">
                      <a:solidFill>
                        <a:srgbClr val="C9DAEB"/>
                      </a:solidFill>
                      <a:prstDash val="solid"/>
                    </a:lnR>
                    <a:lnB w="7620">
                      <a:solidFill>
                        <a:srgbClr val="C9DAEB"/>
                      </a:solidFill>
                      <a:prstDash val="solid"/>
                    </a:lnB>
                    <a:solidFill>
                      <a:srgbClr val="FFFFFF"/>
                    </a:solidFill>
                  </a:tcPr>
                </a:tc>
              </a:tr>
              <a:tr h="371475">
                <a:tc>
                  <a:txBody>
                    <a:bodyPr/>
                    <a:lstStyle/>
                    <a:p>
                      <a:pPr algn="l"/>
                      <a:r>
                        <a:rPr sz="1500" b="0">
                          <a:solidFill>
                            <a:srgbClr val="061747"/>
                          </a:solidFill>
                          <a:latin typeface="Nimbus Sans"/>
                          <a:ea typeface="Nimbus Sans"/>
                          <a:cs typeface="Nimbus Sans"/>
                        </a:rPr>
                        <a:t>Lottery choices</a:t>
                      </a:r>
                    </a:p>
                  </a:txBody>
                  <a:tcPr marL="114300" marR="85725" marT="57150" marB="571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r>
                        <a:rPr sz="1500" b="0">
                          <a:solidFill>
                            <a:srgbClr val="061747"/>
                          </a:solidFill>
                          <a:latin typeface="Nimbus Sans"/>
                          <a:ea typeface="Nimbus Sans"/>
                          <a:cs typeface="Nimbus Sans"/>
                        </a:rPr>
                        <a:t>2</a:t>
                      </a:r>
                    </a:p>
                  </a:txBody>
                  <a:tcPr marL="114300" marR="85725" marT="57150" marB="57150" anchor="ctr">
                    <a:lnR w="7620">
                      <a:solidFill>
                        <a:srgbClr val="C9DAEB"/>
                      </a:solidFill>
                      <a:prstDash val="solid"/>
                    </a:lnR>
                    <a:lnB w="7620">
                      <a:solidFill>
                        <a:srgbClr val="C9DAEB"/>
                      </a:solidFill>
                      <a:prstDash val="solid"/>
                    </a:lnB>
                    <a:solidFill>
                      <a:srgbClr val="FFFFFF"/>
                    </a:solidFill>
                  </a:tcPr>
                </a:tc>
              </a:tr>
              <a:tr h="371475">
                <a:tc>
                  <a:txBody>
                    <a:bodyPr/>
                    <a:lstStyle/>
                    <a:p>
                      <a:pPr algn="l"/>
                      <a:r>
                        <a:rPr sz="1500" b="0">
                          <a:solidFill>
                            <a:srgbClr val="061747"/>
                          </a:solidFill>
                          <a:latin typeface="Nimbus Sans"/>
                          <a:ea typeface="Nimbus Sans"/>
                          <a:cs typeface="Nimbus Sans"/>
                        </a:rPr>
                        <a:t>Marble-tray choice</a:t>
                      </a:r>
                    </a:p>
                  </a:txBody>
                  <a:tcPr marL="114300" marR="85725" marT="57150" marB="571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r>
                        <a:rPr sz="1500" b="0">
                          <a:solidFill>
                            <a:srgbClr val="061747"/>
                          </a:solidFill>
                          <a:latin typeface="Nimbus Sans"/>
                          <a:ea typeface="Nimbus Sans"/>
                          <a:cs typeface="Nimbus Sans"/>
                        </a:rPr>
                        <a:t>1</a:t>
                      </a:r>
                    </a:p>
                  </a:txBody>
                  <a:tcPr marL="114300" marR="85725" marT="57150" marB="57150" anchor="ctr">
                    <a:lnR w="7620">
                      <a:solidFill>
                        <a:srgbClr val="C9DAEB"/>
                      </a:solidFill>
                      <a:prstDash val="solid"/>
                    </a:lnR>
                    <a:lnB w="7620">
                      <a:solidFill>
                        <a:srgbClr val="C9DAEB"/>
                      </a:solidFill>
                      <a:prstDash val="solid"/>
                    </a:lnB>
                    <a:solidFill>
                      <a:srgbClr val="FFFFFF"/>
                    </a:solidFill>
                  </a:tcPr>
                </a:tc>
              </a:tr>
            </a:tbl>
          </a:graphicData>
        </a:graphic>
      </p:graphicFrame>
      <p:sp>
        <p:nvSpPr>
          <p:cNvPr id="8" name="One version per scenario = five answers per person">
            <a:extLst xmlns:a="http://schemas.openxmlformats.org/drawingml/2006/main">
              <a:ext uri="{FF2B5EF4-FFF2-40B4-BE49-F238E27FC236}">
                <a16:creationId xmlns:a16="http://schemas.microsoft.com/office/drawing/2014/main" id="{BA5EC863-9B2D-4A4F-874E-18E0022A804E}"/>
              </a:ext>
            </a:extLst>
          </p:cNvPr>
          <p:cNvSpPr>
            <a:spLocks xmlns:a="http://schemas.openxmlformats.org/drawingml/2006/main" noGrp="1"/>
          </p:cNvSpPr>
          <p:nvPr/>
        </p:nvSpPr>
        <p:spPr>
          <a:xfrm xmlns:a="http://schemas.openxmlformats.org/drawingml/2006/main">
            <a:off x="809625" y="5086350"/>
            <a:ext cx="4857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61747"/>
                </a:solidFill>
                <a:latin typeface="Nimbus Sans"/>
                <a:ea typeface="Nimbus Sans"/>
                <a:cs typeface="Nimbus Sans"/>
              </a:defRPr>
            </a:defPPr>
          </a:lstStyle>
          <a:p xmlns:a="http://schemas.openxmlformats.org/drawingml/2006/main">
            <a:pPr algn="l">
              <a:defRPr sz="1500" b="1">
                <a:solidFill>
                  <a:srgbClr val="061747"/>
                </a:solidFill>
                <a:latin typeface="Nimbus Sans"/>
                <a:ea typeface="Nimbus Sans"/>
                <a:cs typeface="Nimbus Sans"/>
              </a:defRPr>
            </a:pPr>
            <a:r>
              <a:rPr sz="1500" b="1">
                <a:solidFill>
                  <a:srgbClr val="061747"/>
                </a:solidFill>
                <a:latin typeface="Nimbus Sans"/>
                <a:ea typeface="Nimbus Sans"/>
                <a:cs typeface="Nimbus Sans"/>
              </a:rPr>
              <a:t>One version per scenario = five answers per person</a:t>
            </a:r>
          </a:p>
        </p:txBody>
      </p:sp>
      <p:sp>
        <p:nvSpPr>
          <p:cNvPr id="9" name="7,200 training answers / 1,545 validation answers">
            <a:extLst xmlns:a="http://schemas.openxmlformats.org/drawingml/2006/main">
              <a:ext uri="{FF2B5EF4-FFF2-40B4-BE49-F238E27FC236}">
                <a16:creationId xmlns:a16="http://schemas.microsoft.com/office/drawing/2014/main" id="{1944B110-E8A4-46C2-B969-CC72AF7C8581}"/>
              </a:ext>
            </a:extLst>
          </p:cNvPr>
          <p:cNvSpPr>
            <a:spLocks xmlns:a="http://schemas.openxmlformats.org/drawingml/2006/main" noGrp="1"/>
          </p:cNvSpPr>
          <p:nvPr/>
        </p:nvSpPr>
        <p:spPr>
          <a:xfrm xmlns:a="http://schemas.openxmlformats.org/drawingml/2006/main">
            <a:off x="809625" y="5543550"/>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37B9C"/>
                </a:solidFill>
                <a:latin typeface="Nimbus Sans"/>
                <a:ea typeface="Nimbus Sans"/>
                <a:cs typeface="Nimbus Sans"/>
              </a:defRPr>
            </a:defPPr>
          </a:lstStyle>
          <a:p xmlns:a="http://schemas.openxmlformats.org/drawingml/2006/main">
            <a:pPr algn="l">
              <a:defRPr sz="1425" b="0">
                <a:solidFill>
                  <a:srgbClr val="637B9C"/>
                </a:solidFill>
                <a:latin typeface="Nimbus Sans"/>
                <a:ea typeface="Nimbus Sans"/>
                <a:cs typeface="Nimbus Sans"/>
              </a:defRPr>
            </a:pPr>
            <a:r>
              <a:rPr sz="1425" b="0">
                <a:solidFill>
                  <a:srgbClr val="637B9C"/>
                </a:solidFill>
                <a:latin typeface="Nimbus Sans"/>
                <a:ea typeface="Nimbus Sans"/>
                <a:cs typeface="Nimbus Sans"/>
              </a:rPr>
              <a:t>7,200 training answers / 1,545 validation answers</a:t>
            </a:r>
          </a:p>
        </p:txBody>
      </p:sp>
      <p:sp>
        <p:nvSpPr>
          <p:cNvPr id="10" name="Question-only baseline">
            <a:extLst xmlns:a="http://schemas.openxmlformats.org/drawingml/2006/main">
              <a:ext uri="{FF2B5EF4-FFF2-40B4-BE49-F238E27FC236}">
                <a16:creationId xmlns:a16="http://schemas.microsoft.com/office/drawing/2014/main" id="{057AE979-93E2-40EB-9DCF-3B1322AE8E4E}"/>
              </a:ext>
            </a:extLst>
          </p:cNvPr>
          <p:cNvSpPr>
            <a:spLocks xmlns:a="http://schemas.openxmlformats.org/drawingml/2006/main" noGrp="1"/>
          </p:cNvSpPr>
          <p:nvPr/>
        </p:nvSpPr>
        <p:spPr>
          <a:xfrm xmlns:a="http://schemas.openxmlformats.org/drawingml/2006/main">
            <a:off x="6362700" y="174307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9E9A"/>
                </a:solidFill>
                <a:latin typeface="Nimbus Sans"/>
                <a:ea typeface="Nimbus Sans"/>
                <a:cs typeface="Nimbus Sans"/>
              </a:defRPr>
            </a:defPPr>
          </a:lstStyle>
          <a:p xmlns:a="http://schemas.openxmlformats.org/drawingml/2006/main">
            <a:pPr algn="l">
              <a:defRPr sz="2175" b="1">
                <a:solidFill>
                  <a:srgbClr val="009E9A"/>
                </a:solidFill>
                <a:latin typeface="Nimbus Sans"/>
                <a:ea typeface="Nimbus Sans"/>
                <a:cs typeface="Nimbus Sans"/>
              </a:defRPr>
            </a:pPr>
            <a:r>
              <a:rPr sz="2175" b="1">
                <a:solidFill>
                  <a:srgbClr val="009E9A"/>
                </a:solidFill>
                <a:latin typeface="Nimbus Sans"/>
                <a:ea typeface="Nimbus Sans"/>
                <a:cs typeface="Nimbus Sans"/>
              </a:rPr>
              <a:t>Question-only baseline</a:t>
            </a:r>
          </a:p>
        </p:txBody>
      </p:sp>
      <p:sp>
        <p:nvSpPr>
          <p:cNvPr id="11" name="A lookup from training B. No A profile or LLM.">
            <a:extLst xmlns:a="http://schemas.openxmlformats.org/drawingml/2006/main">
              <a:ext uri="{FF2B5EF4-FFF2-40B4-BE49-F238E27FC236}">
                <a16:creationId xmlns:a16="http://schemas.microsoft.com/office/drawing/2014/main" id="{2914BD54-26A6-400A-888D-D82372A6F1FC}"/>
              </a:ext>
            </a:extLst>
          </p:cNvPr>
          <p:cNvSpPr>
            <a:spLocks xmlns:a="http://schemas.openxmlformats.org/drawingml/2006/main" noGrp="1"/>
          </p:cNvSpPr>
          <p:nvPr/>
        </p:nvSpPr>
        <p:spPr>
          <a:xfrm xmlns:a="http://schemas.openxmlformats.org/drawingml/2006/main">
            <a:off x="6362700" y="2200275"/>
            <a:ext cx="4953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37B9C"/>
                </a:solidFill>
                <a:latin typeface="Nimbus Sans"/>
                <a:ea typeface="Nimbus Sans"/>
                <a:cs typeface="Nimbus Sans"/>
              </a:defRPr>
            </a:defPPr>
          </a:lstStyle>
          <a:p xmlns:a="http://schemas.openxmlformats.org/drawingml/2006/main">
            <a:pPr algn="l">
              <a:defRPr sz="1575" b="0">
                <a:solidFill>
                  <a:srgbClr val="637B9C"/>
                </a:solidFill>
                <a:latin typeface="Nimbus Sans"/>
                <a:ea typeface="Nimbus Sans"/>
                <a:cs typeface="Nimbus Sans"/>
              </a:defRPr>
            </a:pPr>
            <a:r>
              <a:rPr sz="1575" b="0">
                <a:solidFill>
                  <a:srgbClr val="637B9C"/>
                </a:solidFill>
                <a:latin typeface="Nimbus Sans"/>
                <a:ea typeface="Nimbus Sans"/>
                <a:cs typeface="Nimbus Sans"/>
              </a:rPr>
              <a:t>A lookup from training B. No A profile or LLM.</a:t>
            </a:r>
          </a:p>
        </p:txBody>
      </p:sp>
      <p:sp>
        <p:nvSpPr>
          <p:cNvPr id="12" name="Match the actual question and condition:&#10;product, price, anchor ">
            <a:extLst xmlns:a="http://schemas.openxmlformats.org/drawingml/2006/main">
              <a:ext uri="{FF2B5EF4-FFF2-40B4-BE49-F238E27FC236}">
                <a16:creationId xmlns:a16="http://schemas.microsoft.com/office/drawing/2014/main" id="{4CD00915-4A78-4371-8EFD-119BC662E145}"/>
              </a:ext>
            </a:extLst>
          </p:cNvPr>
          <p:cNvSpPr>
            <a:spLocks xmlns:a="http://schemas.openxmlformats.org/drawingml/2006/main" noGrp="1"/>
          </p:cNvSpPr>
          <p:nvPr/>
        </p:nvSpPr>
        <p:spPr>
          <a:xfrm xmlns:a="http://schemas.openxmlformats.org/drawingml/2006/main">
            <a:off x="6362700" y="2676525"/>
            <a:ext cx="4953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061747"/>
                </a:solidFill>
                <a:latin typeface="Nimbus Sans"/>
                <a:ea typeface="Nimbus Sans"/>
                <a:cs typeface="Nimbus Sans"/>
              </a:defRPr>
            </a:defPPr>
          </a:lstStyle>
          <a:p xmlns:a="http://schemas.openxmlformats.org/drawingml/2006/main">
            <a:pPr algn="l">
              <a:defRPr sz="1500" b="0">
                <a:solidFill>
                  <a:srgbClr val="061747"/>
                </a:solidFill>
                <a:latin typeface="Nimbus Sans"/>
                <a:ea typeface="Nimbus Sans"/>
                <a:cs typeface="Nimbus Sans"/>
              </a:defRPr>
            </a:pPr>
            <a:r>
              <a:rPr sz="1500" b="0">
                <a:solidFill>
                  <a:srgbClr val="061747"/>
                </a:solidFill>
                <a:latin typeface="Nimbus Sans"/>
                <a:ea typeface="Nimbus Sans"/>
                <a:cs typeface="Nimbus Sans"/>
              </a:rPr>
              <a:t>Match the actual question and condition:</a:t>
            </a:r>
          </a:p>
          <a:p xmlns:a="http://schemas.openxmlformats.org/drawingml/2006/main">
            <a:pPr algn="l">
              <a:defRPr sz="1500" b="0">
                <a:solidFill>
                  <a:srgbClr val="061747"/>
                </a:solidFill>
                <a:latin typeface="Nimbus Sans"/>
                <a:ea typeface="Nimbus Sans"/>
                <a:cs typeface="Nimbus Sans"/>
              </a:defRPr>
            </a:pPr>
            <a:r>
              <a:rPr sz="1500" b="0">
                <a:solidFill>
                  <a:srgbClr val="061747"/>
                </a:solidFill>
                <a:latin typeface="Nimbus Sans"/>
                <a:ea typeface="Nimbus Sans"/>
                <a:cs typeface="Nimbus Sans"/>
              </a:rPr>
              <a:t>product, price, anchor or matrix row as applicable.</a:t>
            </a:r>
          </a:p>
        </p:txBody>
      </p:sp>
      <p:sp>
        <p:nvSpPr>
          <p:cNvPr id="13" name="Example: “Would you buy milk for $3?”">
            <a:extLst xmlns:a="http://schemas.openxmlformats.org/drawingml/2006/main">
              <a:ext uri="{FF2B5EF4-FFF2-40B4-BE49-F238E27FC236}">
                <a16:creationId xmlns:a16="http://schemas.microsoft.com/office/drawing/2014/main" id="{6525E104-2842-4F00-A41A-CF113B4523BC}"/>
              </a:ext>
            </a:extLst>
          </p:cNvPr>
          <p:cNvSpPr>
            <a:spLocks xmlns:a="http://schemas.openxmlformats.org/drawingml/2006/main" noGrp="1"/>
          </p:cNvSpPr>
          <p:nvPr/>
        </p:nvSpPr>
        <p:spPr>
          <a:xfrm xmlns:a="http://schemas.openxmlformats.org/drawingml/2006/main">
            <a:off x="6362700" y="347662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61747"/>
                </a:solidFill>
                <a:latin typeface="Nimbus Sans"/>
                <a:ea typeface="Nimbus Sans"/>
                <a:cs typeface="Nimbus Sans"/>
              </a:defRPr>
            </a:defPPr>
          </a:lstStyle>
          <a:p xmlns:a="http://schemas.openxmlformats.org/drawingml/2006/main">
            <a:pPr algn="l">
              <a:defRPr sz="1650" b="1">
                <a:solidFill>
                  <a:srgbClr val="061747"/>
                </a:solidFill>
                <a:latin typeface="Nimbus Sans"/>
                <a:ea typeface="Nimbus Sans"/>
                <a:cs typeface="Nimbus Sans"/>
              </a:defRPr>
            </a:pPr>
            <a:r>
              <a:rPr sz="1650" b="1">
                <a:solidFill>
                  <a:srgbClr val="061747"/>
                </a:solidFill>
                <a:latin typeface="Nimbus Sans"/>
                <a:ea typeface="Nimbus Sans"/>
                <a:cs typeface="Nimbus Sans"/>
              </a:rPr>
              <a:t>Example: “Would you buy milk for $3?”</a:t>
            </a:r>
          </a:p>
        </p:txBody>
      </p:sp>
      <p:graphicFrame>
        <p:nvGraphicFramePr>
          <p:cNvPr id="14" name="">
            <a:extLst xmlns:a="http://schemas.openxmlformats.org/drawingml/2006/main">
              <a:ext uri="{FF2B5EF4-FFF2-40B4-BE49-F238E27FC236}">
                <a16:creationId xmlns:a16="http://schemas.microsoft.com/office/drawing/2014/main" id="{0031E33D-7FD3-43EB-A0AE-1CEC37D3959F}"/>
              </a:ext>
            </a:extLst>
          </p:cNvPr>
          <p:cNvGraphicFramePr/>
          <p:nvPr/>
        </p:nvGraphicFramePr>
        <p:xfrm>
          <a:off xmlns:a="http://schemas.openxmlformats.org/drawingml/2006/main" x="6362700" y="3914775"/>
          <a:ext xmlns:a="http://schemas.openxmlformats.org/drawingml/2006/main" cx="4953000" cy="895350"/>
        </p:xfrm>
        <a:graphic xmlns:a="http://schemas.openxmlformats.org/drawingml/2006/main">
          <a:graphicData uri="http://schemas.openxmlformats.org/drawingml/2006/table">
            <a:tbl>
              <a:tblPr/>
              <a:tblGrid>
                <a:gridCol w="2143125"/>
                <a:gridCol w="1162050"/>
                <a:gridCol w="1647825"/>
              </a:tblGrid>
              <a:tr h="447675">
                <a:tc>
                  <a:txBody>
                    <a:bodyPr/>
                    <a:lstStyle/>
                    <a:p>
                      <a:pPr algn="l"/>
                      <a:r>
                        <a:rPr sz="1500" b="1">
                          <a:solidFill>
                            <a:srgbClr val="061747"/>
                          </a:solidFill>
                          <a:latin typeface="Nimbus Sans"/>
                          <a:ea typeface="Nimbus Sans"/>
                          <a:cs typeface="Nimbus Sans"/>
                        </a:rPr>
                        <a:t>Training B</a:t>
                      </a:r>
                    </a:p>
                  </a:txBody>
                  <a:tcPr marL="114300" marR="85725" marT="57150" marB="57150" anchor="ctr">
                    <a:lnL w="7620">
                      <a:solidFill>
                        <a:srgbClr val="C9DAEB"/>
                      </a:solidFill>
                      <a:prstDash val="solid"/>
                    </a:lnL>
                    <a:lnR w="7620">
                      <a:solidFill>
                        <a:srgbClr val="C9DAEB"/>
                      </a:solidFill>
                      <a:prstDash val="solid"/>
                    </a:lnR>
                    <a:lnT w="7620">
                      <a:solidFill>
                        <a:srgbClr val="C9DAEB"/>
                      </a:solidFill>
                      <a:prstDash val="solid"/>
                    </a:lnT>
                    <a:lnB w="7620">
                      <a:solidFill>
                        <a:srgbClr val="C9DAEB"/>
                      </a:solidFill>
                      <a:prstDash val="solid"/>
                    </a:lnB>
                    <a:solidFill>
                      <a:srgbClr val="E4F0FC"/>
                    </a:solidFill>
                  </a:tcPr>
                </a:tc>
                <a:tc>
                  <a:txBody>
                    <a:bodyPr/>
                    <a:lstStyle/>
                    <a:p>
                      <a:pPr algn="ctr"/>
                      <a:r>
                        <a:rPr sz="1500" b="1">
                          <a:solidFill>
                            <a:srgbClr val="061747"/>
                          </a:solidFill>
                          <a:latin typeface="Nimbus Sans"/>
                          <a:ea typeface="Nimbus Sans"/>
                          <a:cs typeface="Nimbus Sans"/>
                        </a:rPr>
                        <a:t>Rule</a:t>
                      </a:r>
                    </a:p>
                  </a:txBody>
                  <a:tcPr marL="114300" marR="85725" marT="57150" marB="57150" anchor="ctr">
                    <a:lnR w="7620">
                      <a:solidFill>
                        <a:srgbClr val="C9DAEB"/>
                      </a:solidFill>
                      <a:prstDash val="solid"/>
                    </a:lnR>
                    <a:lnT w="7620">
                      <a:solidFill>
                        <a:srgbClr val="C9DAEB"/>
                      </a:solidFill>
                      <a:prstDash val="solid"/>
                    </a:lnT>
                    <a:lnB w="7620">
                      <a:solidFill>
                        <a:srgbClr val="C9DAEB"/>
                      </a:solidFill>
                      <a:prstDash val="solid"/>
                    </a:lnB>
                    <a:solidFill>
                      <a:srgbClr val="E4F0FC"/>
                    </a:solidFill>
                  </a:tcPr>
                </a:tc>
                <a:tc>
                  <a:txBody>
                    <a:bodyPr/>
                    <a:lstStyle/>
                    <a:p>
                      <a:pPr algn="ctr"/>
                      <a:r>
                        <a:rPr sz="1500" b="1">
                          <a:solidFill>
                            <a:srgbClr val="061747"/>
                          </a:solidFill>
                          <a:latin typeface="Nimbus Sans"/>
                          <a:ea typeface="Nimbus Sans"/>
                          <a:cs typeface="Nimbus Sans"/>
                        </a:rPr>
                        <a:t>Prediction</a:t>
                      </a:r>
                    </a:p>
                  </a:txBody>
                  <a:tcPr marL="114300" marR="85725" marT="57150" marB="57150" anchor="ctr">
                    <a:lnR w="7620">
                      <a:solidFill>
                        <a:srgbClr val="C9DAEB"/>
                      </a:solidFill>
                      <a:prstDash val="solid"/>
                    </a:lnR>
                    <a:lnT w="7620">
                      <a:solidFill>
                        <a:srgbClr val="C9DAEB"/>
                      </a:solidFill>
                      <a:prstDash val="solid"/>
                    </a:lnT>
                    <a:lnB w="7620">
                      <a:solidFill>
                        <a:srgbClr val="C9DAEB"/>
                      </a:solidFill>
                      <a:prstDash val="solid"/>
                    </a:lnB>
                    <a:solidFill>
                      <a:srgbClr val="E4F0FC"/>
                    </a:solidFill>
                  </a:tcPr>
                </a:tc>
              </a:tr>
              <a:tr h="447675">
                <a:tc>
                  <a:txBody>
                    <a:bodyPr/>
                    <a:lstStyle/>
                    <a:p>
                      <a:pPr algn="l"/>
                      <a:r>
                        <a:rPr sz="1500" b="0">
                          <a:solidFill>
                            <a:srgbClr val="061747"/>
                          </a:solidFill>
                          <a:latin typeface="Nimbus Sans"/>
                          <a:ea typeface="Nimbus Sans"/>
                          <a:cs typeface="Nimbus Sans"/>
                        </a:rPr>
                        <a:t>7 Buy, 3 Don’t buy</a:t>
                      </a:r>
                    </a:p>
                  </a:txBody>
                  <a:tcPr marL="114300" marR="85725" marT="57150" marB="571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r>
                        <a:rPr sz="1500" b="0">
                          <a:solidFill>
                            <a:srgbClr val="061747"/>
                          </a:solidFill>
                          <a:latin typeface="Nimbus Sans"/>
                          <a:ea typeface="Nimbus Sans"/>
                          <a:cs typeface="Nimbus Sans"/>
                        </a:rPr>
                        <a:t>Majority</a:t>
                      </a:r>
                    </a:p>
                  </a:txBody>
                  <a:tcPr marL="114300" marR="85725" marT="57150" marB="57150" anchor="ctr">
                    <a:lnR w="7620">
                      <a:solidFill>
                        <a:srgbClr val="C9DAEB"/>
                      </a:solidFill>
                      <a:prstDash val="solid"/>
                    </a:lnR>
                    <a:lnB w="7620">
                      <a:solidFill>
                        <a:srgbClr val="C9DAEB"/>
                      </a:solidFill>
                      <a:prstDash val="solid"/>
                    </a:lnB>
                    <a:solidFill>
                      <a:srgbClr val="FFFFFF"/>
                    </a:solidFill>
                  </a:tcPr>
                </a:tc>
                <a:tc>
                  <a:txBody>
                    <a:bodyPr/>
                    <a:lstStyle/>
                    <a:p>
                      <a:pPr algn="ctr"/>
                      <a:r>
                        <a:rPr sz="1500" b="0">
                          <a:solidFill>
                            <a:srgbClr val="061747"/>
                          </a:solidFill>
                          <a:latin typeface="Nimbus Sans"/>
                          <a:ea typeface="Nimbus Sans"/>
                          <a:cs typeface="Nimbus Sans"/>
                        </a:rPr>
                        <a:t>Buy</a:t>
                      </a:r>
                    </a:p>
                  </a:txBody>
                  <a:tcPr marL="114300" marR="85725" marT="57150" marB="57150" anchor="ctr">
                    <a:lnR w="7620">
                      <a:solidFill>
                        <a:srgbClr val="C9DAEB"/>
                      </a:solidFill>
                      <a:prstDash val="solid"/>
                    </a:lnR>
                    <a:lnB w="7620">
                      <a:solidFill>
                        <a:srgbClr val="C9DAEB"/>
                      </a:solidFill>
                      <a:prstDash val="solid"/>
                    </a:lnB>
                    <a:solidFill>
                      <a:srgbClr val="FFFFFF"/>
                    </a:solidFill>
                  </a:tcPr>
                </a:tc>
              </a:tr>
            </a:tbl>
          </a:graphicData>
        </a:graphic>
      </p:graphicFrame>
      <p:sp>
        <p:nvSpPr>
          <p:cNvPr id="15" name="Illustrative counts, not experimental data.">
            <a:extLst xmlns:a="http://schemas.openxmlformats.org/drawingml/2006/main">
              <a:ext uri="{FF2B5EF4-FFF2-40B4-BE49-F238E27FC236}">
                <a16:creationId xmlns:a16="http://schemas.microsoft.com/office/drawing/2014/main" id="{0F1E48D8-0ED9-420F-B167-32BEE5403D69}"/>
              </a:ext>
            </a:extLst>
          </p:cNvPr>
          <p:cNvSpPr>
            <a:spLocks xmlns:a="http://schemas.openxmlformats.org/drawingml/2006/main" noGrp="1"/>
          </p:cNvSpPr>
          <p:nvPr/>
        </p:nvSpPr>
        <p:spPr>
          <a:xfrm xmlns:a="http://schemas.openxmlformats.org/drawingml/2006/main">
            <a:off x="6362700" y="4905375"/>
            <a:ext cx="4953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7B9C"/>
                </a:solidFill>
                <a:latin typeface="Nimbus Sans"/>
                <a:ea typeface="Nimbus Sans"/>
                <a:cs typeface="Nimbus Sans"/>
              </a:defRPr>
            </a:defPPr>
          </a:lstStyle>
          <a:p xmlns:a="http://schemas.openxmlformats.org/drawingml/2006/main">
            <a:pPr algn="l">
              <a:defRPr sz="1200" b="0">
                <a:solidFill>
                  <a:srgbClr val="637B9C"/>
                </a:solidFill>
                <a:latin typeface="Nimbus Sans"/>
                <a:ea typeface="Nimbus Sans"/>
                <a:cs typeface="Nimbus Sans"/>
              </a:defRPr>
            </a:pPr>
            <a:r>
              <a:rPr sz="1200" b="0">
                <a:solidFill>
                  <a:srgbClr val="637B9C"/>
                </a:solidFill>
                <a:latin typeface="Nimbus Sans"/>
                <a:ea typeface="Nimbus Sans"/>
                <a:cs typeface="Nimbus Sans"/>
              </a:rPr>
              <a:t>Illustrative counts, not experimental data.</a:t>
            </a:r>
          </a:p>
        </p:txBody>
      </p:sp>
      <p:sp>
        <p:nvSpPr>
          <p:cNvPr id="16" name="Same prediction for everyone shown this target.&#10;Ordered or numer">
            <a:extLst xmlns:a="http://schemas.openxmlformats.org/drawingml/2006/main">
              <a:ext uri="{FF2B5EF4-FFF2-40B4-BE49-F238E27FC236}">
                <a16:creationId xmlns:a16="http://schemas.microsoft.com/office/drawing/2014/main" id="{36BE836A-2D95-4652-AB85-55DA87EDF53F}"/>
              </a:ext>
            </a:extLst>
          </p:cNvPr>
          <p:cNvSpPr>
            <a:spLocks xmlns:a="http://schemas.openxmlformats.org/drawingml/2006/main" noGrp="1"/>
          </p:cNvSpPr>
          <p:nvPr/>
        </p:nvSpPr>
        <p:spPr>
          <a:xfrm xmlns:a="http://schemas.openxmlformats.org/drawingml/2006/main">
            <a:off x="6362700" y="525780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061747"/>
                </a:solidFill>
                <a:latin typeface="Nimbus Sans"/>
                <a:ea typeface="Nimbus Sans"/>
                <a:cs typeface="Nimbus Sans"/>
              </a:defRPr>
            </a:defPPr>
          </a:lstStyle>
          <a:p xmlns:a="http://schemas.openxmlformats.org/drawingml/2006/main">
            <a:pPr algn="l">
              <a:defRPr sz="1500" b="0">
                <a:solidFill>
                  <a:srgbClr val="061747"/>
                </a:solidFill>
                <a:latin typeface="Nimbus Sans"/>
                <a:ea typeface="Nimbus Sans"/>
                <a:cs typeface="Nimbus Sans"/>
              </a:defRPr>
            </a:pPr>
            <a:r>
              <a:rPr sz="1500" b="0">
                <a:solidFill>
                  <a:srgbClr val="061747"/>
                </a:solidFill>
                <a:latin typeface="Nimbus Sans"/>
                <a:ea typeface="Nimbus Sans"/>
                <a:cs typeface="Nimbus Sans"/>
              </a:rPr>
              <a:t>Same prediction for everyone shown this target.</a:t>
            </a:r>
          </a:p>
          <a:p xmlns:a="http://schemas.openxmlformats.org/drawingml/2006/main">
            <a:pPr algn="l">
              <a:defRPr sz="1500" b="0">
                <a:solidFill>
                  <a:srgbClr val="061747"/>
                </a:solidFill>
                <a:latin typeface="Nimbus Sans"/>
                <a:ea typeface="Nimbus Sans"/>
                <a:cs typeface="Nimbus Sans"/>
              </a:defRPr>
            </a:pPr>
            <a:r>
              <a:rPr sz="1500" b="0">
                <a:solidFill>
                  <a:srgbClr val="061747"/>
                </a:solidFill>
                <a:latin typeface="Nimbus Sans"/>
                <a:ea typeface="Nimbus Sans"/>
                <a:cs typeface="Nimbus Sans"/>
              </a:rPr>
              <a:t>Ordered or numeric answers use the median.</a:t>
            </a:r>
          </a:p>
        </p:txBody>
      </p:sp>
      <p:sp>
        <p:nvSpPr>
          <p:cNvPr id="17" name="">
            <a:extLst xmlns:a="http://schemas.openxmlformats.org/drawingml/2006/main">
              <a:ext uri="{FF2B5EF4-FFF2-40B4-BE49-F238E27FC236}">
                <a16:creationId xmlns:a16="http://schemas.microsoft.com/office/drawing/2014/main" id="{010039AB-97E7-4D86-AEFE-66C5FB33AB5F}"/>
              </a:ext>
            </a:extLst>
          </p:cNvPr>
          <p:cNvSpPr>
            <a:spLocks xmlns:a="http://schemas.openxmlformats.org/drawingml/2006/main" noGrp="1"/>
          </p:cNvSpPr>
          <p:nvPr/>
        </p:nvSpPr>
        <p:spPr>
          <a:xfrm xmlns:a="http://schemas.openxmlformats.org/drawingml/2006/main">
            <a:off x="571500" y="6229350"/>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18" name="Match the question meaning and condition, not just its QID. Vali">
            <a:extLst xmlns:a="http://schemas.openxmlformats.org/drawingml/2006/main">
              <a:ext uri="{FF2B5EF4-FFF2-40B4-BE49-F238E27FC236}">
                <a16:creationId xmlns:a16="http://schemas.microsoft.com/office/drawing/2014/main" id="{0304854C-5BA3-4DF1-895D-E9E51EF5E8B3}"/>
              </a:ext>
            </a:extLst>
          </p:cNvPr>
          <p:cNvSpPr>
            <a:spLocks xmlns:a="http://schemas.openxmlformats.org/drawingml/2006/main" noGrp="1"/>
          </p:cNvSpPr>
          <p:nvPr/>
        </p:nvSpPr>
        <p:spPr>
          <a:xfrm xmlns:a="http://schemas.openxmlformats.org/drawingml/2006/main">
            <a:off x="590550" y="636270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7B9C"/>
                </a:solidFill>
                <a:latin typeface="Nimbus Sans"/>
                <a:ea typeface="Nimbus Sans"/>
                <a:cs typeface="Nimbus Sans"/>
              </a:defRPr>
            </a:defPPr>
          </a:lstStyle>
          <a:p xmlns:a="http://schemas.openxmlformats.org/drawingml/2006/main">
            <a:pPr algn="l">
              <a:defRPr sz="1050" b="0">
                <a:solidFill>
                  <a:srgbClr val="637B9C"/>
                </a:solidFill>
                <a:latin typeface="Nimbus Sans"/>
                <a:ea typeface="Nimbus Sans"/>
                <a:cs typeface="Nimbus Sans"/>
              </a:defRPr>
            </a:pPr>
            <a:r>
              <a:rPr sz="1050" b="0">
                <a:solidFill>
                  <a:srgbClr val="637B9C"/>
                </a:solidFill>
                <a:latin typeface="Nimbus Sans"/>
                <a:ea typeface="Nimbus Sans"/>
                <a:cs typeface="Nimbus Sans"/>
              </a:rPr>
              <a:t>Match the question meaning and condition, not just its QID. Validation C is used only for scoring.</a:t>
            </a:r>
          </a:p>
        </p:txBody>
      </p:sp>
      <p:sp>
        <p:nvSpPr>
          <p:cNvPr id="19" name="06">
            <a:extLst xmlns:a="http://schemas.openxmlformats.org/drawingml/2006/main">
              <a:ext uri="{FF2B5EF4-FFF2-40B4-BE49-F238E27FC236}">
                <a16:creationId xmlns:a16="http://schemas.microsoft.com/office/drawing/2014/main" id="{CF288615-76E7-490D-805A-B6AB16004542}"/>
              </a:ext>
            </a:extLst>
          </p:cNvPr>
          <p:cNvSpPr>
            <a:spLocks xmlns:a="http://schemas.openxmlformats.org/drawingml/2006/main" noGrp="1"/>
          </p:cNvSpPr>
          <p:nvPr/>
        </p:nvSpPr>
        <p:spPr>
          <a:xfrm xmlns:a="http://schemas.openxmlformats.org/drawingml/2006/main">
            <a:off x="11182350"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37B9C"/>
                </a:solidFill>
                <a:latin typeface="Nimbus Sans"/>
                <a:ea typeface="Nimbus Sans"/>
                <a:cs typeface="Nimbus Sans"/>
              </a:defRPr>
            </a:defPPr>
          </a:lstStyle>
          <a:p xmlns:a="http://schemas.openxmlformats.org/drawingml/2006/main">
            <a:pPr algn="r">
              <a:defRPr sz="1125" b="0">
                <a:solidFill>
                  <a:srgbClr val="637B9C"/>
                </a:solidFill>
                <a:latin typeface="Nimbus Sans"/>
                <a:ea typeface="Nimbus Sans"/>
                <a:cs typeface="Nimbus Sans"/>
              </a:defRPr>
            </a:pPr>
            <a:r>
              <a:rPr sz="1125" b="0">
                <a:solidFill>
                  <a:srgbClr val="637B9C"/>
                </a:solidFill>
                <a:latin typeface="Nimbus Sans"/>
                <a:ea typeface="Nimbus Sans"/>
                <a:cs typeface="Nimbus Sans"/>
              </a:rPr>
              <a:t>06</a:t>
            </a:r>
          </a:p>
        </p:txBody>
      </p:sp>
    </p:spTree>
    <p:extLst>
      <p:ext uri="{BB962C8B-B14F-4D97-AF65-F5344CB8AC3E}">
        <p14:creationId xmlns:p14="http://schemas.microsoft.com/office/powerpoint/2010/main" val="65292922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ine-tuning setup">
            <a:extLst xmlns:a="http://schemas.openxmlformats.org/drawingml/2006/main">
              <a:ext uri="{FF2B5EF4-FFF2-40B4-BE49-F238E27FC236}">
                <a16:creationId xmlns:a16="http://schemas.microsoft.com/office/drawing/2014/main" id="{266B535E-F928-4B60-8B2D-559A2D18E811}"/>
              </a:ext>
            </a:extLst>
          </p:cNvPr>
          <p:cNvSpPr>
            <a:spLocks xmlns:a="http://schemas.openxmlformats.org/drawingml/2006/main" noGrp="1"/>
          </p:cNvSpPr>
          <p:nvPr/>
        </p:nvSpPr>
        <p:spPr>
          <a:xfrm xmlns:a="http://schemas.openxmlformats.org/drawingml/2006/main">
            <a:off x="571500" y="285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61747"/>
                </a:solidFill>
                <a:latin typeface="Nimbus Sans"/>
                <a:ea typeface="Nimbus Sans"/>
                <a:cs typeface="Nimbus Sans"/>
              </a:defRPr>
            </a:defPPr>
          </a:lstStyle>
          <a:p xmlns:a="http://schemas.openxmlformats.org/drawingml/2006/main">
            <a:pPr algn="l">
              <a:buNone/>
              <a:defRPr sz="3075" b="1">
                <a:solidFill>
                  <a:srgbClr val="061747"/>
                </a:solidFill>
                <a:latin typeface="Nimbus Sans"/>
                <a:ea typeface="Nimbus Sans"/>
                <a:cs typeface="Nimbus Sans"/>
              </a:defRPr>
            </a:pPr>
            <a:r>
              <a:rPr sz="3075" b="1">
                <a:solidFill>
                  <a:srgbClr val="061747"/>
                </a:solidFill>
                <a:latin typeface="Nimbus Sans"/>
                <a:ea typeface="Nimbus Sans"/>
                <a:cs typeface="Nimbus Sans"/>
              </a:rPr>
              <a:t>Fine-tuning setup</a:t>
            </a:r>
          </a:p>
        </p:txBody>
      </p:sp>
      <p:sp>
        <p:nvSpPr>
          <p:cNvPr id="2" name="The early nine-question study and full-B study answer different ">
            <a:extLst xmlns:a="http://schemas.openxmlformats.org/drawingml/2006/main">
              <a:ext uri="{FF2B5EF4-FFF2-40B4-BE49-F238E27FC236}">
                <a16:creationId xmlns:a16="http://schemas.microsoft.com/office/drawing/2014/main" id="{1F45FE7E-28D9-4E6D-BF28-E8285736BF7F}"/>
              </a:ext>
            </a:extLst>
          </p:cNvPr>
          <p:cNvSpPr>
            <a:spLocks xmlns:a="http://schemas.openxmlformats.org/drawingml/2006/main" noGrp="1"/>
          </p:cNvSpPr>
          <p:nvPr/>
        </p:nvSpPr>
        <p:spPr>
          <a:xfrm xmlns:a="http://schemas.openxmlformats.org/drawingml/2006/main">
            <a:off x="590550" y="914400"/>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Binary-choice pilot: five scenarios. Full-B study: all supported question types.</a:t>
            </a:r>
          </a:p>
        </p:txBody>
      </p:sp>
      <p:sp>
        <p:nvSpPr>
          <p:cNvPr id="3" name="">
            <a:extLst xmlns:a="http://schemas.openxmlformats.org/drawingml/2006/main">
              <a:ext uri="{FF2B5EF4-FFF2-40B4-BE49-F238E27FC236}">
                <a16:creationId xmlns:a16="http://schemas.microsoft.com/office/drawing/2014/main" id="{30191A0F-2C7A-4184-9B84-D923C2906E9D}"/>
              </a:ext>
            </a:extLst>
          </p:cNvPr>
          <p:cNvSpPr>
            <a:spLocks xmlns:a="http://schemas.openxmlformats.org/drawingml/2006/main" noGrp="1"/>
          </p:cNvSpPr>
          <p:nvPr/>
        </p:nvSpPr>
        <p:spPr>
          <a:xfrm xmlns:a="http://schemas.openxmlformats.org/drawingml/2006/main">
            <a:off x="571500" y="6229350"/>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4" name="Detailed legacy hyperparameters come from audited source recipes">
            <a:extLst xmlns:a="http://schemas.openxmlformats.org/drawingml/2006/main">
              <a:ext uri="{FF2B5EF4-FFF2-40B4-BE49-F238E27FC236}">
                <a16:creationId xmlns:a16="http://schemas.microsoft.com/office/drawing/2014/main" id="{E74347D0-325E-4559-BFD4-C25458C2F9C2}"/>
              </a:ext>
            </a:extLst>
          </p:cNvPr>
          <p:cNvSpPr>
            <a:spLocks xmlns:a="http://schemas.openxmlformats.org/drawingml/2006/main" noGrp="1"/>
          </p:cNvSpPr>
          <p:nvPr/>
        </p:nvSpPr>
        <p:spPr>
          <a:xfrm xmlns:a="http://schemas.openxmlformats.org/drawingml/2006/main">
            <a:off x="590550" y="636270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7B9C"/>
                </a:solidFill>
                <a:latin typeface="Nimbus Sans"/>
                <a:ea typeface="Nimbus Sans"/>
                <a:cs typeface="Nimbus Sans"/>
              </a:defRPr>
            </a:defPPr>
          </a:lstStyle>
          <a:p xmlns:a="http://schemas.openxmlformats.org/drawingml/2006/main">
            <a:pPr algn="l">
              <a:buNone/>
              <a:defRPr sz="1050" b="0">
                <a:solidFill>
                  <a:srgbClr val="637B9C"/>
                </a:solidFill>
                <a:latin typeface="Nimbus Sans"/>
                <a:ea typeface="Nimbus Sans"/>
                <a:cs typeface="Nimbus Sans"/>
              </a:defRPr>
            </a:pPr>
            <a:r>
              <a:rPr sz="1050" b="0">
                <a:solidFill>
                  <a:srgbClr val="637B9C"/>
                </a:solidFill>
                <a:latin typeface="Nimbus Sans"/>
                <a:ea typeface="Nimbus Sans"/>
                <a:cs typeface="Nimbus Sans"/>
              </a:rPr>
              <a:t>Pilot: nine question versions, five answers per person. Full-B: matrix rows expand into separate targets.</a:t>
            </a:r>
          </a:p>
        </p:txBody>
      </p:sp>
      <p:sp>
        <p:nvSpPr>
          <p:cNvPr id="5" name="05">
            <a:extLst xmlns:a="http://schemas.openxmlformats.org/drawingml/2006/main">
              <a:ext uri="{FF2B5EF4-FFF2-40B4-BE49-F238E27FC236}">
                <a16:creationId xmlns:a16="http://schemas.microsoft.com/office/drawing/2014/main" id="{368C3052-2FC4-4EC9-9967-CA406DB93EC1}"/>
              </a:ext>
            </a:extLst>
          </p:cNvPr>
          <p:cNvSpPr>
            <a:spLocks xmlns:a="http://schemas.openxmlformats.org/drawingml/2006/main" noGrp="1"/>
          </p:cNvSpPr>
          <p:nvPr/>
        </p:nvSpPr>
        <p:spPr>
          <a:xfrm xmlns:a="http://schemas.openxmlformats.org/drawingml/2006/main">
            <a:off x="11182350"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37B9C"/>
                </a:solidFill>
                <a:latin typeface="Nimbus Sans"/>
                <a:ea typeface="Nimbus Sans"/>
                <a:cs typeface="Nimbus Sans"/>
              </a:defRPr>
            </a:defPPr>
          </a:lstStyle>
          <a:p xmlns:a="http://schemas.openxmlformats.org/drawingml/2006/main">
            <a:pPr algn="r">
              <a:buNone/>
              <a:defRPr sz="1125" b="0">
                <a:solidFill>
                  <a:srgbClr val="637B9C"/>
                </a:solidFill>
                <a:latin typeface="Nimbus Sans"/>
                <a:ea typeface="Nimbus Sans"/>
                <a:cs typeface="Nimbus Sans"/>
              </a:defRPr>
            </a:pPr>
            <a:r>
              <a:rPr sz="1125" b="0">
                <a:solidFill>
                  <a:srgbClr val="637B9C"/>
                </a:solidFill>
                <a:latin typeface="Nimbus Sans"/>
                <a:ea typeface="Nimbus Sans"/>
                <a:cs typeface="Nimbus Sans"/>
              </a:rPr>
              <a:t>07</a:t>
            </a:r>
          </a:p>
        </p:txBody>
      </p:sp>
      <p:graphicFrame>
        <p:nvGraphicFramePr>
          <p:cNvPr id="6" name="">
            <a:extLst xmlns:a="http://schemas.openxmlformats.org/drawingml/2006/main">
              <a:ext uri="{FF2B5EF4-FFF2-40B4-BE49-F238E27FC236}">
                <a16:creationId xmlns:a16="http://schemas.microsoft.com/office/drawing/2014/main" id="{F9DA2A28-98CE-4FBA-AB72-3E8BAD1400A8}"/>
              </a:ext>
            </a:extLst>
          </p:cNvPr>
          <p:cNvGraphicFramePr/>
          <p:nvPr/>
        </p:nvGraphicFramePr>
        <p:xfrm>
          <a:off xmlns:a="http://schemas.openxmlformats.org/drawingml/2006/main" x="609600" y="1543050"/>
          <a:ext xmlns:a="http://schemas.openxmlformats.org/drawingml/2006/main" cx="10972800" cy="3867150"/>
        </p:xfrm>
        <a:graphic xmlns:a="http://schemas.openxmlformats.org/drawingml/2006/main">
          <a:graphicData uri="http://schemas.openxmlformats.org/drawingml/2006/table">
            <a:tbl>
              <a:tblPr/>
              <a:tblGrid>
                <a:gridCol w="2867025"/>
                <a:gridCol w="3581400"/>
                <a:gridCol w="4524375"/>
              </a:tblGrid>
              <a:tr h="552450">
                <a:tc>
                  <a:txBody>
                    <a:bodyPr/>
                    <a:lstStyle/>
                    <a:p>
                      <a:pPr algn="l">
                        <a:buNone/>
                      </a:pPr>
                      <a:r>
                        <a:rPr sz="1725" b="1">
                          <a:solidFill>
                            <a:srgbClr val="061747"/>
                          </a:solidFill>
                          <a:latin typeface="Nimbus Sans"/>
                          <a:ea typeface="Nimbus Sans"/>
                          <a:cs typeface="Nimbus Sans"/>
                        </a:rPr>
                        <a:t>Setting</a:t>
                      </a:r>
                    </a:p>
                  </a:txBody>
                  <a:tcPr marL="133350" marR="114300" marT="95250" marB="95250" anchor="ctr">
                    <a:lnL w="7620">
                      <a:solidFill>
                        <a:srgbClr val="C9DAEB"/>
                      </a:solidFill>
                      <a:prstDash val="solid"/>
                    </a:lnL>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725" b="1">
                          <a:solidFill>
                            <a:srgbClr val="061747"/>
                          </a:solidFill>
                          <a:latin typeface="Nimbus Sans"/>
                          <a:ea typeface="Nimbus Sans"/>
                          <a:cs typeface="Nimbus Sans"/>
                        </a:rPr>
                        <a:t>Binary-choice pilot</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725" b="1">
                          <a:solidFill>
                            <a:srgbClr val="061747"/>
                          </a:solidFill>
                          <a:latin typeface="Nimbus Sans"/>
                          <a:ea typeface="Nimbus Sans"/>
                          <a:cs typeface="Nimbus Sans"/>
                        </a:rPr>
                        <a:t>Full-B Qwen LoRA</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r>
              <a:tr h="552450">
                <a:tc>
                  <a:txBody>
                    <a:bodyPr/>
                    <a:lstStyle/>
                    <a:p>
                      <a:pPr algn="l">
                        <a:buNone/>
                      </a:pPr>
                      <a:r>
                        <a:rPr sz="1650" b="0">
                          <a:solidFill>
                            <a:srgbClr val="061747"/>
                          </a:solidFill>
                          <a:latin typeface="Nimbus Sans"/>
                          <a:ea typeface="Nimbus Sans"/>
                          <a:cs typeface="Nimbus Sans"/>
                        </a:rPr>
                        <a:t>Training examples</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7,200</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138,264 scalar answers</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52450">
                <a:tc>
                  <a:txBody>
                    <a:bodyPr/>
                    <a:lstStyle/>
                    <a:p>
                      <a:pPr algn="l">
                        <a:buNone/>
                      </a:pPr>
                      <a:r>
                        <a:rPr sz="1650" b="0">
                          <a:solidFill>
                            <a:srgbClr val="061747"/>
                          </a:solidFill>
                          <a:latin typeface="Nimbus Sans"/>
                          <a:ea typeface="Nimbus Sans"/>
                          <a:cs typeface="Nimbus Sans"/>
                        </a:rPr>
                        <a:t>Validation examples</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1,545</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29,690</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r h="552450">
                <a:tc>
                  <a:txBody>
                    <a:bodyPr/>
                    <a:lstStyle/>
                    <a:p>
                      <a:pPr algn="l">
                        <a:buNone/>
                      </a:pPr>
                      <a:r>
                        <a:rPr sz="1650" b="0">
                          <a:solidFill>
                            <a:srgbClr val="061747"/>
                          </a:solidFill>
                          <a:latin typeface="Nimbus Sans"/>
                          <a:ea typeface="Nimbus Sans"/>
                          <a:cs typeface="Nimbus Sans"/>
                        </a:rPr>
                        <a:t>Models</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Qwen 494.03M / Liquid 354.48M</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Qwen2.5-0.5B-Instruct</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52450">
                <a:tc>
                  <a:txBody>
                    <a:bodyPr/>
                    <a:lstStyle/>
                    <a:p>
                      <a:pPr algn="l">
                        <a:buNone/>
                      </a:pPr>
                      <a:r>
                        <a:rPr sz="1650" b="0">
                          <a:solidFill>
                            <a:srgbClr val="061747"/>
                          </a:solidFill>
                          <a:latin typeface="Nimbus Sans"/>
                          <a:ea typeface="Nimbus Sans"/>
                          <a:cs typeface="Nimbus Sans"/>
                        </a:rPr>
                        <a:t>Training method</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LoRA and full fine-tuning</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Rank 8, alpha 16, dropout 0.05</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r h="552450">
                <a:tc>
                  <a:txBody>
                    <a:bodyPr/>
                    <a:lstStyle/>
                    <a:p>
                      <a:pPr algn="l">
                        <a:buNone/>
                      </a:pPr>
                      <a:r>
                        <a:rPr sz="1650" b="0">
                          <a:solidFill>
                            <a:srgbClr val="061747"/>
                          </a:solidFill>
                          <a:latin typeface="Nimbus Sans"/>
                          <a:ea typeface="Nimbus Sans"/>
                          <a:cs typeface="Nimbus Sans"/>
                        </a:rPr>
                        <a:t>Selected model</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Full FT: epoch 2 of 3</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Fixed epoch 1, step 4,321</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52450">
                <a:tc>
                  <a:txBody>
                    <a:bodyPr/>
                    <a:lstStyle/>
                    <a:p>
                      <a:pPr algn="l">
                        <a:buNone/>
                      </a:pPr>
                      <a:r>
                        <a:rPr sz="1650" b="0">
                          <a:solidFill>
                            <a:srgbClr val="061747"/>
                          </a:solidFill>
                          <a:latin typeface="Nimbus Sans"/>
                          <a:ea typeface="Nimbus Sans"/>
                          <a:cs typeface="Nimbus Sans"/>
                        </a:rPr>
                        <a:t>Full-B optimization</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LR 1e−4, batch 16 × accum. 2</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bl>
          </a:graphicData>
        </a:graphic>
      </p:graphicFrame>
      <p:sp>
        <p:nvSpPr>
          <p:cNvPr id="7" name="Full-B total parameters: 498.43M, including 4.40M LoRA parameter">
            <a:extLst xmlns:a="http://schemas.openxmlformats.org/drawingml/2006/main">
              <a:ext uri="{FF2B5EF4-FFF2-40B4-BE49-F238E27FC236}">
                <a16:creationId xmlns:a16="http://schemas.microsoft.com/office/drawing/2014/main" id="{0C53BACC-7FD5-4194-9B4A-86AE1AFA54A4}"/>
              </a:ext>
            </a:extLst>
          </p:cNvPr>
          <p:cNvSpPr>
            <a:spLocks xmlns:a="http://schemas.openxmlformats.org/drawingml/2006/main" noGrp="1"/>
          </p:cNvSpPr>
          <p:nvPr/>
        </p:nvSpPr>
        <p:spPr>
          <a:xfrm xmlns:a="http://schemas.openxmlformats.org/drawingml/2006/main">
            <a:off x="619125" y="5657850"/>
            <a:ext cx="1095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9E9A"/>
                </a:solidFill>
                <a:latin typeface="Nimbus Sans"/>
                <a:ea typeface="Nimbus Sans"/>
                <a:cs typeface="Nimbus Sans"/>
              </a:defRPr>
            </a:defPPr>
          </a:lstStyle>
          <a:p xmlns:a="http://schemas.openxmlformats.org/drawingml/2006/main">
            <a:pPr algn="l">
              <a:buNone/>
              <a:defRPr sz="1725" b="1">
                <a:solidFill>
                  <a:srgbClr val="009E9A"/>
                </a:solidFill>
                <a:latin typeface="Nimbus Sans"/>
                <a:ea typeface="Nimbus Sans"/>
                <a:cs typeface="Nimbus Sans"/>
              </a:defRPr>
            </a:pPr>
            <a:r>
              <a:rPr sz="1725" b="1">
                <a:solidFill>
                  <a:srgbClr val="009E9A"/>
                </a:solidFill>
                <a:latin typeface="Nimbus Sans"/>
                <a:ea typeface="Nimbus Sans"/>
                <a:cs typeface="Nimbus Sans"/>
              </a:rPr>
              <a:t>Full-B total parameters: 498.43M, including 4.40M LoRA parameters</a:t>
            </a:r>
          </a:p>
        </p:txBody>
      </p:sp>
    </p:spTree>
    <p:extLst>
      <p:ext uri="{BB962C8B-B14F-4D97-AF65-F5344CB8AC3E}">
        <p14:creationId xmlns:p14="http://schemas.microsoft.com/office/powerpoint/2010/main" val="172939289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Nine-question pilot results">
            <a:extLst xmlns:a="http://schemas.openxmlformats.org/drawingml/2006/main">
              <a:ext uri="{FF2B5EF4-FFF2-40B4-BE49-F238E27FC236}">
                <a16:creationId xmlns:a16="http://schemas.microsoft.com/office/drawing/2014/main" id="{B110EBD5-32B0-4BBB-95F5-8BFF22797B60}"/>
              </a:ext>
            </a:extLst>
          </p:cNvPr>
          <p:cNvSpPr>
            <a:spLocks xmlns:a="http://schemas.openxmlformats.org/drawingml/2006/main" noGrp="1"/>
          </p:cNvSpPr>
          <p:nvPr/>
        </p:nvSpPr>
        <p:spPr>
          <a:xfrm xmlns:a="http://schemas.openxmlformats.org/drawingml/2006/main">
            <a:off x="571500" y="285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61747"/>
                </a:solidFill>
                <a:latin typeface="Nimbus Sans"/>
                <a:ea typeface="Nimbus Sans"/>
                <a:cs typeface="Nimbus Sans"/>
              </a:defRPr>
            </a:defPPr>
          </a:lstStyle>
          <a:p xmlns:a="http://schemas.openxmlformats.org/drawingml/2006/main">
            <a:pPr algn="l">
              <a:buNone/>
              <a:defRPr sz="3075" b="1">
                <a:solidFill>
                  <a:srgbClr val="061747"/>
                </a:solidFill>
                <a:latin typeface="Nimbus Sans"/>
                <a:ea typeface="Nimbus Sans"/>
                <a:cs typeface="Nimbus Sans"/>
              </a:defRPr>
            </a:pPr>
            <a:r>
              <a:rPr sz="3075" b="1">
                <a:solidFill>
                  <a:srgbClr val="061747"/>
                </a:solidFill>
                <a:latin typeface="Nimbus Sans"/>
                <a:ea typeface="Nimbus Sans"/>
                <a:cs typeface="Nimbus Sans"/>
              </a:rPr>
              <a:t>Binary-choice pilot</a:t>
            </a:r>
            <a:r>
              <a:rPr sz="3075" b="1">
                <a:solidFill>
                  <a:srgbClr val="061747"/>
                </a:solidFill>
                <a:latin typeface="Nimbus Sans"/>
                <a:ea typeface="Nimbus Sans"/>
                <a:cs typeface="Nimbus Sans"/>
              </a:rPr>
              <a:t> results</a:t>
            </a:r>
          </a:p>
        </p:txBody>
      </p:sp>
      <p:sp>
        <p:nvSpPr>
          <p:cNvPr id="2" name="Question-macro accuracy against C on the same 309 validation par">
            <a:extLst xmlns:a="http://schemas.openxmlformats.org/drawingml/2006/main">
              <a:ext uri="{FF2B5EF4-FFF2-40B4-BE49-F238E27FC236}">
                <a16:creationId xmlns:a16="http://schemas.microsoft.com/office/drawing/2014/main" id="{7220CB36-9428-4B49-878A-A3580F913657}"/>
              </a:ext>
            </a:extLst>
          </p:cNvPr>
          <p:cNvSpPr>
            <a:spLocks xmlns:a="http://schemas.openxmlformats.org/drawingml/2006/main" noGrp="1"/>
          </p:cNvSpPr>
          <p:nvPr/>
        </p:nvSpPr>
        <p:spPr>
          <a:xfrm xmlns:a="http://schemas.openxmlformats.org/drawingml/2006/main">
            <a:off x="590550" y="914400"/>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Question-macro accuracy against C on the same 309 validation participants</a:t>
            </a:r>
          </a:p>
        </p:txBody>
      </p:sp>
      <p:sp>
        <p:nvSpPr>
          <p:cNvPr id="3" name="">
            <a:extLst xmlns:a="http://schemas.openxmlformats.org/drawingml/2006/main">
              <a:ext uri="{FF2B5EF4-FFF2-40B4-BE49-F238E27FC236}">
                <a16:creationId xmlns:a16="http://schemas.microsoft.com/office/drawing/2014/main" id="{E68B3F46-C1EF-4D3E-88C7-D79CA63626C3}"/>
              </a:ext>
            </a:extLst>
          </p:cNvPr>
          <p:cNvSpPr>
            <a:spLocks xmlns:a="http://schemas.openxmlformats.org/drawingml/2006/main" noGrp="1"/>
          </p:cNvSpPr>
          <p:nvPr/>
        </p:nvSpPr>
        <p:spPr>
          <a:xfrm xmlns:a="http://schemas.openxmlformats.org/drawingml/2006/main">
            <a:off x="571500" y="6229350"/>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4" name="Zero-shot, LoRA and full fine-tuning here use only the original ">
            <a:extLst xmlns:a="http://schemas.openxmlformats.org/drawingml/2006/main">
              <a:ext uri="{FF2B5EF4-FFF2-40B4-BE49-F238E27FC236}">
                <a16:creationId xmlns:a16="http://schemas.microsoft.com/office/drawing/2014/main" id="{14E79BA4-EAD8-4E1D-A802-8480009CE9B9}"/>
              </a:ext>
            </a:extLst>
          </p:cNvPr>
          <p:cNvSpPr>
            <a:spLocks xmlns:a="http://schemas.openxmlformats.org/drawingml/2006/main" noGrp="1"/>
          </p:cNvSpPr>
          <p:nvPr/>
        </p:nvSpPr>
        <p:spPr>
          <a:xfrm xmlns:a="http://schemas.openxmlformats.org/drawingml/2006/main">
            <a:off x="590550" y="636270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7B9C"/>
                </a:solidFill>
                <a:latin typeface="Nimbus Sans"/>
                <a:ea typeface="Nimbus Sans"/>
                <a:cs typeface="Nimbus Sans"/>
              </a:defRPr>
            </a:defPPr>
          </a:lstStyle>
          <a:p xmlns:a="http://schemas.openxmlformats.org/drawingml/2006/main">
            <a:pPr algn="l">
              <a:buNone/>
              <a:defRPr sz="1050" b="0">
                <a:solidFill>
                  <a:srgbClr val="637B9C"/>
                </a:solidFill>
                <a:latin typeface="Nimbus Sans"/>
                <a:ea typeface="Nimbus Sans"/>
                <a:cs typeface="Nimbus Sans"/>
              </a:defRPr>
            </a:pPr>
            <a:r>
              <a:rPr sz="1050" b="0">
                <a:solidFill>
                  <a:srgbClr val="637B9C"/>
                </a:solidFill>
                <a:latin typeface="Nimbus Sans"/>
                <a:ea typeface="Nimbus Sans"/>
                <a:cs typeface="Nimbus Sans"/>
              </a:rPr>
              <a:t>Pilot scope: nine binary question versions, five answers per person. Baseline: training majority per version.</a:t>
            </a:r>
          </a:p>
        </p:txBody>
      </p:sp>
      <p:sp>
        <p:nvSpPr>
          <p:cNvPr id="5" name="06">
            <a:extLst xmlns:a="http://schemas.openxmlformats.org/drawingml/2006/main">
              <a:ext uri="{FF2B5EF4-FFF2-40B4-BE49-F238E27FC236}">
                <a16:creationId xmlns:a16="http://schemas.microsoft.com/office/drawing/2014/main" id="{C3DF2B3F-39CE-41F2-B0F9-68C7545556E8}"/>
              </a:ext>
            </a:extLst>
          </p:cNvPr>
          <p:cNvSpPr>
            <a:spLocks xmlns:a="http://schemas.openxmlformats.org/drawingml/2006/main" noGrp="1"/>
          </p:cNvSpPr>
          <p:nvPr/>
        </p:nvSpPr>
        <p:spPr>
          <a:xfrm xmlns:a="http://schemas.openxmlformats.org/drawingml/2006/main">
            <a:off x="11182350"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37B9C"/>
                </a:solidFill>
                <a:latin typeface="Nimbus Sans"/>
                <a:ea typeface="Nimbus Sans"/>
                <a:cs typeface="Nimbus Sans"/>
              </a:defRPr>
            </a:defPPr>
          </a:lstStyle>
          <a:p xmlns:a="http://schemas.openxmlformats.org/drawingml/2006/main">
            <a:pPr algn="r">
              <a:buNone/>
              <a:defRPr sz="1125" b="0">
                <a:solidFill>
                  <a:srgbClr val="637B9C"/>
                </a:solidFill>
                <a:latin typeface="Nimbus Sans"/>
                <a:ea typeface="Nimbus Sans"/>
                <a:cs typeface="Nimbus Sans"/>
              </a:defRPr>
            </a:pPr>
            <a:r>
              <a:rPr sz="1125" b="0">
                <a:solidFill>
                  <a:srgbClr val="637B9C"/>
                </a:solidFill>
                <a:latin typeface="Nimbus Sans"/>
                <a:ea typeface="Nimbus Sans"/>
                <a:cs typeface="Nimbus Sans"/>
              </a:rPr>
              <a:t>08</a:t>
            </a:r>
          </a:p>
        </p:txBody>
      </p:sp>
      <p:graphicFrame>
        <p:nvGraphicFramePr>
          <p:cNvPr id="6" name="">
            <a:extLst xmlns:a="http://schemas.openxmlformats.org/drawingml/2006/main">
              <a:ext uri="{FF2B5EF4-FFF2-40B4-BE49-F238E27FC236}">
                <a16:creationId xmlns:a16="http://schemas.microsoft.com/office/drawing/2014/main" id="{9DC64CBD-9E3B-4D32-A408-EE5CC5712581}"/>
              </a:ext>
            </a:extLst>
          </p:cNvPr>
          <p:cNvGraphicFramePr/>
          <p:nvPr/>
        </p:nvGraphicFramePr>
        <p:xfrm>
          <a:off xmlns:a="http://schemas.openxmlformats.org/drawingml/2006/main" x="609600" y="1704975"/>
          <a:ext xmlns:a="http://schemas.openxmlformats.org/drawingml/2006/main" cx="10972800" cy="2343150"/>
        </p:xfrm>
        <a:graphic xmlns:a="http://schemas.openxmlformats.org/drawingml/2006/main">
          <a:graphicData uri="http://schemas.openxmlformats.org/drawingml/2006/table">
            <a:tbl>
              <a:tblPr/>
              <a:tblGrid>
                <a:gridCol w="4000500"/>
                <a:gridCol w="2324100"/>
                <a:gridCol w="2324100"/>
                <a:gridCol w="2324100"/>
              </a:tblGrid>
              <a:tr h="781050">
                <a:tc>
                  <a:txBody>
                    <a:bodyPr/>
                    <a:lstStyle/>
                    <a:p>
                      <a:pPr algn="l">
                        <a:buNone/>
                      </a:pPr>
                      <a:r>
                        <a:rPr sz="1800" b="1">
                          <a:solidFill>
                            <a:srgbClr val="061747"/>
                          </a:solidFill>
                          <a:latin typeface="Nimbus Sans"/>
                          <a:ea typeface="Nimbus Sans"/>
                          <a:cs typeface="Nimbus Sans"/>
                        </a:rPr>
                        <a:t>Model</a:t>
                      </a:r>
                    </a:p>
                  </a:txBody>
                  <a:tcPr marL="133350" marR="114300" marT="95250" marB="95250" anchor="ctr">
                    <a:lnL w="7620">
                      <a:solidFill>
                        <a:srgbClr val="C9DAEB"/>
                      </a:solidFill>
                      <a:prstDash val="solid"/>
                    </a:lnL>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800" b="1">
                          <a:solidFill>
                            <a:srgbClr val="061747"/>
                          </a:solidFill>
                          <a:latin typeface="Nimbus Sans"/>
                          <a:ea typeface="Nimbus Sans"/>
                          <a:cs typeface="Nimbus Sans"/>
                        </a:rPr>
                        <a:t>Zero-shot</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800" b="1">
                          <a:solidFill>
                            <a:srgbClr val="061747"/>
                          </a:solidFill>
                          <a:latin typeface="Nimbus Sans"/>
                          <a:ea typeface="Nimbus Sans"/>
                          <a:cs typeface="Nimbus Sans"/>
                        </a:rPr>
                        <a:t>LoRA</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800" b="1">
                          <a:solidFill>
                            <a:srgbClr val="061747"/>
                          </a:solidFill>
                          <a:latin typeface="Nimbus Sans"/>
                          <a:ea typeface="Nimbus Sans"/>
                          <a:cs typeface="Nimbus Sans"/>
                        </a:rPr>
                        <a:t>Full fine-tuning</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r>
              <a:tr h="781050">
                <a:tc>
                  <a:txBody>
                    <a:bodyPr/>
                    <a:lstStyle/>
                    <a:p>
                      <a:pPr algn="l">
                        <a:buNone/>
                      </a:pPr>
                      <a:r>
                        <a:rPr sz="2175" b="0">
                          <a:solidFill>
                            <a:srgbClr val="061747"/>
                          </a:solidFill>
                          <a:latin typeface="Nimbus Sans"/>
                          <a:ea typeface="Nimbus Sans"/>
                          <a:cs typeface="Nimbus Sans"/>
                        </a:rPr>
                        <a:t>Qwen2.5-0.5B-Instruct</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2175" b="0">
                          <a:solidFill>
                            <a:srgbClr val="061747"/>
                          </a:solidFill>
                          <a:latin typeface="Nimbus Sans"/>
                          <a:ea typeface="Nimbus Sans"/>
                          <a:cs typeface="Nimbus Sans"/>
                        </a:rPr>
                        <a:t>44.76%</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2175" b="0">
                          <a:solidFill>
                            <a:srgbClr val="061747"/>
                          </a:solidFill>
                          <a:latin typeface="Nimbus Sans"/>
                          <a:ea typeface="Nimbus Sans"/>
                          <a:cs typeface="Nimbus Sans"/>
                        </a:rPr>
                        <a:t>65.74%</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2175" b="0">
                          <a:solidFill>
                            <a:srgbClr val="061747"/>
                          </a:solidFill>
                          <a:latin typeface="Nimbus Sans"/>
                          <a:ea typeface="Nimbus Sans"/>
                          <a:cs typeface="Nimbus Sans"/>
                        </a:rPr>
                        <a:t>72.52%</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781050">
                <a:tc>
                  <a:txBody>
                    <a:bodyPr/>
                    <a:lstStyle/>
                    <a:p>
                      <a:pPr algn="l">
                        <a:buNone/>
                      </a:pPr>
                      <a:r>
                        <a:rPr sz="2175" b="0">
                          <a:solidFill>
                            <a:srgbClr val="061747"/>
                          </a:solidFill>
                          <a:latin typeface="Nimbus Sans"/>
                          <a:ea typeface="Nimbus Sans"/>
                          <a:cs typeface="Nimbus Sans"/>
                        </a:rPr>
                        <a:t>Liquid model, 354.48M</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2175" b="0">
                          <a:solidFill>
                            <a:srgbClr val="061747"/>
                          </a:solidFill>
                          <a:latin typeface="Nimbus Sans"/>
                          <a:ea typeface="Nimbus Sans"/>
                          <a:cs typeface="Nimbus Sans"/>
                        </a:rPr>
                        <a:t>51.00%</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2175" b="0">
                          <a:solidFill>
                            <a:srgbClr val="061747"/>
                          </a:solidFill>
                          <a:latin typeface="Nimbus Sans"/>
                          <a:ea typeface="Nimbus Sans"/>
                          <a:cs typeface="Nimbus Sans"/>
                        </a:rPr>
                        <a:t>66.42%</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2175" b="0">
                          <a:solidFill>
                            <a:srgbClr val="061747"/>
                          </a:solidFill>
                          <a:latin typeface="Nimbus Sans"/>
                          <a:ea typeface="Nimbus Sans"/>
                          <a:cs typeface="Nimbus Sans"/>
                        </a:rPr>
                        <a:t>72.52%</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bl>
          </a:graphicData>
        </a:graphic>
      </p:graphicFrame>
      <p:sp>
        <p:nvSpPr>
          <p:cNvPr id="7" name="content-surface">
            <a:extLst xmlns:a="http://schemas.openxmlformats.org/drawingml/2006/main">
              <a:ext uri="{FF2B5EF4-FFF2-40B4-BE49-F238E27FC236}">
                <a16:creationId xmlns:a16="http://schemas.microsoft.com/office/drawing/2014/main" id="{84F43AC7-8937-4317-B750-6FE2D2C46953}"/>
              </a:ext>
            </a:extLst>
          </p:cNvPr>
          <p:cNvSpPr>
            <a:spLocks xmlns:a="http://schemas.openxmlformats.org/drawingml/2006/main" noGrp="1"/>
          </p:cNvSpPr>
          <p:nvPr/>
        </p:nvSpPr>
        <p:spPr>
          <a:xfrm xmlns:a="http://schemas.openxmlformats.org/drawingml/2006/main">
            <a:off x="609600" y="4505325"/>
            <a:ext cx="5286375" cy="1200150"/>
          </a:xfrm>
          <a:prstGeom xmlns:a="http://schemas.openxmlformats.org/drawingml/2006/main" prst="roundRect">
            <a:avLst>
              <a:gd name="adj" fmla="val 11111"/>
            </a:avLst>
          </a:prstGeom>
          <a:solidFill xmlns:a="http://schemas.openxmlformats.org/drawingml/2006/main">
            <a:srgbClr val="EFFBFA"/>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8" name="Training majority baseline">
            <a:extLst xmlns:a="http://schemas.openxmlformats.org/drawingml/2006/main">
              <a:ext uri="{FF2B5EF4-FFF2-40B4-BE49-F238E27FC236}">
                <a16:creationId xmlns:a16="http://schemas.microsoft.com/office/drawing/2014/main" id="{CF9CE06B-9581-4D69-AFA2-BBBB427E1EA9}"/>
              </a:ext>
            </a:extLst>
          </p:cNvPr>
          <p:cNvSpPr>
            <a:spLocks xmlns:a="http://schemas.openxmlformats.org/drawingml/2006/main" noGrp="1"/>
          </p:cNvSpPr>
          <p:nvPr/>
        </p:nvSpPr>
        <p:spPr>
          <a:xfrm xmlns:a="http://schemas.openxmlformats.org/drawingml/2006/main">
            <a:off x="828675" y="46958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9E9A"/>
                </a:solidFill>
                <a:latin typeface="Nimbus Sans"/>
                <a:ea typeface="Nimbus Sans"/>
                <a:cs typeface="Nimbus Sans"/>
              </a:defRPr>
            </a:defPPr>
          </a:lstStyle>
          <a:p xmlns:a="http://schemas.openxmlformats.org/drawingml/2006/main">
            <a:pPr algn="l">
              <a:buNone/>
              <a:defRPr sz="1800" b="1">
                <a:solidFill>
                  <a:srgbClr val="009E9A"/>
                </a:solidFill>
                <a:latin typeface="Nimbus Sans"/>
                <a:ea typeface="Nimbus Sans"/>
                <a:cs typeface="Nimbus Sans"/>
              </a:defRPr>
            </a:pPr>
            <a:r>
              <a:rPr sz="1800" b="1">
                <a:solidFill>
                  <a:srgbClr val="009E9A"/>
                </a:solidFill>
                <a:latin typeface="Nimbus Sans"/>
                <a:ea typeface="Nimbus Sans"/>
                <a:cs typeface="Nimbus Sans"/>
              </a:rPr>
              <a:t>Question-only baseline</a:t>
            </a:r>
          </a:p>
        </p:txBody>
      </p:sp>
      <p:sp>
        <p:nvSpPr>
          <p:cNvPr id="9" name="72.52%">
            <a:extLst xmlns:a="http://schemas.openxmlformats.org/drawingml/2006/main">
              <a:ext uri="{FF2B5EF4-FFF2-40B4-BE49-F238E27FC236}">
                <a16:creationId xmlns:a16="http://schemas.microsoft.com/office/drawing/2014/main" id="{2E0F4363-DBEB-4CF1-8A22-471B168FCA44}"/>
              </a:ext>
            </a:extLst>
          </p:cNvPr>
          <p:cNvSpPr>
            <a:spLocks xmlns:a="http://schemas.openxmlformats.org/drawingml/2006/main" noGrp="1"/>
          </p:cNvSpPr>
          <p:nvPr/>
        </p:nvSpPr>
        <p:spPr>
          <a:xfrm xmlns:a="http://schemas.openxmlformats.org/drawingml/2006/main">
            <a:off x="828675" y="5086350"/>
            <a:ext cx="4714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61747"/>
                </a:solidFill>
                <a:latin typeface="Nimbus Sans"/>
                <a:ea typeface="Nimbus Sans"/>
                <a:cs typeface="Nimbus Sans"/>
              </a:defRPr>
            </a:defPPr>
          </a:lstStyle>
          <a:p xmlns:a="http://schemas.openxmlformats.org/drawingml/2006/main">
            <a:pPr algn="l">
              <a:buNone/>
              <a:defRPr sz="3000" b="1">
                <a:solidFill>
                  <a:srgbClr val="061747"/>
                </a:solidFill>
                <a:latin typeface="Nimbus Sans"/>
                <a:ea typeface="Nimbus Sans"/>
                <a:cs typeface="Nimbus Sans"/>
              </a:defRPr>
            </a:pPr>
            <a:r>
              <a:rPr sz="3000" b="1">
                <a:solidFill>
                  <a:srgbClr val="061747"/>
                </a:solidFill>
                <a:latin typeface="Nimbus Sans"/>
                <a:ea typeface="Nimbus Sans"/>
                <a:cs typeface="Nimbus Sans"/>
              </a:rPr>
              <a:t>72.52%</a:t>
            </a:r>
          </a:p>
        </p:txBody>
      </p:sp>
      <p:sp>
        <p:nvSpPr>
          <p:cNvPr id="10" name="content-surface">
            <a:extLst xmlns:a="http://schemas.openxmlformats.org/drawingml/2006/main">
              <a:ext uri="{FF2B5EF4-FFF2-40B4-BE49-F238E27FC236}">
                <a16:creationId xmlns:a16="http://schemas.microsoft.com/office/drawing/2014/main" id="{6C9E04BA-4B65-4E9C-9405-3435D62023E7}"/>
              </a:ext>
            </a:extLst>
          </p:cNvPr>
          <p:cNvSpPr>
            <a:spLocks xmlns:a="http://schemas.openxmlformats.org/drawingml/2006/main" noGrp="1"/>
          </p:cNvSpPr>
          <p:nvPr/>
        </p:nvSpPr>
        <p:spPr>
          <a:xfrm xmlns:a="http://schemas.openxmlformats.org/drawingml/2006/main">
            <a:off x="6124575" y="4505325"/>
            <a:ext cx="5457825" cy="1200150"/>
          </a:xfrm>
          <a:prstGeom xmlns:a="http://schemas.openxmlformats.org/drawingml/2006/main" prst="roundRect">
            <a:avLst>
              <a:gd name="adj" fmla="val 11111"/>
            </a:avLst>
          </a:prstGeom>
          <a:solidFill xmlns:a="http://schemas.openxmlformats.org/drawingml/2006/main">
            <a:srgbClr val="F5F3FE"/>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1" name="Human B/C reference">
            <a:extLst xmlns:a="http://schemas.openxmlformats.org/drawingml/2006/main">
              <a:ext uri="{FF2B5EF4-FFF2-40B4-BE49-F238E27FC236}">
                <a16:creationId xmlns:a16="http://schemas.microsoft.com/office/drawing/2014/main" id="{4A389532-8799-4940-B970-EA307B3195C3}"/>
              </a:ext>
            </a:extLst>
          </p:cNvPr>
          <p:cNvSpPr>
            <a:spLocks xmlns:a="http://schemas.openxmlformats.org/drawingml/2006/main" noGrp="1"/>
          </p:cNvSpPr>
          <p:nvPr/>
        </p:nvSpPr>
        <p:spPr>
          <a:xfrm xmlns:a="http://schemas.openxmlformats.org/drawingml/2006/main">
            <a:off x="6353175" y="469582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8254F5"/>
                </a:solidFill>
                <a:latin typeface="Nimbus Sans"/>
                <a:ea typeface="Nimbus Sans"/>
                <a:cs typeface="Nimbus Sans"/>
              </a:defRPr>
            </a:defPPr>
          </a:lstStyle>
          <a:p xmlns:a="http://schemas.openxmlformats.org/drawingml/2006/main">
            <a:pPr algn="l">
              <a:buNone/>
              <a:defRPr sz="1800" b="1">
                <a:solidFill>
                  <a:srgbClr val="8254F5"/>
                </a:solidFill>
                <a:latin typeface="Nimbus Sans"/>
                <a:ea typeface="Nimbus Sans"/>
                <a:cs typeface="Nimbus Sans"/>
              </a:defRPr>
            </a:pPr>
            <a:r>
              <a:rPr sz="1800" b="1">
                <a:solidFill>
                  <a:srgbClr val="8254F5"/>
                </a:solidFill>
                <a:latin typeface="Nimbus Sans"/>
                <a:ea typeface="Nimbus Sans"/>
                <a:cs typeface="Nimbus Sans"/>
              </a:rPr>
              <a:t>Human B/C reference</a:t>
            </a:r>
          </a:p>
        </p:txBody>
      </p:sp>
      <p:sp>
        <p:nvSpPr>
          <p:cNvPr id="12" name="76.73%">
            <a:extLst xmlns:a="http://schemas.openxmlformats.org/drawingml/2006/main">
              <a:ext uri="{FF2B5EF4-FFF2-40B4-BE49-F238E27FC236}">
                <a16:creationId xmlns:a16="http://schemas.microsoft.com/office/drawing/2014/main" id="{C946EA3F-B2A8-41E0-99EA-7EB10B7010E6}"/>
              </a:ext>
            </a:extLst>
          </p:cNvPr>
          <p:cNvSpPr>
            <a:spLocks xmlns:a="http://schemas.openxmlformats.org/drawingml/2006/main" noGrp="1"/>
          </p:cNvSpPr>
          <p:nvPr/>
        </p:nvSpPr>
        <p:spPr>
          <a:xfrm xmlns:a="http://schemas.openxmlformats.org/drawingml/2006/main">
            <a:off x="6353175" y="5086350"/>
            <a:ext cx="4857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61747"/>
                </a:solidFill>
                <a:latin typeface="Nimbus Sans"/>
                <a:ea typeface="Nimbus Sans"/>
                <a:cs typeface="Nimbus Sans"/>
              </a:defRPr>
            </a:defPPr>
          </a:lstStyle>
          <a:p xmlns:a="http://schemas.openxmlformats.org/drawingml/2006/main">
            <a:pPr algn="l">
              <a:buNone/>
              <a:defRPr sz="3000" b="1">
                <a:solidFill>
                  <a:srgbClr val="061747"/>
                </a:solidFill>
                <a:latin typeface="Nimbus Sans"/>
                <a:ea typeface="Nimbus Sans"/>
                <a:cs typeface="Nimbus Sans"/>
              </a:defRPr>
            </a:pPr>
            <a:r>
              <a:rPr sz="3000" b="1">
                <a:solidFill>
                  <a:srgbClr val="061747"/>
                </a:solidFill>
                <a:latin typeface="Nimbus Sans"/>
                <a:ea typeface="Nimbus Sans"/>
                <a:cs typeface="Nimbus Sans"/>
              </a:rPr>
              <a:t>76.73%</a:t>
            </a:r>
          </a:p>
        </p:txBody>
      </p:sp>
    </p:spTree>
    <p:extLst>
      <p:ext uri="{BB962C8B-B14F-4D97-AF65-F5344CB8AC3E}">
        <p14:creationId xmlns:p14="http://schemas.microsoft.com/office/powerpoint/2010/main" val="6819557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ross-validation confirms the baseline pattern">
            <a:extLst xmlns:a="http://schemas.openxmlformats.org/drawingml/2006/main">
              <a:ext uri="{FF2B5EF4-FFF2-40B4-BE49-F238E27FC236}">
                <a16:creationId xmlns:a16="http://schemas.microsoft.com/office/drawing/2014/main" id="{7243EC4D-CBCA-4BE2-A419-1642C2402945}"/>
              </a:ext>
            </a:extLst>
          </p:cNvPr>
          <p:cNvSpPr>
            <a:spLocks xmlns:a="http://schemas.openxmlformats.org/drawingml/2006/main" noGrp="1"/>
          </p:cNvSpPr>
          <p:nvPr/>
        </p:nvSpPr>
        <p:spPr>
          <a:xfrm xmlns:a="http://schemas.openxmlformats.org/drawingml/2006/main">
            <a:off x="571500" y="285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61747"/>
                </a:solidFill>
                <a:latin typeface="Nimbus Sans"/>
                <a:ea typeface="Nimbus Sans"/>
                <a:cs typeface="Nimbus Sans"/>
              </a:defRPr>
            </a:defPPr>
          </a:lstStyle>
          <a:p xmlns:a="http://schemas.openxmlformats.org/drawingml/2006/main">
            <a:pPr algn="l">
              <a:buNone/>
              <a:defRPr sz="3075" b="1">
                <a:solidFill>
                  <a:srgbClr val="061747"/>
                </a:solidFill>
                <a:latin typeface="Nimbus Sans"/>
                <a:ea typeface="Nimbus Sans"/>
                <a:cs typeface="Nimbus Sans"/>
              </a:defRPr>
            </a:pPr>
            <a:r>
              <a:rPr sz="3075" b="1">
                <a:solidFill>
                  <a:srgbClr val="061747"/>
                </a:solidFill>
                <a:latin typeface="Nimbus Sans"/>
                <a:ea typeface="Nimbus Sans"/>
                <a:cs typeface="Nimbus Sans"/>
              </a:rPr>
              <a:t>Cross-validation confirms the baseline pattern</a:t>
            </a:r>
          </a:p>
        </p:txBody>
      </p:sp>
      <p:sp>
        <p:nvSpPr>
          <p:cNvPr id="2" name="Qwen full fine-tuning, nine-question scope">
            <a:extLst xmlns:a="http://schemas.openxmlformats.org/drawingml/2006/main">
              <a:ext uri="{FF2B5EF4-FFF2-40B4-BE49-F238E27FC236}">
                <a16:creationId xmlns:a16="http://schemas.microsoft.com/office/drawing/2014/main" id="{8BECADA2-4393-4D8D-B816-2527E9CA5418}"/>
              </a:ext>
            </a:extLst>
          </p:cNvPr>
          <p:cNvSpPr>
            <a:spLocks xmlns:a="http://schemas.openxmlformats.org/drawingml/2006/main" noGrp="1"/>
          </p:cNvSpPr>
          <p:nvPr/>
        </p:nvSpPr>
        <p:spPr>
          <a:xfrm xmlns:a="http://schemas.openxmlformats.org/drawingml/2006/main">
            <a:off x="590550" y="914400"/>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Qwen full fine-tuning on the binary-choice pilot</a:t>
            </a:r>
          </a:p>
        </p:txBody>
      </p:sp>
      <p:sp>
        <p:nvSpPr>
          <p:cNvPr id="3" name="">
            <a:extLst xmlns:a="http://schemas.openxmlformats.org/drawingml/2006/main">
              <a:ext uri="{FF2B5EF4-FFF2-40B4-BE49-F238E27FC236}">
                <a16:creationId xmlns:a16="http://schemas.microsoft.com/office/drawing/2014/main" id="{DA89D0F0-14A4-4C8C-AF29-8289DE7076F5}"/>
              </a:ext>
            </a:extLst>
          </p:cNvPr>
          <p:cNvSpPr>
            <a:spLocks xmlns:a="http://schemas.openxmlformats.org/drawingml/2006/main" noGrp="1"/>
          </p:cNvSpPr>
          <p:nvPr/>
        </p:nvSpPr>
        <p:spPr>
          <a:xfrm xmlns:a="http://schemas.openxmlformats.org/drawingml/2006/main">
            <a:off x="571500" y="6229350"/>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4" name="Development robustness check after prior validation use. Fold SD">
            <a:extLst xmlns:a="http://schemas.openxmlformats.org/drawingml/2006/main">
              <a:ext uri="{FF2B5EF4-FFF2-40B4-BE49-F238E27FC236}">
                <a16:creationId xmlns:a16="http://schemas.microsoft.com/office/drawing/2014/main" id="{C578BDEF-E72E-4BE0-BF4D-44296858D393}"/>
              </a:ext>
            </a:extLst>
          </p:cNvPr>
          <p:cNvSpPr>
            <a:spLocks xmlns:a="http://schemas.openxmlformats.org/drawingml/2006/main" noGrp="1"/>
          </p:cNvSpPr>
          <p:nvPr/>
        </p:nvSpPr>
        <p:spPr>
          <a:xfrm xmlns:a="http://schemas.openxmlformats.org/drawingml/2006/main">
            <a:off x="590550" y="636270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7B9C"/>
                </a:solidFill>
                <a:latin typeface="Nimbus Sans"/>
                <a:ea typeface="Nimbus Sans"/>
                <a:cs typeface="Nimbus Sans"/>
              </a:defRPr>
            </a:defPPr>
          </a:lstStyle>
          <a:p xmlns:a="http://schemas.openxmlformats.org/drawingml/2006/main">
            <a:pPr algn="l">
              <a:buNone/>
              <a:defRPr sz="1050" b="0">
                <a:solidFill>
                  <a:srgbClr val="637B9C"/>
                </a:solidFill>
                <a:latin typeface="Nimbus Sans"/>
                <a:ea typeface="Nimbus Sans"/>
                <a:cs typeface="Nimbus Sans"/>
              </a:defRPr>
            </a:pPr>
            <a:r>
              <a:rPr sz="1050" b="0">
                <a:solidFill>
                  <a:srgbClr val="637B9C"/>
                </a:solidFill>
                <a:latin typeface="Nimbus Sans"/>
                <a:ea typeface="Nimbus Sans"/>
                <a:cs typeface="Nimbus Sans"/>
              </a:rPr>
              <a:t>Training majority is the question-only baseline for each fold. Fold SD is descriptive, not a confidence interval.</a:t>
            </a:r>
          </a:p>
        </p:txBody>
      </p:sp>
      <p:sp>
        <p:nvSpPr>
          <p:cNvPr id="5" name="07">
            <a:extLst xmlns:a="http://schemas.openxmlformats.org/drawingml/2006/main">
              <a:ext uri="{FF2B5EF4-FFF2-40B4-BE49-F238E27FC236}">
                <a16:creationId xmlns:a16="http://schemas.microsoft.com/office/drawing/2014/main" id="{1093DBD0-1F51-48DA-99D4-3D038EC8D6E8}"/>
              </a:ext>
            </a:extLst>
          </p:cNvPr>
          <p:cNvSpPr>
            <a:spLocks xmlns:a="http://schemas.openxmlformats.org/drawingml/2006/main" noGrp="1"/>
          </p:cNvSpPr>
          <p:nvPr/>
        </p:nvSpPr>
        <p:spPr>
          <a:xfrm xmlns:a="http://schemas.openxmlformats.org/drawingml/2006/main">
            <a:off x="11182350"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37B9C"/>
                </a:solidFill>
                <a:latin typeface="Nimbus Sans"/>
                <a:ea typeface="Nimbus Sans"/>
                <a:cs typeface="Nimbus Sans"/>
              </a:defRPr>
            </a:defPPr>
          </a:lstStyle>
          <a:p xmlns:a="http://schemas.openxmlformats.org/drawingml/2006/main">
            <a:pPr algn="r">
              <a:buNone/>
              <a:defRPr sz="1125" b="0">
                <a:solidFill>
                  <a:srgbClr val="637B9C"/>
                </a:solidFill>
                <a:latin typeface="Nimbus Sans"/>
                <a:ea typeface="Nimbus Sans"/>
                <a:cs typeface="Nimbus Sans"/>
              </a:defRPr>
            </a:pPr>
            <a:r>
              <a:rPr sz="1125" b="0">
                <a:solidFill>
                  <a:srgbClr val="637B9C"/>
                </a:solidFill>
                <a:latin typeface="Nimbus Sans"/>
                <a:ea typeface="Nimbus Sans"/>
                <a:cs typeface="Nimbus Sans"/>
              </a:rPr>
              <a:t>09</a:t>
            </a:r>
          </a:p>
        </p:txBody>
      </p:sp>
      <p:graphicFrame>
        <p:nvGraphicFramePr>
          <p:cNvPr id="6" name="Chart">
            <a:extLst xmlns:a="http://schemas.openxmlformats.org/drawingml/2006/main">
              <a:ext uri="{FF2B5EF4-FFF2-40B4-BE49-F238E27FC236}">
                <a16:creationId xmlns:a16="http://schemas.microsoft.com/office/drawing/2014/main" id="{A82CF6B8-6837-45C8-9C45-151A97DE70AA}"/>
              </a:ext>
            </a:extLst>
          </p:cNvPr>
          <p:cNvGraphicFramePr/>
          <p:nvPr/>
        </p:nvGraphicFramePr>
        <p:xfrm>
          <a:off xmlns:a="http://schemas.openxmlformats.org/drawingml/2006/main" x="581025" y="1666875"/>
          <a:ext xmlns:a="http://schemas.openxmlformats.org/drawingml/2006/main" cx="7239000" cy="3810000"/>
        </p:xfrm>
        <a:graphic xmlns:a="http://schemas.openxmlformats.org/drawingml/2006/main">
          <a:graphicData uri="http://schemas.openxmlformats.org/drawingml/2006/chart">
            <c:chart xmlns:r="http://schemas.openxmlformats.org/officeDocument/2006/relationships" xmlns:c="http://schemas.openxmlformats.org/drawingml/2006/chart" r:id="R34adb2070cf240fc"/>
          </a:graphicData>
        </a:graphic>
      </p:graphicFrame>
      <p:sp>
        <p:nvSpPr>
          <p:cNvPr id="7" name="content-surface">
            <a:extLst xmlns:a="http://schemas.openxmlformats.org/drawingml/2006/main">
              <a:ext uri="{FF2B5EF4-FFF2-40B4-BE49-F238E27FC236}">
                <a16:creationId xmlns:a16="http://schemas.microsoft.com/office/drawing/2014/main" id="{9F3CFBA6-263B-4AA1-B984-84D104AA6C94}"/>
              </a:ext>
            </a:extLst>
          </p:cNvPr>
          <p:cNvSpPr>
            <a:spLocks xmlns:a="http://schemas.openxmlformats.org/drawingml/2006/main" noGrp="1"/>
          </p:cNvSpPr>
          <p:nvPr/>
        </p:nvSpPr>
        <p:spPr>
          <a:xfrm xmlns:a="http://schemas.openxmlformats.org/drawingml/2006/main">
            <a:off x="8239125" y="1704975"/>
            <a:ext cx="3333750" cy="3552825"/>
          </a:xfrm>
          <a:prstGeom xmlns:a="http://schemas.openxmlformats.org/drawingml/2006/main" prst="roundRect">
            <a:avLst>
              <a:gd name="adj" fmla="val 4000"/>
            </a:avLst>
          </a:prstGeom>
          <a:solidFill xmlns:a="http://schemas.openxmlformats.org/drawingml/2006/main">
            <a:srgbClr val="F5F3FE"/>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8" name="72.39%">
            <a:extLst xmlns:a="http://schemas.openxmlformats.org/drawingml/2006/main">
              <a:ext uri="{FF2B5EF4-FFF2-40B4-BE49-F238E27FC236}">
                <a16:creationId xmlns:a16="http://schemas.microsoft.com/office/drawing/2014/main" id="{BB71C78F-8D45-4909-AE05-55F314899E2C}"/>
              </a:ext>
            </a:extLst>
          </p:cNvPr>
          <p:cNvSpPr>
            <a:spLocks xmlns:a="http://schemas.openxmlformats.org/drawingml/2006/main" noGrp="1"/>
          </p:cNvSpPr>
          <p:nvPr/>
        </p:nvSpPr>
        <p:spPr>
          <a:xfrm xmlns:a="http://schemas.openxmlformats.org/drawingml/2006/main">
            <a:off x="8477250" y="1952625"/>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8254F5"/>
                </a:solidFill>
                <a:latin typeface="Nimbus Sans"/>
                <a:ea typeface="Nimbus Sans"/>
                <a:cs typeface="Nimbus Sans"/>
              </a:defRPr>
            </a:defPPr>
          </a:lstStyle>
          <a:p xmlns:a="http://schemas.openxmlformats.org/drawingml/2006/main">
            <a:pPr algn="l">
              <a:buNone/>
              <a:defRPr sz="3600" b="1">
                <a:solidFill>
                  <a:srgbClr val="8254F5"/>
                </a:solidFill>
                <a:latin typeface="Nimbus Sans"/>
                <a:ea typeface="Nimbus Sans"/>
                <a:cs typeface="Nimbus Sans"/>
              </a:defRPr>
            </a:pPr>
            <a:r>
              <a:rPr sz="3600" b="1">
                <a:solidFill>
                  <a:srgbClr val="8254F5"/>
                </a:solidFill>
                <a:latin typeface="Nimbus Sans"/>
                <a:ea typeface="Nimbus Sans"/>
                <a:cs typeface="Nimbus Sans"/>
              </a:rPr>
              <a:t>72.39%</a:t>
            </a:r>
          </a:p>
        </p:txBody>
      </p:sp>
      <p:sp>
        <p:nvSpPr>
          <p:cNvPr id="9" name="Qwen 72.39%&#10;Majority 72.80%&#10;SD 0.64 pp across folds">
            <a:extLst xmlns:a="http://schemas.openxmlformats.org/drawingml/2006/main">
              <a:ext uri="{FF2B5EF4-FFF2-40B4-BE49-F238E27FC236}">
                <a16:creationId xmlns:a16="http://schemas.microsoft.com/office/drawing/2014/main" id="{76F75A20-8F6A-44A5-85A6-7F235757BDA5}"/>
              </a:ext>
            </a:extLst>
          </p:cNvPr>
          <p:cNvSpPr>
            <a:spLocks xmlns:a="http://schemas.openxmlformats.org/drawingml/2006/main" noGrp="1"/>
          </p:cNvSpPr>
          <p:nvPr/>
        </p:nvSpPr>
        <p:spPr>
          <a:xfrm xmlns:a="http://schemas.openxmlformats.org/drawingml/2006/main">
            <a:off x="8477250" y="2724150"/>
            <a:ext cx="2809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061747"/>
                </a:solidFill>
                <a:latin typeface="Nimbus Sans"/>
                <a:ea typeface="Nimbus Sans"/>
                <a:cs typeface="Nimbus Sans"/>
              </a:defRPr>
            </a:defPPr>
          </a:lstStyle>
          <a:p xmlns:a="http://schemas.openxmlformats.org/drawingml/2006/main">
            <a:pPr algn="l">
              <a:buNone/>
              <a:defRPr sz="1650" b="0">
                <a:solidFill>
                  <a:srgbClr val="061747"/>
                </a:solidFill>
                <a:latin typeface="Nimbus Sans"/>
                <a:ea typeface="Nimbus Sans"/>
                <a:cs typeface="Nimbus Sans"/>
              </a:defRPr>
            </a:pPr>
            <a:r>
              <a:rPr sz="1650" b="0">
                <a:solidFill>
                  <a:srgbClr val="061747"/>
                </a:solidFill>
                <a:latin typeface="Nimbus Sans"/>
                <a:ea typeface="Nimbus Sans"/>
                <a:cs typeface="Nimbus Sans"/>
              </a:rPr>
              <a:t>Qwen 72.39%</a:t>
            </a:r>
          </a:p>
          <a:p xmlns:a="http://schemas.openxmlformats.org/drawingml/2006/main">
            <a:pPr algn="l">
              <a:buNone/>
              <a:defRPr sz="1650" b="0">
                <a:solidFill>
                  <a:srgbClr val="061747"/>
                </a:solidFill>
                <a:latin typeface="Nimbus Sans"/>
                <a:ea typeface="Nimbus Sans"/>
                <a:cs typeface="Nimbus Sans"/>
              </a:defRPr>
            </a:pPr>
            <a:r>
              <a:rPr sz="1650" b="0">
                <a:solidFill>
                  <a:srgbClr val="061747"/>
                </a:solidFill>
                <a:latin typeface="Nimbus Sans"/>
                <a:ea typeface="Nimbus Sans"/>
                <a:cs typeface="Nimbus Sans"/>
              </a:rPr>
              <a:t>Majority 72.80%</a:t>
            </a:r>
          </a:p>
          <a:p xmlns:a="http://schemas.openxmlformats.org/drawingml/2006/main">
            <a:pPr algn="l">
              <a:buNone/>
              <a:defRPr sz="1650" b="0">
                <a:solidFill>
                  <a:srgbClr val="061747"/>
                </a:solidFill>
                <a:latin typeface="Nimbus Sans"/>
                <a:ea typeface="Nimbus Sans"/>
                <a:cs typeface="Nimbus Sans"/>
              </a:defRPr>
            </a:pPr>
            <a:r>
              <a:rPr sz="1650" b="0">
                <a:solidFill>
                  <a:srgbClr val="061747"/>
                </a:solidFill>
                <a:latin typeface="Nimbus Sans"/>
                <a:ea typeface="Nimbus Sans"/>
                <a:cs typeface="Nimbus Sans"/>
              </a:rPr>
              <a:t>SD 0.64 pp across folds</a:t>
            </a:r>
          </a:p>
        </p:txBody>
      </p:sp>
      <p:sp>
        <p:nvSpPr>
          <p:cNvPr id="10" name="Two folds match majority exactly.&#10;&#10;Fold 2: 46 harmful changes an">
            <a:extLst xmlns:a="http://schemas.openxmlformats.org/drawingml/2006/main">
              <a:ext uri="{FF2B5EF4-FFF2-40B4-BE49-F238E27FC236}">
                <a16:creationId xmlns:a16="http://schemas.microsoft.com/office/drawing/2014/main" id="{7A94F4C9-B571-437A-8015-5CBC42FC5023}"/>
              </a:ext>
            </a:extLst>
          </p:cNvPr>
          <p:cNvSpPr>
            <a:spLocks xmlns:a="http://schemas.openxmlformats.org/drawingml/2006/main" noGrp="1"/>
          </p:cNvSpPr>
          <p:nvPr/>
        </p:nvSpPr>
        <p:spPr>
          <a:xfrm xmlns:a="http://schemas.openxmlformats.org/drawingml/2006/main">
            <a:off x="8477250" y="3790950"/>
            <a:ext cx="27813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37B9C"/>
                </a:solidFill>
                <a:latin typeface="Nimbus Sans"/>
                <a:ea typeface="Nimbus Sans"/>
                <a:cs typeface="Nimbus Sans"/>
              </a:defRPr>
            </a:defPPr>
          </a:lstStyle>
          <a:p xmlns:a="http://schemas.openxmlformats.org/drawingml/2006/main">
            <a:pPr algn="l">
              <a:buNone/>
              <a:defRPr sz="1725" b="0">
                <a:solidFill>
                  <a:srgbClr val="637B9C"/>
                </a:solidFill>
                <a:latin typeface="Nimbus Sans"/>
                <a:ea typeface="Nimbus Sans"/>
                <a:cs typeface="Nimbus Sans"/>
              </a:defRPr>
            </a:pPr>
            <a:r>
              <a:rPr sz="1725" b="0">
                <a:solidFill>
                  <a:srgbClr val="637B9C"/>
                </a:solidFill>
                <a:latin typeface="Nimbus Sans"/>
                <a:ea typeface="Nimbus Sans"/>
                <a:cs typeface="Nimbus Sans"/>
              </a:rPr>
              <a:t>Two folds match majority exactly.</a:t>
            </a:r>
          </a:p>
          <a:p xmlns:a="http://schemas.openxmlformats.org/drawingml/2006/main">
            <a:r>
              <a:t/>
            </a:r>
          </a:p>
          <a:p xmlns:a="http://schemas.openxmlformats.org/drawingml/2006/main">
            <a:pPr algn="l">
              <a:buNone/>
              <a:defRPr sz="1725" b="0">
                <a:solidFill>
                  <a:srgbClr val="637B9C"/>
                </a:solidFill>
                <a:latin typeface="Nimbus Sans"/>
                <a:ea typeface="Nimbus Sans"/>
                <a:cs typeface="Nimbus Sans"/>
              </a:defRPr>
            </a:pPr>
            <a:r>
              <a:rPr sz="1725" b="0">
                <a:solidFill>
                  <a:srgbClr val="637B9C"/>
                </a:solidFill>
                <a:latin typeface="Nimbus Sans"/>
                <a:ea typeface="Nimbus Sans"/>
                <a:cs typeface="Nimbus Sans"/>
              </a:rPr>
              <a:t>Fold 2: 46 harmful changes and 13 helpful changes.</a:t>
            </a:r>
          </a:p>
        </p:txBody>
      </p:sp>
      <p:sp>
        <p:nvSpPr>
          <p:cNvPr id="11" name="Original-split checkpoint: every hard answer matched the majorit">
            <a:extLst xmlns:a="http://schemas.openxmlformats.org/drawingml/2006/main">
              <a:ext uri="{FF2B5EF4-FFF2-40B4-BE49-F238E27FC236}">
                <a16:creationId xmlns:a16="http://schemas.microsoft.com/office/drawing/2014/main" id="{46CF8102-E02B-41C7-A67F-4B9C6B46ECB9}"/>
              </a:ext>
            </a:extLst>
          </p:cNvPr>
          <p:cNvSpPr>
            <a:spLocks xmlns:a="http://schemas.openxmlformats.org/drawingml/2006/main" noGrp="1"/>
          </p:cNvSpPr>
          <p:nvPr/>
        </p:nvSpPr>
        <p:spPr>
          <a:xfrm xmlns:a="http://schemas.openxmlformats.org/drawingml/2006/main">
            <a:off x="619125" y="5657850"/>
            <a:ext cx="1095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9E9A"/>
                </a:solidFill>
                <a:latin typeface="Nimbus Sans"/>
                <a:ea typeface="Nimbus Sans"/>
                <a:cs typeface="Nimbus Sans"/>
              </a:defRPr>
            </a:defPPr>
          </a:lstStyle>
          <a:p xmlns:a="http://schemas.openxmlformats.org/drawingml/2006/main">
            <a:pPr algn="l">
              <a:buNone/>
              <a:defRPr sz="1725" b="1">
                <a:solidFill>
                  <a:srgbClr val="009E9A"/>
                </a:solidFill>
                <a:latin typeface="Nimbus Sans"/>
                <a:ea typeface="Nimbus Sans"/>
                <a:cs typeface="Nimbus Sans"/>
              </a:defRPr>
            </a:pPr>
            <a:r>
              <a:rPr sz="1725" b="1">
                <a:solidFill>
                  <a:srgbClr val="009E9A"/>
                </a:solidFill>
                <a:latin typeface="Nimbus Sans"/>
                <a:ea typeface="Nimbus Sans"/>
                <a:cs typeface="Nimbus Sans"/>
              </a:rPr>
              <a:t>Original-split checkpoint: every hard answer matched the majority</a:t>
            </a:r>
          </a:p>
        </p:txBody>
      </p:sp>
    </p:spTree>
    <p:extLst>
      <p:ext uri="{BB962C8B-B14F-4D97-AF65-F5344CB8AC3E}">
        <p14:creationId xmlns:p14="http://schemas.microsoft.com/office/powerpoint/2010/main" val="141211269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ull-B epoch-1 LoRA results">
            <a:extLst xmlns:a="http://schemas.openxmlformats.org/drawingml/2006/main">
              <a:ext uri="{FF2B5EF4-FFF2-40B4-BE49-F238E27FC236}">
                <a16:creationId xmlns:a16="http://schemas.microsoft.com/office/drawing/2014/main" id="{16A87A54-D374-484E-A3DC-1B4285003BAF}"/>
              </a:ext>
            </a:extLst>
          </p:cNvPr>
          <p:cNvSpPr>
            <a:spLocks xmlns:a="http://schemas.openxmlformats.org/drawingml/2006/main" noGrp="1"/>
          </p:cNvSpPr>
          <p:nvPr/>
        </p:nvSpPr>
        <p:spPr>
          <a:xfrm xmlns:a="http://schemas.openxmlformats.org/drawingml/2006/main">
            <a:off x="571500" y="285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61747"/>
                </a:solidFill>
                <a:latin typeface="Nimbus Sans"/>
                <a:ea typeface="Nimbus Sans"/>
                <a:cs typeface="Nimbus Sans"/>
              </a:defRPr>
            </a:defPPr>
          </a:lstStyle>
          <a:p xmlns:a="http://schemas.openxmlformats.org/drawingml/2006/main">
            <a:pPr algn="l">
              <a:buNone/>
              <a:defRPr sz="3075" b="1">
                <a:solidFill>
                  <a:srgbClr val="061747"/>
                </a:solidFill>
                <a:latin typeface="Nimbus Sans"/>
                <a:ea typeface="Nimbus Sans"/>
                <a:cs typeface="Nimbus Sans"/>
              </a:defRPr>
            </a:pPr>
            <a:r>
              <a:rPr sz="3075" b="1">
                <a:solidFill>
                  <a:srgbClr val="061747"/>
                </a:solidFill>
                <a:latin typeface="Nimbus Sans"/>
                <a:ea typeface="Nimbus Sans"/>
                <a:cs typeface="Nimbus Sans"/>
              </a:rPr>
              <a:t>Full-B epoch-1 LoRA results</a:t>
            </a:r>
          </a:p>
        </p:txBody>
      </p:sp>
      <p:sp>
        <p:nvSpPr>
          <p:cNvPr id="2" name="Selected groups, question-macro scores against C">
            <a:extLst xmlns:a="http://schemas.openxmlformats.org/drawingml/2006/main">
              <a:ext uri="{FF2B5EF4-FFF2-40B4-BE49-F238E27FC236}">
                <a16:creationId xmlns:a16="http://schemas.microsoft.com/office/drawing/2014/main" id="{D1118D85-80A8-4073-8DE3-79645874A965}"/>
              </a:ext>
            </a:extLst>
          </p:cNvPr>
          <p:cNvSpPr>
            <a:spLocks xmlns:a="http://schemas.openxmlformats.org/drawingml/2006/main" noGrp="1"/>
          </p:cNvSpPr>
          <p:nvPr/>
        </p:nvSpPr>
        <p:spPr>
          <a:xfrm xmlns:a="http://schemas.openxmlformats.org/drawingml/2006/main">
            <a:off x="590550" y="914400"/>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Full-B trained model, scored by question group. The pilot subset is one group.</a:t>
            </a:r>
          </a:p>
        </p:txBody>
      </p:sp>
      <p:sp>
        <p:nvSpPr>
          <p:cNvPr id="3" name="">
            <a:extLst xmlns:a="http://schemas.openxmlformats.org/drawingml/2006/main">
              <a:ext uri="{FF2B5EF4-FFF2-40B4-BE49-F238E27FC236}">
                <a16:creationId xmlns:a16="http://schemas.microsoft.com/office/drawing/2014/main" id="{026CF99C-1687-430B-A3AB-C2B97E7A3509}"/>
              </a:ext>
            </a:extLst>
          </p:cNvPr>
          <p:cNvSpPr>
            <a:spLocks xmlns:a="http://schemas.openxmlformats.org/drawingml/2006/main" noGrp="1"/>
          </p:cNvSpPr>
          <p:nvPr/>
        </p:nvSpPr>
        <p:spPr>
          <a:xfrm xmlns:a="http://schemas.openxmlformats.org/drawingml/2006/main">
            <a:off x="571500" y="6229350"/>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4" name="↑ Higher accuracy is better. ↓ Lower normalized error is better.">
            <a:extLst xmlns:a="http://schemas.openxmlformats.org/drawingml/2006/main">
              <a:ext uri="{FF2B5EF4-FFF2-40B4-BE49-F238E27FC236}">
                <a16:creationId xmlns:a16="http://schemas.microsoft.com/office/drawing/2014/main" id="{65276405-3E03-4903-BD0B-9B5F3A96ED72}"/>
              </a:ext>
            </a:extLst>
          </p:cNvPr>
          <p:cNvSpPr>
            <a:spLocks xmlns:a="http://schemas.openxmlformats.org/drawingml/2006/main" noGrp="1"/>
          </p:cNvSpPr>
          <p:nvPr/>
        </p:nvSpPr>
        <p:spPr>
          <a:xfrm xmlns:a="http://schemas.openxmlformats.org/drawingml/2006/main">
            <a:off x="590550" y="636270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7B9C"/>
                </a:solidFill>
                <a:latin typeface="Nimbus Sans"/>
                <a:ea typeface="Nimbus Sans"/>
                <a:cs typeface="Nimbus Sans"/>
              </a:defRPr>
            </a:defPPr>
          </a:lstStyle>
          <a:p xmlns:a="http://schemas.openxmlformats.org/drawingml/2006/main">
            <a:pPr algn="l">
              <a:buNone/>
              <a:defRPr sz="1050" b="0">
                <a:solidFill>
                  <a:srgbClr val="637B9C"/>
                </a:solidFill>
                <a:latin typeface="Nimbus Sans"/>
                <a:ea typeface="Nimbus Sans"/>
                <a:cs typeface="Nimbus Sans"/>
              </a:defRPr>
            </a:pPr>
            <a:r>
              <a:rPr sz="1050" b="0">
                <a:solidFill>
                  <a:srgbClr val="637B9C"/>
                </a:solidFill>
                <a:latin typeface="Nimbus Sans"/>
                <a:ea typeface="Nimbus Sans"/>
                <a:cs typeface="Nimbus Sans"/>
              </a:rPr>
              <a:t>↑ Higher accuracy is better. ↓ Lower normalized error is better. Unbounded numeric questions appear on </a:t>
            </a:r>
            <a:r>
              <a:rPr sz="1050" b="0">
                <a:solidFill>
                  <a:srgbClr val="637B9C"/>
                </a:solidFill>
                <a:latin typeface="Nimbus Sans"/>
                <a:ea typeface="Nimbus Sans"/>
                <a:cs typeface="Nimbus Sans"/>
              </a:rPr>
              <a:t>slide 16</a:t>
            </a:r>
            <a:r>
              <a:rPr sz="1050" b="0">
                <a:solidFill>
                  <a:srgbClr val="637B9C"/>
                </a:solidFill>
                <a:latin typeface="Nimbus Sans"/>
                <a:ea typeface="Nimbus Sans"/>
                <a:cs typeface="Nimbus Sans"/>
              </a:rPr>
              <a:t>.</a:t>
            </a:r>
          </a:p>
        </p:txBody>
      </p:sp>
      <p:sp>
        <p:nvSpPr>
          <p:cNvPr id="5" name="08">
            <a:extLst xmlns:a="http://schemas.openxmlformats.org/drawingml/2006/main">
              <a:ext uri="{FF2B5EF4-FFF2-40B4-BE49-F238E27FC236}">
                <a16:creationId xmlns:a16="http://schemas.microsoft.com/office/drawing/2014/main" id="{EFEEB7B0-EA57-46C7-8ED9-E7D1579B2437}"/>
              </a:ext>
            </a:extLst>
          </p:cNvPr>
          <p:cNvSpPr>
            <a:spLocks xmlns:a="http://schemas.openxmlformats.org/drawingml/2006/main" noGrp="1"/>
          </p:cNvSpPr>
          <p:nvPr/>
        </p:nvSpPr>
        <p:spPr>
          <a:xfrm xmlns:a="http://schemas.openxmlformats.org/drawingml/2006/main">
            <a:off x="11182350"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37B9C"/>
                </a:solidFill>
                <a:latin typeface="Nimbus Sans"/>
                <a:ea typeface="Nimbus Sans"/>
                <a:cs typeface="Nimbus Sans"/>
              </a:defRPr>
            </a:defPPr>
          </a:lstStyle>
          <a:p xmlns:a="http://schemas.openxmlformats.org/drawingml/2006/main">
            <a:pPr algn="r">
              <a:buNone/>
              <a:defRPr sz="1125" b="0">
                <a:solidFill>
                  <a:srgbClr val="637B9C"/>
                </a:solidFill>
                <a:latin typeface="Nimbus Sans"/>
                <a:ea typeface="Nimbus Sans"/>
                <a:cs typeface="Nimbus Sans"/>
              </a:defRPr>
            </a:pPr>
            <a:r>
              <a:rPr sz="1125" b="0">
                <a:solidFill>
                  <a:srgbClr val="637B9C"/>
                </a:solidFill>
                <a:latin typeface="Nimbus Sans"/>
                <a:ea typeface="Nimbus Sans"/>
                <a:cs typeface="Nimbus Sans"/>
              </a:rPr>
              <a:t>10</a:t>
            </a:r>
          </a:p>
        </p:txBody>
      </p:sp>
      <p:graphicFrame>
        <p:nvGraphicFramePr>
          <p:cNvPr id="6" name="">
            <a:extLst xmlns:a="http://schemas.openxmlformats.org/drawingml/2006/main">
              <a:ext uri="{FF2B5EF4-FFF2-40B4-BE49-F238E27FC236}">
                <a16:creationId xmlns:a16="http://schemas.microsoft.com/office/drawing/2014/main" id="{C36E20EE-DF3B-44E4-9CE9-9F3602BC06EB}"/>
              </a:ext>
            </a:extLst>
          </p:cNvPr>
          <p:cNvGraphicFramePr/>
          <p:nvPr/>
        </p:nvGraphicFramePr>
        <p:xfrm>
          <a:off xmlns:a="http://schemas.openxmlformats.org/drawingml/2006/main" x="609600" y="1581150"/>
          <a:ext xmlns:a="http://schemas.openxmlformats.org/drawingml/2006/main" cx="10972800" cy="3867150"/>
        </p:xfrm>
        <a:graphic xmlns:a="http://schemas.openxmlformats.org/drawingml/2006/main">
          <a:graphicData uri="http://schemas.openxmlformats.org/drawingml/2006/table">
            <a:tbl>
              <a:tblPr/>
              <a:tblGrid>
                <a:gridCol w="5410200"/>
                <a:gridCol w="2781300"/>
                <a:gridCol w="2781300"/>
              </a:tblGrid>
              <a:tr h="552450">
                <a:tc>
                  <a:txBody>
                    <a:bodyPr/>
                    <a:lstStyle/>
                    <a:p>
                      <a:pPr algn="l">
                        <a:buNone/>
                      </a:pPr>
                      <a:r>
                        <a:rPr sz="1725" b="1">
                          <a:solidFill>
                            <a:srgbClr val="061747"/>
                          </a:solidFill>
                          <a:latin typeface="Nimbus Sans"/>
                          <a:ea typeface="Nimbus Sans"/>
                          <a:cs typeface="Nimbus Sans"/>
                        </a:rPr>
                        <a:t>Question group / metric</a:t>
                      </a:r>
                    </a:p>
                  </a:txBody>
                  <a:tcPr marL="133350" marR="114300" marT="95250" marB="95250" anchor="ctr">
                    <a:lnL w="7620">
                      <a:solidFill>
                        <a:srgbClr val="C9DAEB"/>
                      </a:solidFill>
                      <a:prstDash val="solid"/>
                    </a:lnL>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500" b="1">
                          <a:solidFill>
                            <a:srgbClr val="061747"/>
                          </a:solidFill>
                          <a:latin typeface="Nimbus Sans"/>
                          <a:ea typeface="Nimbus Sans"/>
                          <a:cs typeface="Nimbus Sans"/>
                        </a:rPr>
                        <a:t>Question-only</a:t>
                      </a:r>
                    </a:p>
                    <a:p>
                      <a:pPr algn="ctr">
                        <a:buNone/>
                      </a:pPr>
                      <a:r>
                        <a:rPr sz="1500" b="1">
                          <a:solidFill>
                            <a:srgbClr val="061747"/>
                          </a:solidFill>
                          <a:latin typeface="Nimbus Sans"/>
                          <a:ea typeface="Nimbus Sans"/>
                          <a:cs typeface="Nimbus Sans"/>
                        </a:rPr>
                        <a:t>baseline</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725" b="1">
                          <a:solidFill>
                            <a:srgbClr val="061747"/>
                          </a:solidFill>
                          <a:latin typeface="Nimbus Sans"/>
                          <a:ea typeface="Nimbus Sans"/>
                          <a:cs typeface="Nimbus Sans"/>
                        </a:rPr>
                        <a:t>Epoch-1 LoRA</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r>
              <a:tr h="552450">
                <a:tc>
                  <a:txBody>
                    <a:bodyPr/>
                    <a:lstStyle/>
                    <a:p>
                      <a:pPr algn="l">
                        <a:buNone/>
                      </a:pPr>
                      <a:r>
                        <a:rPr sz="1875" b="0">
                          <a:solidFill>
                            <a:srgbClr val="061747"/>
                          </a:solidFill>
                          <a:latin typeface="Nimbus Sans"/>
                          <a:ea typeface="Nimbus Sans"/>
                          <a:cs typeface="Nimbus Sans"/>
                        </a:rPr>
                        <a:t>Pricing accuracy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875" b="1">
                          <a:solidFill>
                            <a:srgbClr val="009E9A"/>
                          </a:solidFill>
                          <a:latin typeface="Nimbus Sans"/>
                          <a:ea typeface="Nimbus Sans"/>
                          <a:cs typeface="Nimbus Sans"/>
                        </a:rPr>
                        <a:t>73.41%</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875" b="0">
                          <a:solidFill>
                            <a:srgbClr val="061747"/>
                          </a:solidFill>
                          <a:latin typeface="Nimbus Sans"/>
                          <a:ea typeface="Nimbus Sans"/>
                          <a:cs typeface="Nimbus Sans"/>
                        </a:rPr>
                        <a:t>73.49%</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52450">
                <a:tc>
                  <a:txBody>
                    <a:bodyPr/>
                    <a:lstStyle/>
                    <a:p>
                      <a:pPr algn="l">
                        <a:buNone/>
                      </a:pPr>
                      <a:r>
                        <a:rPr sz="1875" b="0">
                          <a:solidFill>
                            <a:srgbClr val="061747"/>
                          </a:solidFill>
                          <a:latin typeface="Nimbus Sans"/>
                          <a:ea typeface="Nimbus Sans"/>
                          <a:cs typeface="Nimbus Sans"/>
                        </a:rPr>
                        <a:t>Pilot subset accuracy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875" b="1">
                          <a:solidFill>
                            <a:srgbClr val="009E9A"/>
                          </a:solidFill>
                          <a:latin typeface="Nimbus Sans"/>
                          <a:ea typeface="Nimbus Sans"/>
                          <a:cs typeface="Nimbus Sans"/>
                        </a:rPr>
                        <a:t>72.52%</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875" b="0">
                          <a:solidFill>
                            <a:srgbClr val="061747"/>
                          </a:solidFill>
                          <a:latin typeface="Nimbus Sans"/>
                          <a:ea typeface="Nimbus Sans"/>
                          <a:cs typeface="Nimbus Sans"/>
                        </a:rPr>
                        <a:t>67.09%</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r h="552450">
                <a:tc>
                  <a:txBody>
                    <a:bodyPr/>
                    <a:lstStyle/>
                    <a:p>
                      <a:pPr algn="l">
                        <a:buNone/>
                      </a:pPr>
                      <a:r>
                        <a:rPr sz="1875" b="0">
                          <a:solidFill>
                            <a:srgbClr val="061747"/>
                          </a:solidFill>
                          <a:latin typeface="Nimbus Sans"/>
                          <a:ea typeface="Nimbus Sans"/>
                          <a:cs typeface="Nimbus Sans"/>
                        </a:rPr>
                        <a:t>Nominal matrix accuracy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875" b="1">
                          <a:solidFill>
                            <a:srgbClr val="009E9A"/>
                          </a:solidFill>
                          <a:latin typeface="Nimbus Sans"/>
                          <a:ea typeface="Nimbus Sans"/>
                          <a:cs typeface="Nimbus Sans"/>
                        </a:rPr>
                        <a:t>74.60%</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875" b="0">
                          <a:solidFill>
                            <a:srgbClr val="061747"/>
                          </a:solidFill>
                          <a:latin typeface="Nimbus Sans"/>
                          <a:ea typeface="Nimbus Sans"/>
                          <a:cs typeface="Nimbus Sans"/>
                        </a:rPr>
                        <a:t>74.60%</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52450">
                <a:tc>
                  <a:txBody>
                    <a:bodyPr/>
                    <a:lstStyle/>
                    <a:p>
                      <a:pPr algn="l">
                        <a:buNone/>
                      </a:pPr>
                      <a:r>
                        <a:rPr sz="1875" b="0">
                          <a:solidFill>
                            <a:srgbClr val="061747"/>
                          </a:solidFill>
                          <a:latin typeface="Nimbus Sans"/>
                          <a:ea typeface="Nimbus Sans"/>
                          <a:cs typeface="Nimbus Sans"/>
                        </a:rPr>
                        <a:t>Ordinal error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875" b="1">
                          <a:solidFill>
                            <a:srgbClr val="009E9A"/>
                          </a:solidFill>
                          <a:latin typeface="Nimbus Sans"/>
                          <a:ea typeface="Nimbus Sans"/>
                          <a:cs typeface="Nimbus Sans"/>
                        </a:rPr>
                        <a:t>0.2041</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875" b="0">
                          <a:solidFill>
                            <a:srgbClr val="061747"/>
                          </a:solidFill>
                          <a:latin typeface="Nimbus Sans"/>
                          <a:ea typeface="Nimbus Sans"/>
                          <a:cs typeface="Nimbus Sans"/>
                        </a:rPr>
                        <a:t>0.2204</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r h="552450">
                <a:tc>
                  <a:txBody>
                    <a:bodyPr/>
                    <a:lstStyle/>
                    <a:p>
                      <a:pPr algn="l">
                        <a:buNone/>
                      </a:pPr>
                      <a:r>
                        <a:rPr sz="1875" b="0">
                          <a:solidFill>
                            <a:srgbClr val="061747"/>
                          </a:solidFill>
                          <a:latin typeface="Nimbus Sans"/>
                          <a:ea typeface="Nimbus Sans"/>
                          <a:cs typeface="Nimbus Sans"/>
                        </a:rPr>
                        <a:t>Ordinal matrix error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875" b="1">
                          <a:solidFill>
                            <a:srgbClr val="009E9A"/>
                          </a:solidFill>
                          <a:latin typeface="Nimbus Sans"/>
                          <a:ea typeface="Nimbus Sans"/>
                          <a:cs typeface="Nimbus Sans"/>
                        </a:rPr>
                        <a:t>0.1903</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875" b="0">
                          <a:solidFill>
                            <a:srgbClr val="061747"/>
                          </a:solidFill>
                          <a:latin typeface="Nimbus Sans"/>
                          <a:ea typeface="Nimbus Sans"/>
                          <a:cs typeface="Nimbus Sans"/>
                        </a:rPr>
                        <a:t>0.1923</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52450">
                <a:tc>
                  <a:txBody>
                    <a:bodyPr/>
                    <a:lstStyle/>
                    <a:p>
                      <a:pPr algn="l">
                        <a:buNone/>
                      </a:pPr>
                      <a:r>
                        <a:rPr sz="1875" b="0">
                          <a:solidFill>
                            <a:srgbClr val="061747"/>
                          </a:solidFill>
                          <a:latin typeface="Nimbus Sans"/>
                          <a:ea typeface="Nimbus Sans"/>
                          <a:cs typeface="Nimbus Sans"/>
                        </a:rPr>
                        <a:t>Bounded numeric error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875" b="1">
                          <a:solidFill>
                            <a:srgbClr val="009E9A"/>
                          </a:solidFill>
                          <a:latin typeface="Nimbus Sans"/>
                          <a:ea typeface="Nimbus Sans"/>
                          <a:cs typeface="Nimbus Sans"/>
                        </a:rPr>
                        <a:t>0.1959</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875" b="0">
                          <a:solidFill>
                            <a:srgbClr val="061747"/>
                          </a:solidFill>
                          <a:latin typeface="Nimbus Sans"/>
                          <a:ea typeface="Nimbus Sans"/>
                          <a:cs typeface="Nimbus Sans"/>
                        </a:rPr>
                        <a:t>0.2100</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bl>
          </a:graphicData>
        </a:graphic>
      </p:graphicFrame>
      <p:sp>
        <p:nvSpPr>
          <p:cNvPr id="7" name="Pricing: 73.49% versus 73.41%, a gain of only 0.08 percentage po">
            <a:extLst xmlns:a="http://schemas.openxmlformats.org/drawingml/2006/main">
              <a:ext uri="{FF2B5EF4-FFF2-40B4-BE49-F238E27FC236}">
                <a16:creationId xmlns:a16="http://schemas.microsoft.com/office/drawing/2014/main" id="{11C01390-8624-4CA3-A410-0F146FAE401C}"/>
              </a:ext>
            </a:extLst>
          </p:cNvPr>
          <p:cNvSpPr>
            <a:spLocks xmlns:a="http://schemas.openxmlformats.org/drawingml/2006/main" noGrp="1"/>
          </p:cNvSpPr>
          <p:nvPr/>
        </p:nvSpPr>
        <p:spPr>
          <a:xfrm xmlns:a="http://schemas.openxmlformats.org/drawingml/2006/main">
            <a:off x="619125" y="5667375"/>
            <a:ext cx="1095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9E9A"/>
                </a:solidFill>
                <a:latin typeface="Nimbus Sans"/>
                <a:ea typeface="Nimbus Sans"/>
                <a:cs typeface="Nimbus Sans"/>
              </a:defRPr>
            </a:defPPr>
          </a:lstStyle>
          <a:p xmlns:a="http://schemas.openxmlformats.org/drawingml/2006/main">
            <a:pPr algn="l">
              <a:buNone/>
              <a:defRPr sz="1725" b="1">
                <a:solidFill>
                  <a:srgbClr val="009E9A"/>
                </a:solidFill>
                <a:latin typeface="Nimbus Sans"/>
                <a:ea typeface="Nimbus Sans"/>
                <a:cs typeface="Nimbus Sans"/>
              </a:defRPr>
            </a:pPr>
            <a:r>
              <a:rPr sz="1725" b="1">
                <a:solidFill>
                  <a:srgbClr val="009E9A"/>
                </a:solidFill>
                <a:latin typeface="Nimbus Sans"/>
                <a:ea typeface="Nimbus Sans"/>
                <a:cs typeface="Nimbus Sans"/>
              </a:rPr>
              <a:t>Pricing: 73.49% versus 73.41%, a gain of only 0.08 percentage points</a:t>
            </a:r>
          </a:p>
        </p:txBody>
      </p:sp>
    </p:spTree>
    <p:extLst>
      <p:ext uri="{BB962C8B-B14F-4D97-AF65-F5344CB8AC3E}">
        <p14:creationId xmlns:p14="http://schemas.microsoft.com/office/powerpoint/2010/main" val="14963292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rofile ablation with the same adapter">
            <a:extLst xmlns:a="http://schemas.openxmlformats.org/drawingml/2006/main">
              <a:ext uri="{FF2B5EF4-FFF2-40B4-BE49-F238E27FC236}">
                <a16:creationId xmlns:a16="http://schemas.microsoft.com/office/drawing/2014/main" id="{2E54C907-96BE-4D88-BA84-6FBEF8310142}"/>
              </a:ext>
            </a:extLst>
          </p:cNvPr>
          <p:cNvSpPr>
            <a:spLocks xmlns:a="http://schemas.openxmlformats.org/drawingml/2006/main" noGrp="1"/>
          </p:cNvSpPr>
          <p:nvPr/>
        </p:nvSpPr>
        <p:spPr>
          <a:xfrm xmlns:a="http://schemas.openxmlformats.org/drawingml/2006/main">
            <a:off x="571500" y="285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61747"/>
                </a:solidFill>
                <a:latin typeface="Nimbus Sans"/>
                <a:ea typeface="Nimbus Sans"/>
                <a:cs typeface="Nimbus Sans"/>
              </a:defRPr>
            </a:defPPr>
          </a:lstStyle>
          <a:p xmlns:a="http://schemas.openxmlformats.org/drawingml/2006/main">
            <a:pPr algn="l">
              <a:buNone/>
              <a:defRPr sz="3075" b="1">
                <a:solidFill>
                  <a:srgbClr val="061747"/>
                </a:solidFill>
                <a:latin typeface="Nimbus Sans"/>
                <a:ea typeface="Nimbus Sans"/>
                <a:cs typeface="Nimbus Sans"/>
              </a:defRPr>
            </a:pPr>
            <a:r>
              <a:rPr sz="3075" b="1">
                <a:solidFill>
                  <a:srgbClr val="061747"/>
                </a:solidFill>
                <a:latin typeface="Nimbus Sans"/>
                <a:ea typeface="Nimbus Sans"/>
                <a:cs typeface="Nimbus Sans"/>
              </a:rPr>
              <a:t>Profile ablation with the same adapter</a:t>
            </a:r>
          </a:p>
        </p:txBody>
      </p:sp>
      <p:sp>
        <p:nvSpPr>
          <p:cNvPr id="2" name="Keep the target question, product, price and recipient C fixed">
            <a:extLst xmlns:a="http://schemas.openxmlformats.org/drawingml/2006/main">
              <a:ext uri="{FF2B5EF4-FFF2-40B4-BE49-F238E27FC236}">
                <a16:creationId xmlns:a16="http://schemas.microsoft.com/office/drawing/2014/main" id="{87549EF1-E40D-4E7B-A14D-FED1C1394EAD}"/>
              </a:ext>
            </a:extLst>
          </p:cNvPr>
          <p:cNvSpPr>
            <a:spLocks xmlns:a="http://schemas.openxmlformats.org/drawingml/2006/main" noGrp="1"/>
          </p:cNvSpPr>
          <p:nvPr/>
        </p:nvSpPr>
        <p:spPr>
          <a:xfrm xmlns:a="http://schemas.openxmlformats.org/drawingml/2006/main">
            <a:off x="590550" y="914400"/>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Keep the target question, product, price and recipient C fixed</a:t>
            </a:r>
          </a:p>
        </p:txBody>
      </p:sp>
      <p:sp>
        <p:nvSpPr>
          <p:cNvPr id="3" name="">
            <a:extLst xmlns:a="http://schemas.openxmlformats.org/drawingml/2006/main">
              <a:ext uri="{FF2B5EF4-FFF2-40B4-BE49-F238E27FC236}">
                <a16:creationId xmlns:a16="http://schemas.microsoft.com/office/drawing/2014/main" id="{F3C30071-8AA1-4C0D-A364-4C4CFB13205A}"/>
              </a:ext>
            </a:extLst>
          </p:cNvPr>
          <p:cNvSpPr>
            <a:spLocks xmlns:a="http://schemas.openxmlformats.org/drawingml/2006/main" noGrp="1"/>
          </p:cNvSpPr>
          <p:nvPr/>
        </p:nvSpPr>
        <p:spPr>
          <a:xfrm xmlns:a="http://schemas.openxmlformats.org/drawingml/2006/main">
            <a:off x="571500" y="6229350"/>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4" name="One global no-self profile permutation. These changes describe a">
            <a:extLst xmlns:a="http://schemas.openxmlformats.org/drawingml/2006/main">
              <a:ext uri="{FF2B5EF4-FFF2-40B4-BE49-F238E27FC236}">
                <a16:creationId xmlns:a16="http://schemas.microsoft.com/office/drawing/2014/main" id="{73078D01-1D6E-4C0B-AC10-0C6E361164BC}"/>
              </a:ext>
            </a:extLst>
          </p:cNvPr>
          <p:cNvSpPr>
            <a:spLocks xmlns:a="http://schemas.openxmlformats.org/drawingml/2006/main" noGrp="1"/>
          </p:cNvSpPr>
          <p:nvPr/>
        </p:nvSpPr>
        <p:spPr>
          <a:xfrm xmlns:a="http://schemas.openxmlformats.org/drawingml/2006/main">
            <a:off x="590550" y="636270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7B9C"/>
                </a:solidFill>
                <a:latin typeface="Nimbus Sans"/>
                <a:ea typeface="Nimbus Sans"/>
                <a:cs typeface="Nimbus Sans"/>
              </a:defRPr>
            </a:defPPr>
          </a:lstStyle>
          <a:p xmlns:a="http://schemas.openxmlformats.org/drawingml/2006/main">
            <a:pPr algn="l">
              <a:buNone/>
              <a:defRPr sz="1050" b="0">
                <a:solidFill>
                  <a:srgbClr val="637B9C"/>
                </a:solidFill>
                <a:latin typeface="Nimbus Sans"/>
                <a:ea typeface="Nimbus Sans"/>
                <a:cs typeface="Nimbus Sans"/>
              </a:defRPr>
            </a:pPr>
            <a:r>
              <a:rPr sz="1050" b="0">
                <a:solidFill>
                  <a:srgbClr val="637B9C"/>
                </a:solidFill>
                <a:latin typeface="Nimbus Sans"/>
                <a:ea typeface="Nimbus Sans"/>
                <a:cs typeface="Nimbus Sans"/>
              </a:rPr>
              <a:t>One global no-self profile permutation. These changes describe association on validation data, not causal understanding.</a:t>
            </a:r>
          </a:p>
        </p:txBody>
      </p:sp>
      <p:sp>
        <p:nvSpPr>
          <p:cNvPr id="5" name="09">
            <a:extLst xmlns:a="http://schemas.openxmlformats.org/drawingml/2006/main">
              <a:ext uri="{FF2B5EF4-FFF2-40B4-BE49-F238E27FC236}">
                <a16:creationId xmlns:a16="http://schemas.microsoft.com/office/drawing/2014/main" id="{EC65D987-2CAE-4920-BD81-85634617C353}"/>
              </a:ext>
            </a:extLst>
          </p:cNvPr>
          <p:cNvSpPr>
            <a:spLocks xmlns:a="http://schemas.openxmlformats.org/drawingml/2006/main" noGrp="1"/>
          </p:cNvSpPr>
          <p:nvPr/>
        </p:nvSpPr>
        <p:spPr>
          <a:xfrm xmlns:a="http://schemas.openxmlformats.org/drawingml/2006/main">
            <a:off x="11182350"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37B9C"/>
                </a:solidFill>
                <a:latin typeface="Nimbus Sans"/>
                <a:ea typeface="Nimbus Sans"/>
                <a:cs typeface="Nimbus Sans"/>
              </a:defRPr>
            </a:defPPr>
          </a:lstStyle>
          <a:p xmlns:a="http://schemas.openxmlformats.org/drawingml/2006/main">
            <a:pPr algn="r">
              <a:buNone/>
              <a:defRPr sz="1125" b="0">
                <a:solidFill>
                  <a:srgbClr val="637B9C"/>
                </a:solidFill>
                <a:latin typeface="Nimbus Sans"/>
                <a:ea typeface="Nimbus Sans"/>
                <a:cs typeface="Nimbus Sans"/>
              </a:defRPr>
            </a:pPr>
            <a:r>
              <a:rPr sz="1125" b="0">
                <a:solidFill>
                  <a:srgbClr val="637B9C"/>
                </a:solidFill>
                <a:latin typeface="Nimbus Sans"/>
                <a:ea typeface="Nimbus Sans"/>
                <a:cs typeface="Nimbus Sans"/>
              </a:rPr>
              <a:t>11</a:t>
            </a:r>
          </a:p>
        </p:txBody>
      </p:sp>
      <p:graphicFrame>
        <p:nvGraphicFramePr>
          <p:cNvPr id="6" name="">
            <a:extLst xmlns:a="http://schemas.openxmlformats.org/drawingml/2006/main">
              <a:ext uri="{FF2B5EF4-FFF2-40B4-BE49-F238E27FC236}">
                <a16:creationId xmlns:a16="http://schemas.microsoft.com/office/drawing/2014/main" id="{EF942DA1-001F-4132-962F-73A7A8813336}"/>
              </a:ext>
            </a:extLst>
          </p:cNvPr>
          <p:cNvGraphicFramePr/>
          <p:nvPr/>
        </p:nvGraphicFramePr>
        <p:xfrm>
          <a:off xmlns:a="http://schemas.openxmlformats.org/drawingml/2006/main" x="609600" y="1571625"/>
          <a:ext xmlns:a="http://schemas.openxmlformats.org/drawingml/2006/main" cx="10972800" cy="3867150"/>
        </p:xfrm>
        <a:graphic xmlns:a="http://schemas.openxmlformats.org/drawingml/2006/main">
          <a:graphicData uri="http://schemas.openxmlformats.org/drawingml/2006/table">
            <a:tbl>
              <a:tblPr/>
              <a:tblGrid>
                <a:gridCol w="4743450"/>
                <a:gridCol w="2076450"/>
                <a:gridCol w="2076450"/>
                <a:gridCol w="2076450"/>
              </a:tblGrid>
              <a:tr h="552450">
                <a:tc>
                  <a:txBody>
                    <a:bodyPr/>
                    <a:lstStyle/>
                    <a:p>
                      <a:pPr algn="l">
                        <a:buNone/>
                      </a:pPr>
                      <a:r>
                        <a:rPr sz="1650" b="1">
                          <a:solidFill>
                            <a:srgbClr val="061747"/>
                          </a:solidFill>
                          <a:latin typeface="Nimbus Sans"/>
                          <a:ea typeface="Nimbus Sans"/>
                          <a:cs typeface="Nimbus Sans"/>
                        </a:rPr>
                        <a:t>Question group / metric</a:t>
                      </a:r>
                    </a:p>
                  </a:txBody>
                  <a:tcPr marL="133350" marR="114300" marT="95250" marB="95250" anchor="ctr">
                    <a:lnL w="7620">
                      <a:solidFill>
                        <a:srgbClr val="C9DAEB"/>
                      </a:solidFill>
                      <a:prstDash val="solid"/>
                    </a:lnL>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650" b="1">
                          <a:solidFill>
                            <a:srgbClr val="061747"/>
                          </a:solidFill>
                          <a:latin typeface="Nimbus Sans"/>
                          <a:ea typeface="Nimbus Sans"/>
                          <a:cs typeface="Nimbus Sans"/>
                        </a:rPr>
                        <a:t>Original A</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650" b="1">
                          <a:solidFill>
                            <a:srgbClr val="061747"/>
                          </a:solidFill>
                          <a:latin typeface="Nimbus Sans"/>
                          <a:ea typeface="Nimbus Sans"/>
                          <a:cs typeface="Nimbus Sans"/>
                        </a:rPr>
                        <a:t>A removed</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650" b="1">
                          <a:solidFill>
                            <a:srgbClr val="061747"/>
                          </a:solidFill>
                          <a:latin typeface="Nimbus Sans"/>
                          <a:ea typeface="Nimbus Sans"/>
                          <a:cs typeface="Nimbus Sans"/>
                        </a:rPr>
                        <a:t>A shuffled</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r>
              <a:tr h="552450">
                <a:tc>
                  <a:txBody>
                    <a:bodyPr/>
                    <a:lstStyle/>
                    <a:p>
                      <a:pPr algn="l">
                        <a:buNone/>
                      </a:pPr>
                      <a:r>
                        <a:rPr sz="1800" b="0">
                          <a:solidFill>
                            <a:srgbClr val="061747"/>
                          </a:solidFill>
                          <a:latin typeface="Nimbus Sans"/>
                          <a:ea typeface="Nimbus Sans"/>
                          <a:cs typeface="Nimbus Sans"/>
                        </a:rPr>
                        <a:t>Pricing accuracy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800" b="1">
                          <a:solidFill>
                            <a:srgbClr val="009E9A"/>
                          </a:solidFill>
                          <a:latin typeface="Nimbus Sans"/>
                          <a:ea typeface="Nimbus Sans"/>
                          <a:cs typeface="Nimbus Sans"/>
                        </a:rPr>
                        <a:t>73.49%</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800" b="0">
                          <a:solidFill>
                            <a:srgbClr val="061747"/>
                          </a:solidFill>
                          <a:latin typeface="Nimbus Sans"/>
                          <a:ea typeface="Nimbus Sans"/>
                          <a:cs typeface="Nimbus Sans"/>
                        </a:rPr>
                        <a:t>73.05%</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800" b="0">
                          <a:solidFill>
                            <a:srgbClr val="061747"/>
                          </a:solidFill>
                          <a:latin typeface="Nimbus Sans"/>
                          <a:ea typeface="Nimbus Sans"/>
                          <a:cs typeface="Nimbus Sans"/>
                        </a:rPr>
                        <a:t>71.97%</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52450">
                <a:tc>
                  <a:txBody>
                    <a:bodyPr/>
                    <a:lstStyle/>
                    <a:p>
                      <a:pPr algn="l">
                        <a:buNone/>
                      </a:pPr>
                      <a:r>
                        <a:rPr sz="1800" b="0">
                          <a:solidFill>
                            <a:srgbClr val="061747"/>
                          </a:solidFill>
                          <a:latin typeface="Nimbus Sans"/>
                          <a:ea typeface="Nimbus Sans"/>
                          <a:cs typeface="Nimbus Sans"/>
                        </a:rPr>
                        <a:t>Pilot subset accuracy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800" b="1">
                          <a:solidFill>
                            <a:srgbClr val="009E9A"/>
                          </a:solidFill>
                          <a:latin typeface="Nimbus Sans"/>
                          <a:ea typeface="Nimbus Sans"/>
                          <a:cs typeface="Nimbus Sans"/>
                        </a:rPr>
                        <a:t>67.09%</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800" b="0">
                          <a:solidFill>
                            <a:srgbClr val="061747"/>
                          </a:solidFill>
                          <a:latin typeface="Nimbus Sans"/>
                          <a:ea typeface="Nimbus Sans"/>
                          <a:cs typeface="Nimbus Sans"/>
                        </a:rPr>
                        <a:t>59.95%</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800" b="0">
                          <a:solidFill>
                            <a:srgbClr val="061747"/>
                          </a:solidFill>
                          <a:latin typeface="Nimbus Sans"/>
                          <a:ea typeface="Nimbus Sans"/>
                          <a:cs typeface="Nimbus Sans"/>
                        </a:rPr>
                        <a:t>66.08%</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r h="552450">
                <a:tc>
                  <a:txBody>
                    <a:bodyPr/>
                    <a:lstStyle/>
                    <a:p>
                      <a:pPr algn="l">
                        <a:buNone/>
                      </a:pPr>
                      <a:r>
                        <a:rPr sz="1800" b="0">
                          <a:solidFill>
                            <a:srgbClr val="061747"/>
                          </a:solidFill>
                          <a:latin typeface="Nimbus Sans"/>
                          <a:ea typeface="Nimbus Sans"/>
                          <a:cs typeface="Nimbus Sans"/>
                        </a:rPr>
                        <a:t>Nominal matrix accuracy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800" b="1">
                          <a:solidFill>
                            <a:srgbClr val="009E9A"/>
                          </a:solidFill>
                          <a:latin typeface="Nimbus Sans"/>
                          <a:ea typeface="Nimbus Sans"/>
                          <a:cs typeface="Nimbus Sans"/>
                        </a:rPr>
                        <a:t>74.60%</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800" b="0">
                          <a:solidFill>
                            <a:srgbClr val="061747"/>
                          </a:solidFill>
                          <a:latin typeface="Nimbus Sans"/>
                          <a:ea typeface="Nimbus Sans"/>
                          <a:cs typeface="Nimbus Sans"/>
                        </a:rPr>
                        <a:t>74.60%</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800" b="0">
                          <a:solidFill>
                            <a:srgbClr val="061747"/>
                          </a:solidFill>
                          <a:latin typeface="Nimbus Sans"/>
                          <a:ea typeface="Nimbus Sans"/>
                          <a:cs typeface="Nimbus Sans"/>
                        </a:rPr>
                        <a:t>74.60%</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52450">
                <a:tc>
                  <a:txBody>
                    <a:bodyPr/>
                    <a:lstStyle/>
                    <a:p>
                      <a:pPr algn="l">
                        <a:buNone/>
                      </a:pPr>
                      <a:r>
                        <a:rPr sz="1800" b="0">
                          <a:solidFill>
                            <a:srgbClr val="061747"/>
                          </a:solidFill>
                          <a:latin typeface="Nimbus Sans"/>
                          <a:ea typeface="Nimbus Sans"/>
                          <a:cs typeface="Nimbus Sans"/>
                        </a:rPr>
                        <a:t>Ordinal error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800" b="1">
                          <a:solidFill>
                            <a:srgbClr val="009E9A"/>
                          </a:solidFill>
                          <a:latin typeface="Nimbus Sans"/>
                          <a:ea typeface="Nimbus Sans"/>
                          <a:cs typeface="Nimbus Sans"/>
                        </a:rPr>
                        <a:t>0.2204</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800" b="0">
                          <a:solidFill>
                            <a:srgbClr val="061747"/>
                          </a:solidFill>
                          <a:latin typeface="Nimbus Sans"/>
                          <a:ea typeface="Nimbus Sans"/>
                          <a:cs typeface="Nimbus Sans"/>
                        </a:rPr>
                        <a:t>0.2352</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800" b="0">
                          <a:solidFill>
                            <a:srgbClr val="061747"/>
                          </a:solidFill>
                          <a:latin typeface="Nimbus Sans"/>
                          <a:ea typeface="Nimbus Sans"/>
                          <a:cs typeface="Nimbus Sans"/>
                        </a:rPr>
                        <a:t>0.2387</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r h="552450">
                <a:tc>
                  <a:txBody>
                    <a:bodyPr/>
                    <a:lstStyle/>
                    <a:p>
                      <a:pPr algn="l">
                        <a:buNone/>
                      </a:pPr>
                      <a:r>
                        <a:rPr sz="1800" b="0">
                          <a:solidFill>
                            <a:srgbClr val="061747"/>
                          </a:solidFill>
                          <a:latin typeface="Nimbus Sans"/>
                          <a:ea typeface="Nimbus Sans"/>
                          <a:cs typeface="Nimbus Sans"/>
                        </a:rPr>
                        <a:t>Ordinal matrix error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800" b="1">
                          <a:solidFill>
                            <a:srgbClr val="009E9A"/>
                          </a:solidFill>
                          <a:latin typeface="Nimbus Sans"/>
                          <a:ea typeface="Nimbus Sans"/>
                          <a:cs typeface="Nimbus Sans"/>
                        </a:rPr>
                        <a:t>0.1923</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800" b="0">
                          <a:solidFill>
                            <a:srgbClr val="061747"/>
                          </a:solidFill>
                          <a:latin typeface="Nimbus Sans"/>
                          <a:ea typeface="Nimbus Sans"/>
                          <a:cs typeface="Nimbus Sans"/>
                        </a:rPr>
                        <a:t>0.2037</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800" b="0">
                          <a:solidFill>
                            <a:srgbClr val="061747"/>
                          </a:solidFill>
                          <a:latin typeface="Nimbus Sans"/>
                          <a:ea typeface="Nimbus Sans"/>
                          <a:cs typeface="Nimbus Sans"/>
                        </a:rPr>
                        <a:t>0.2076</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52450">
                <a:tc>
                  <a:txBody>
                    <a:bodyPr/>
                    <a:lstStyle/>
                    <a:p>
                      <a:pPr algn="l">
                        <a:buNone/>
                      </a:pPr>
                      <a:r>
                        <a:rPr sz="1800" b="0">
                          <a:solidFill>
                            <a:srgbClr val="061747"/>
                          </a:solidFill>
                          <a:latin typeface="Nimbus Sans"/>
                          <a:ea typeface="Nimbus Sans"/>
                          <a:cs typeface="Nimbus Sans"/>
                        </a:rPr>
                        <a:t>Bounded numeric error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800" b="1">
                          <a:solidFill>
                            <a:srgbClr val="009E9A"/>
                          </a:solidFill>
                          <a:latin typeface="Nimbus Sans"/>
                          <a:ea typeface="Nimbus Sans"/>
                          <a:cs typeface="Nimbus Sans"/>
                        </a:rPr>
                        <a:t>0.2100</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800" b="0">
                          <a:solidFill>
                            <a:srgbClr val="061747"/>
                          </a:solidFill>
                          <a:latin typeface="Nimbus Sans"/>
                          <a:ea typeface="Nimbus Sans"/>
                          <a:cs typeface="Nimbus Sans"/>
                        </a:rPr>
                        <a:t>0.2663</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800" b="0">
                          <a:solidFill>
                            <a:srgbClr val="061747"/>
                          </a:solidFill>
                          <a:latin typeface="Nimbus Sans"/>
                          <a:ea typeface="Nimbus Sans"/>
                          <a:cs typeface="Nimbus Sans"/>
                        </a:rPr>
                        <a:t>0.2103</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bl>
          </a:graphicData>
        </a:graphic>
      </p:graphicFrame>
      <p:sp>
        <p:nvSpPr>
          <p:cNvPr id="7" name="Shuffling A changes 15.34% of answers, but a baseline win remain">
            <a:extLst xmlns:a="http://schemas.openxmlformats.org/drawingml/2006/main">
              <a:ext uri="{FF2B5EF4-FFF2-40B4-BE49-F238E27FC236}">
                <a16:creationId xmlns:a16="http://schemas.microsoft.com/office/drawing/2014/main" id="{032FB4B4-68ED-494E-951A-1C8500706FC2}"/>
              </a:ext>
            </a:extLst>
          </p:cNvPr>
          <p:cNvSpPr>
            <a:spLocks xmlns:a="http://schemas.openxmlformats.org/drawingml/2006/main" noGrp="1"/>
          </p:cNvSpPr>
          <p:nvPr/>
        </p:nvSpPr>
        <p:spPr>
          <a:xfrm xmlns:a="http://schemas.openxmlformats.org/drawingml/2006/main">
            <a:off x="619125" y="5667375"/>
            <a:ext cx="1095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9E9A"/>
                </a:solidFill>
                <a:latin typeface="Nimbus Sans"/>
                <a:ea typeface="Nimbus Sans"/>
                <a:cs typeface="Nimbus Sans"/>
              </a:defRPr>
            </a:defPPr>
          </a:lstStyle>
          <a:p xmlns:a="http://schemas.openxmlformats.org/drawingml/2006/main">
            <a:pPr algn="l">
              <a:buNone/>
              <a:defRPr sz="1725" b="1">
                <a:solidFill>
                  <a:srgbClr val="009E9A"/>
                </a:solidFill>
                <a:latin typeface="Nimbus Sans"/>
                <a:ea typeface="Nimbus Sans"/>
                <a:cs typeface="Nimbus Sans"/>
              </a:defRPr>
            </a:pPr>
            <a:r>
              <a:rPr sz="1725" b="1">
                <a:solidFill>
                  <a:srgbClr val="009E9A"/>
                </a:solidFill>
                <a:latin typeface="Nimbus Sans"/>
                <a:ea typeface="Nimbus Sans"/>
                <a:cs typeface="Nimbus Sans"/>
              </a:rPr>
              <a:t>Shuffling A changes 15.34% of answers, but a baseline win remains unproven</a:t>
            </a:r>
          </a:p>
        </p:txBody>
      </p:sp>
    </p:spTree>
    <p:extLst>
      <p:ext uri="{BB962C8B-B14F-4D97-AF65-F5344CB8AC3E}">
        <p14:creationId xmlns:p14="http://schemas.microsoft.com/office/powerpoint/2010/main" val="135505170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exical retrieval and price baselines">
            <a:extLst xmlns:a="http://schemas.openxmlformats.org/drawingml/2006/main">
              <a:ext uri="{FF2B5EF4-FFF2-40B4-BE49-F238E27FC236}">
                <a16:creationId xmlns:a16="http://schemas.microsoft.com/office/drawing/2014/main" id="{DF8DD385-E9EF-45D4-A991-11D86EC199FE}"/>
              </a:ext>
            </a:extLst>
          </p:cNvPr>
          <p:cNvSpPr>
            <a:spLocks xmlns:a="http://schemas.openxmlformats.org/drawingml/2006/main" noGrp="1"/>
          </p:cNvSpPr>
          <p:nvPr/>
        </p:nvSpPr>
        <p:spPr>
          <a:xfrm xmlns:a="http://schemas.openxmlformats.org/drawingml/2006/main">
            <a:off x="571500" y="285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61747"/>
                </a:solidFill>
                <a:latin typeface="Nimbus Sans"/>
                <a:ea typeface="Nimbus Sans"/>
                <a:cs typeface="Nimbus Sans"/>
              </a:defRPr>
            </a:defPPr>
          </a:lstStyle>
          <a:p xmlns:a="http://schemas.openxmlformats.org/drawingml/2006/main">
            <a:pPr algn="l">
              <a:buNone/>
              <a:defRPr sz="3075" b="1">
                <a:solidFill>
                  <a:srgbClr val="061747"/>
                </a:solidFill>
                <a:latin typeface="Nimbus Sans"/>
                <a:ea typeface="Nimbus Sans"/>
                <a:cs typeface="Nimbus Sans"/>
              </a:defRPr>
            </a:pPr>
            <a:r>
              <a:rPr sz="3075" b="1">
                <a:solidFill>
                  <a:srgbClr val="061747"/>
                </a:solidFill>
                <a:latin typeface="Nimbus Sans"/>
                <a:ea typeface="Nimbus Sans"/>
                <a:cs typeface="Nimbus Sans"/>
              </a:rPr>
              <a:t>Lexical retrieval and price baselines</a:t>
            </a:r>
          </a:p>
        </p:txBody>
      </p:sp>
      <p:sp>
        <p:nvSpPr>
          <p:cNvPr id="2" name="Training-only donors and condition-matched evaluation">
            <a:extLst xmlns:a="http://schemas.openxmlformats.org/drawingml/2006/main">
              <a:ext uri="{FF2B5EF4-FFF2-40B4-BE49-F238E27FC236}">
                <a16:creationId xmlns:a16="http://schemas.microsoft.com/office/drawing/2014/main" id="{3240D595-7824-4E29-BDA8-4EDA2E935E5A}"/>
              </a:ext>
            </a:extLst>
          </p:cNvPr>
          <p:cNvSpPr>
            <a:spLocks xmlns:a="http://schemas.openxmlformats.org/drawingml/2006/main" noGrp="1"/>
          </p:cNvSpPr>
          <p:nvPr/>
        </p:nvSpPr>
        <p:spPr>
          <a:xfrm xmlns:a="http://schemas.openxmlformats.org/drawingml/2006/main">
            <a:off x="590550" y="914400"/>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Training-only donors and condition-matched evaluation</a:t>
            </a:r>
          </a:p>
        </p:txBody>
      </p:sp>
      <p:sp>
        <p:nvSpPr>
          <p:cNvPr id="3" name="">
            <a:extLst xmlns:a="http://schemas.openxmlformats.org/drawingml/2006/main">
              <a:ext uri="{FF2B5EF4-FFF2-40B4-BE49-F238E27FC236}">
                <a16:creationId xmlns:a16="http://schemas.microsoft.com/office/drawing/2014/main" id="{9AFE9117-AFBC-4180-AF81-845B058179B4}"/>
              </a:ext>
            </a:extLst>
          </p:cNvPr>
          <p:cNvSpPr>
            <a:spLocks xmlns:a="http://schemas.openxmlformats.org/drawingml/2006/main" noGrp="1"/>
          </p:cNvSpPr>
          <p:nvPr/>
        </p:nvSpPr>
        <p:spPr>
          <a:xfrm xmlns:a="http://schemas.openxmlformats.org/drawingml/2006/main">
            <a:off x="571500" y="6229350"/>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4" name="TF-IDF top-5 uses vote/median. The Qwen demo arm uses three retr">
            <a:extLst xmlns:a="http://schemas.openxmlformats.org/drawingml/2006/main">
              <a:ext uri="{FF2B5EF4-FFF2-40B4-BE49-F238E27FC236}">
                <a16:creationId xmlns:a16="http://schemas.microsoft.com/office/drawing/2014/main" id="{265C7565-C04F-409E-898E-1134DB8C571C}"/>
              </a:ext>
            </a:extLst>
          </p:cNvPr>
          <p:cNvSpPr>
            <a:spLocks xmlns:a="http://schemas.openxmlformats.org/drawingml/2006/main" noGrp="1"/>
          </p:cNvSpPr>
          <p:nvPr/>
        </p:nvSpPr>
        <p:spPr>
          <a:xfrm xmlns:a="http://schemas.openxmlformats.org/drawingml/2006/main">
            <a:off x="590550" y="636270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7B9C"/>
                </a:solidFill>
                <a:latin typeface="Nimbus Sans"/>
                <a:ea typeface="Nimbus Sans"/>
                <a:cs typeface="Nimbus Sans"/>
              </a:defRPr>
            </a:defPPr>
          </a:lstStyle>
          <a:p xmlns:a="http://schemas.openxmlformats.org/drawingml/2006/main">
            <a:pPr algn="l">
              <a:buNone/>
              <a:defRPr sz="1050" b="0">
                <a:solidFill>
                  <a:srgbClr val="637B9C"/>
                </a:solidFill>
                <a:latin typeface="Nimbus Sans"/>
                <a:ea typeface="Nimbus Sans"/>
                <a:cs typeface="Nimbus Sans"/>
              </a:defRPr>
            </a:pPr>
            <a:r>
              <a:rPr sz="1050" b="0">
                <a:solidFill>
                  <a:srgbClr val="637B9C"/>
                </a:solidFill>
                <a:latin typeface="Nimbus Sans"/>
                <a:ea typeface="Nimbus Sans"/>
                <a:cs typeface="Nimbus Sans"/>
              </a:rPr>
              <a:t>TF-IDF top-5 uses vote/median. The Qwen demo arm uses three retrieved examples with the original base model.</a:t>
            </a:r>
          </a:p>
        </p:txBody>
      </p:sp>
      <p:sp>
        <p:nvSpPr>
          <p:cNvPr id="5" name="10">
            <a:extLst xmlns:a="http://schemas.openxmlformats.org/drawingml/2006/main">
              <a:ext uri="{FF2B5EF4-FFF2-40B4-BE49-F238E27FC236}">
                <a16:creationId xmlns:a16="http://schemas.microsoft.com/office/drawing/2014/main" id="{19C9A6B5-F406-42B1-9EC0-92DCA6F139E2}"/>
              </a:ext>
            </a:extLst>
          </p:cNvPr>
          <p:cNvSpPr>
            <a:spLocks xmlns:a="http://schemas.openxmlformats.org/drawingml/2006/main" noGrp="1"/>
          </p:cNvSpPr>
          <p:nvPr/>
        </p:nvSpPr>
        <p:spPr>
          <a:xfrm xmlns:a="http://schemas.openxmlformats.org/drawingml/2006/main">
            <a:off x="11182350"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37B9C"/>
                </a:solidFill>
                <a:latin typeface="Nimbus Sans"/>
                <a:ea typeface="Nimbus Sans"/>
                <a:cs typeface="Nimbus Sans"/>
              </a:defRPr>
            </a:defPPr>
          </a:lstStyle>
          <a:p xmlns:a="http://schemas.openxmlformats.org/drawingml/2006/main">
            <a:pPr algn="r">
              <a:buNone/>
              <a:defRPr sz="1125" b="0">
                <a:solidFill>
                  <a:srgbClr val="637B9C"/>
                </a:solidFill>
                <a:latin typeface="Nimbus Sans"/>
                <a:ea typeface="Nimbus Sans"/>
                <a:cs typeface="Nimbus Sans"/>
              </a:defRPr>
            </a:pPr>
            <a:r>
              <a:rPr sz="1125" b="0">
                <a:solidFill>
                  <a:srgbClr val="637B9C"/>
                </a:solidFill>
                <a:latin typeface="Nimbus Sans"/>
                <a:ea typeface="Nimbus Sans"/>
                <a:cs typeface="Nimbus Sans"/>
              </a:rPr>
              <a:t>12</a:t>
            </a:r>
          </a:p>
        </p:txBody>
      </p:sp>
      <p:graphicFrame>
        <p:nvGraphicFramePr>
          <p:cNvPr id="6" name="">
            <a:extLst xmlns:a="http://schemas.openxmlformats.org/drawingml/2006/main">
              <a:ext uri="{FF2B5EF4-FFF2-40B4-BE49-F238E27FC236}">
                <a16:creationId xmlns:a16="http://schemas.microsoft.com/office/drawing/2014/main" id="{E95A7F40-B4A3-4D5F-80AD-33EA903A3394}"/>
              </a:ext>
            </a:extLst>
          </p:cNvPr>
          <p:cNvGraphicFramePr/>
          <p:nvPr/>
        </p:nvGraphicFramePr>
        <p:xfrm>
          <a:off xmlns:a="http://schemas.openxmlformats.org/drawingml/2006/main" x="609600" y="1571625"/>
          <a:ext xmlns:a="http://schemas.openxmlformats.org/drawingml/2006/main" cx="10972800" cy="3867150"/>
        </p:xfrm>
        <a:graphic xmlns:a="http://schemas.openxmlformats.org/drawingml/2006/main">
          <a:graphicData uri="http://schemas.openxmlformats.org/drawingml/2006/table">
            <a:tbl>
              <a:tblPr/>
              <a:tblGrid>
                <a:gridCol w="4343400"/>
                <a:gridCol w="2228850"/>
                <a:gridCol w="2095500"/>
                <a:gridCol w="2305050"/>
              </a:tblGrid>
              <a:tr h="552450">
                <a:tc>
                  <a:txBody>
                    <a:bodyPr/>
                    <a:lstStyle/>
                    <a:p>
                      <a:pPr algn="l">
                        <a:buNone/>
                      </a:pPr>
                      <a:r>
                        <a:rPr sz="1500" b="1">
                          <a:solidFill>
                            <a:srgbClr val="061747"/>
                          </a:solidFill>
                          <a:latin typeface="Nimbus Sans"/>
                          <a:ea typeface="Nimbus Sans"/>
                          <a:cs typeface="Nimbus Sans"/>
                        </a:rPr>
                        <a:t>Question group / metric</a:t>
                      </a:r>
                    </a:p>
                  </a:txBody>
                  <a:tcPr marL="133350" marR="114300" marT="95250" marB="95250" anchor="ctr">
                    <a:lnL w="7620">
                      <a:solidFill>
                        <a:srgbClr val="C9DAEB"/>
                      </a:solidFill>
                      <a:prstDash val="solid"/>
                    </a:lnL>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500" b="1">
                          <a:solidFill>
                            <a:srgbClr val="061747"/>
                          </a:solidFill>
                          <a:latin typeface="Nimbus Sans"/>
                          <a:ea typeface="Nimbus Sans"/>
                          <a:cs typeface="Nimbus Sans"/>
                        </a:rPr>
                        <a:t>Question-only</a:t>
                      </a:r>
                    </a:p>
                    <a:p>
                      <a:pPr algn="ctr">
                        <a:buNone/>
                      </a:pPr>
                      <a:r>
                        <a:rPr sz="1500" b="1">
                          <a:solidFill>
                            <a:srgbClr val="061747"/>
                          </a:solidFill>
                          <a:latin typeface="Nimbus Sans"/>
                          <a:ea typeface="Nimbus Sans"/>
                          <a:cs typeface="Nimbus Sans"/>
                        </a:rPr>
                        <a:t>baseline</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500" b="1">
                          <a:solidFill>
                            <a:srgbClr val="061747"/>
                          </a:solidFill>
                          <a:latin typeface="Nimbus Sans"/>
                          <a:ea typeface="Nimbus Sans"/>
                          <a:cs typeface="Nimbus Sans"/>
                        </a:rPr>
                        <a:t>TF-IDF top-5</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500" b="1">
                          <a:solidFill>
                            <a:srgbClr val="061747"/>
                          </a:solidFill>
                          <a:latin typeface="Nimbus Sans"/>
                          <a:ea typeface="Nimbus Sans"/>
                          <a:cs typeface="Nimbus Sans"/>
                        </a:rPr>
                        <a:t>Qwen + 3 demos</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r>
              <a:tr h="552450">
                <a:tc>
                  <a:txBody>
                    <a:bodyPr/>
                    <a:lstStyle/>
                    <a:p>
                      <a:pPr algn="l">
                        <a:buNone/>
                      </a:pPr>
                      <a:r>
                        <a:rPr sz="1725" b="0">
                          <a:solidFill>
                            <a:srgbClr val="061747"/>
                          </a:solidFill>
                          <a:latin typeface="Nimbus Sans"/>
                          <a:ea typeface="Nimbus Sans"/>
                          <a:cs typeface="Nimbus Sans"/>
                        </a:rPr>
                        <a:t>Pricing accuracy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725" b="1">
                          <a:solidFill>
                            <a:srgbClr val="009E9A"/>
                          </a:solidFill>
                          <a:latin typeface="Nimbus Sans"/>
                          <a:ea typeface="Nimbus Sans"/>
                          <a:cs typeface="Nimbus Sans"/>
                        </a:rPr>
                        <a:t>73.41%</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725" b="0">
                          <a:solidFill>
                            <a:srgbClr val="061747"/>
                          </a:solidFill>
                          <a:latin typeface="Nimbus Sans"/>
                          <a:ea typeface="Nimbus Sans"/>
                          <a:cs typeface="Nimbus Sans"/>
                        </a:rPr>
                        <a:t>70.91%</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725" b="0">
                          <a:solidFill>
                            <a:srgbClr val="061747"/>
                          </a:solidFill>
                          <a:latin typeface="Nimbus Sans"/>
                          <a:ea typeface="Nimbus Sans"/>
                          <a:cs typeface="Nimbus Sans"/>
                        </a:rPr>
                        <a:t>44.81%</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52450">
                <a:tc>
                  <a:txBody>
                    <a:bodyPr/>
                    <a:lstStyle/>
                    <a:p>
                      <a:pPr algn="l">
                        <a:buNone/>
                      </a:pPr>
                      <a:r>
                        <a:rPr sz="1725" b="0">
                          <a:solidFill>
                            <a:srgbClr val="061747"/>
                          </a:solidFill>
                          <a:latin typeface="Nimbus Sans"/>
                          <a:ea typeface="Nimbus Sans"/>
                          <a:cs typeface="Nimbus Sans"/>
                        </a:rPr>
                        <a:t>Pilot subset accuracy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725" b="1">
                          <a:solidFill>
                            <a:srgbClr val="009E9A"/>
                          </a:solidFill>
                          <a:latin typeface="Nimbus Sans"/>
                          <a:ea typeface="Nimbus Sans"/>
                          <a:cs typeface="Nimbus Sans"/>
                        </a:rPr>
                        <a:t>72.52%</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725" b="0">
                          <a:solidFill>
                            <a:srgbClr val="061747"/>
                          </a:solidFill>
                          <a:latin typeface="Nimbus Sans"/>
                          <a:ea typeface="Nimbus Sans"/>
                          <a:cs typeface="Nimbus Sans"/>
                        </a:rPr>
                        <a:t>69.64%</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725" b="0">
                          <a:solidFill>
                            <a:srgbClr val="061747"/>
                          </a:solidFill>
                          <a:latin typeface="Nimbus Sans"/>
                          <a:ea typeface="Nimbus Sans"/>
                          <a:cs typeface="Nimbus Sans"/>
                        </a:rPr>
                        <a:t>46.16%</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r h="552450">
                <a:tc>
                  <a:txBody>
                    <a:bodyPr/>
                    <a:lstStyle/>
                    <a:p>
                      <a:pPr algn="l">
                        <a:buNone/>
                      </a:pPr>
                      <a:r>
                        <a:rPr sz="1725" b="0">
                          <a:solidFill>
                            <a:srgbClr val="061747"/>
                          </a:solidFill>
                          <a:latin typeface="Nimbus Sans"/>
                          <a:ea typeface="Nimbus Sans"/>
                          <a:cs typeface="Nimbus Sans"/>
                        </a:rPr>
                        <a:t>Nominal matrix accuracy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725" b="1">
                          <a:solidFill>
                            <a:srgbClr val="009E9A"/>
                          </a:solidFill>
                          <a:latin typeface="Nimbus Sans"/>
                          <a:ea typeface="Nimbus Sans"/>
                          <a:cs typeface="Nimbus Sans"/>
                        </a:rPr>
                        <a:t>74.60%</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725" b="0">
                          <a:solidFill>
                            <a:srgbClr val="061747"/>
                          </a:solidFill>
                          <a:latin typeface="Nimbus Sans"/>
                          <a:ea typeface="Nimbus Sans"/>
                          <a:cs typeface="Nimbus Sans"/>
                        </a:rPr>
                        <a:t>74.07%</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725" b="0">
                          <a:solidFill>
                            <a:srgbClr val="061747"/>
                          </a:solidFill>
                          <a:latin typeface="Nimbus Sans"/>
                          <a:ea typeface="Nimbus Sans"/>
                          <a:cs typeface="Nimbus Sans"/>
                        </a:rPr>
                        <a:t>74.35%</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52450">
                <a:tc>
                  <a:txBody>
                    <a:bodyPr/>
                    <a:lstStyle/>
                    <a:p>
                      <a:pPr algn="l">
                        <a:buNone/>
                      </a:pPr>
                      <a:r>
                        <a:rPr sz="1725" b="0">
                          <a:solidFill>
                            <a:srgbClr val="061747"/>
                          </a:solidFill>
                          <a:latin typeface="Nimbus Sans"/>
                          <a:ea typeface="Nimbus Sans"/>
                          <a:cs typeface="Nimbus Sans"/>
                        </a:rPr>
                        <a:t>Ordinal error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725" b="1">
                          <a:solidFill>
                            <a:srgbClr val="009E9A"/>
                          </a:solidFill>
                          <a:latin typeface="Nimbus Sans"/>
                          <a:ea typeface="Nimbus Sans"/>
                          <a:cs typeface="Nimbus Sans"/>
                        </a:rPr>
                        <a:t>0.2041</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725" b="0">
                          <a:solidFill>
                            <a:srgbClr val="061747"/>
                          </a:solidFill>
                          <a:latin typeface="Nimbus Sans"/>
                          <a:ea typeface="Nimbus Sans"/>
                          <a:cs typeface="Nimbus Sans"/>
                        </a:rPr>
                        <a:t>0.2218</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725" b="0">
                          <a:solidFill>
                            <a:srgbClr val="061747"/>
                          </a:solidFill>
                          <a:latin typeface="Nimbus Sans"/>
                          <a:ea typeface="Nimbus Sans"/>
                          <a:cs typeface="Nimbus Sans"/>
                        </a:rPr>
                        <a:t>0.3042</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r h="552450">
                <a:tc>
                  <a:txBody>
                    <a:bodyPr/>
                    <a:lstStyle/>
                    <a:p>
                      <a:pPr algn="l">
                        <a:buNone/>
                      </a:pPr>
                      <a:r>
                        <a:rPr sz="1725" b="0">
                          <a:solidFill>
                            <a:srgbClr val="061747"/>
                          </a:solidFill>
                          <a:latin typeface="Nimbus Sans"/>
                          <a:ea typeface="Nimbus Sans"/>
                          <a:cs typeface="Nimbus Sans"/>
                        </a:rPr>
                        <a:t>Ordinal matrix error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725" b="1">
                          <a:solidFill>
                            <a:srgbClr val="009E9A"/>
                          </a:solidFill>
                          <a:latin typeface="Nimbus Sans"/>
                          <a:ea typeface="Nimbus Sans"/>
                          <a:cs typeface="Nimbus Sans"/>
                        </a:rPr>
                        <a:t>0.1903</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725" b="0">
                          <a:solidFill>
                            <a:srgbClr val="061747"/>
                          </a:solidFill>
                          <a:latin typeface="Nimbus Sans"/>
                          <a:ea typeface="Nimbus Sans"/>
                          <a:cs typeface="Nimbus Sans"/>
                        </a:rPr>
                        <a:t>0.1981</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725" b="0">
                          <a:solidFill>
                            <a:srgbClr val="061747"/>
                          </a:solidFill>
                          <a:latin typeface="Nimbus Sans"/>
                          <a:ea typeface="Nimbus Sans"/>
                          <a:cs typeface="Nimbus Sans"/>
                        </a:rPr>
                        <a:t>0.4186</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52450">
                <a:tc>
                  <a:txBody>
                    <a:bodyPr/>
                    <a:lstStyle/>
                    <a:p>
                      <a:pPr algn="l">
                        <a:buNone/>
                      </a:pPr>
                      <a:r>
                        <a:rPr sz="1725" b="0">
                          <a:solidFill>
                            <a:srgbClr val="061747"/>
                          </a:solidFill>
                          <a:latin typeface="Nimbus Sans"/>
                          <a:ea typeface="Nimbus Sans"/>
                          <a:cs typeface="Nimbus Sans"/>
                        </a:rPr>
                        <a:t>Bounded numeric error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725" b="1">
                          <a:solidFill>
                            <a:srgbClr val="009E9A"/>
                          </a:solidFill>
                          <a:latin typeface="Nimbus Sans"/>
                          <a:ea typeface="Nimbus Sans"/>
                          <a:cs typeface="Nimbus Sans"/>
                        </a:rPr>
                        <a:t>0.1959</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725" b="0">
                          <a:solidFill>
                            <a:srgbClr val="061747"/>
                          </a:solidFill>
                          <a:latin typeface="Nimbus Sans"/>
                          <a:ea typeface="Nimbus Sans"/>
                          <a:cs typeface="Nimbus Sans"/>
                        </a:rPr>
                        <a:t>0.2128</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725" b="0">
                          <a:solidFill>
                            <a:srgbClr val="061747"/>
                          </a:solidFill>
                          <a:latin typeface="Nimbus Sans"/>
                          <a:ea typeface="Nimbus Sans"/>
                          <a:cs typeface="Nimbus Sans"/>
                        </a:rPr>
                        <a:t>0.3535</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bl>
          </a:graphicData>
        </a:graphic>
      </p:graphicFrame>
      <p:sp>
        <p:nvSpPr>
          <p:cNvPr id="7" name="Product–price isotonic accuracy: 73.44%, almost tied with LoRA a">
            <a:extLst xmlns:a="http://schemas.openxmlformats.org/drawingml/2006/main">
              <a:ext uri="{FF2B5EF4-FFF2-40B4-BE49-F238E27FC236}">
                <a16:creationId xmlns:a16="http://schemas.microsoft.com/office/drawing/2014/main" id="{6B0843C5-0FDD-4F49-8C82-9FF4E9B6826D}"/>
              </a:ext>
            </a:extLst>
          </p:cNvPr>
          <p:cNvSpPr>
            <a:spLocks xmlns:a="http://schemas.openxmlformats.org/drawingml/2006/main" noGrp="1"/>
          </p:cNvSpPr>
          <p:nvPr/>
        </p:nvSpPr>
        <p:spPr>
          <a:xfrm xmlns:a="http://schemas.openxmlformats.org/drawingml/2006/main">
            <a:off x="619125" y="5667375"/>
            <a:ext cx="1095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9E9A"/>
                </a:solidFill>
                <a:latin typeface="Nimbus Sans"/>
                <a:ea typeface="Nimbus Sans"/>
                <a:cs typeface="Nimbus Sans"/>
              </a:defRPr>
            </a:defPPr>
          </a:lstStyle>
          <a:p xmlns:a="http://schemas.openxmlformats.org/drawingml/2006/main">
            <a:pPr algn="l">
              <a:buNone/>
              <a:defRPr sz="1725" b="1">
                <a:solidFill>
                  <a:srgbClr val="009E9A"/>
                </a:solidFill>
                <a:latin typeface="Nimbus Sans"/>
                <a:ea typeface="Nimbus Sans"/>
                <a:cs typeface="Nimbus Sans"/>
              </a:defRPr>
            </a:pPr>
            <a:r>
              <a:rPr sz="1725" b="1">
                <a:solidFill>
                  <a:srgbClr val="009E9A"/>
                </a:solidFill>
                <a:latin typeface="Nimbus Sans"/>
                <a:ea typeface="Nimbus Sans"/>
                <a:cs typeface="Nimbus Sans"/>
              </a:rPr>
              <a:t>Product–price isotonic accuracy: 73.44%, almost tied with LoRA at 73.49%</a:t>
            </a:r>
          </a:p>
        </p:txBody>
      </p:sp>
    </p:spTree>
    <p:extLst>
      <p:ext uri="{BB962C8B-B14F-4D97-AF65-F5344CB8AC3E}">
        <p14:creationId xmlns:p14="http://schemas.microsoft.com/office/powerpoint/2010/main" val="5220536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6A02C65D-D26B-4A66-86E0-67288FC6946E}"/>
              </a:ext>
            </a:extLst>
          </p:cNvPr>
          <p:cNvCxnSpPr>
            <a:stCxn xmlns:a="http://schemas.openxmlformats.org/drawingml/2006/main" id="12" idx="2"/>
            <a:endCxn xmlns:a="http://schemas.openxmlformats.org/drawingml/2006/main" id="20" idx="0"/>
          </p:cNvCxnSpPr>
          <p:nvPr/>
        </p:nvCxnSpPr>
        <p:spPr>
          <a:xfrm xmlns:a="http://schemas.openxmlformats.org/drawingml/2006/main">
            <a:off x="9301163" y="3457575"/>
            <a:ext cx="452438" cy="638175"/>
          </a:xfrm>
          <a:prstGeom xmlns:a="http://schemas.openxmlformats.org/drawingml/2006/main" prst="bentConnector4">
            <a:avLst>
              <a:gd name="adj1" fmla="val 0"/>
              <a:gd name="adj2" fmla="val 50000"/>
            </a:avLst>
          </a:prstGeom>
          <a:ln xmlns:a="http://schemas.openxmlformats.org/drawingml/2006/main" w="19050">
            <a:solidFill>
              <a:srgbClr val="1673FF"/>
            </a:solidFill>
            <a:tailEnd type="triangle" w="sm" len="sm"/>
          </a:ln>
        </p:spPr>
      </p:cxnSp>
      <p:cxnSp>
        <p:nvCxnSpPr>
          <p:cNvPr id="23" name="">
            <a:extLst xmlns:a="http://schemas.openxmlformats.org/drawingml/2006/main">
              <a:ext uri="{FF2B5EF4-FFF2-40B4-BE49-F238E27FC236}">
                <a16:creationId xmlns:a16="http://schemas.microsoft.com/office/drawing/2014/main" id="{2936B189-CAC3-4FE1-A710-FDBDA36C2BF3}"/>
              </a:ext>
            </a:extLst>
          </p:cNvPr>
          <p:cNvCxnSpPr>
            <a:stCxn xmlns:a="http://schemas.openxmlformats.org/drawingml/2006/main" id="12" idx="2"/>
            <a:endCxn xmlns:a="http://schemas.openxmlformats.org/drawingml/2006/main" id="17" idx="0"/>
          </p:cNvCxnSpPr>
          <p:nvPr/>
        </p:nvCxnSpPr>
        <p:spPr>
          <a:xfrm xmlns:a="http://schemas.openxmlformats.org/drawingml/2006/main" flipH="1">
            <a:off x="5691188" y="3457575"/>
            <a:ext cx="3609975" cy="638175"/>
          </a:xfrm>
          <a:prstGeom xmlns:a="http://schemas.openxmlformats.org/drawingml/2006/main" prst="bentConnector4">
            <a:avLst>
              <a:gd name="adj1" fmla="val 0"/>
              <a:gd name="adj2" fmla="val 50000"/>
            </a:avLst>
          </a:prstGeom>
          <a:ln xmlns:a="http://schemas.openxmlformats.org/drawingml/2006/main" w="19050">
            <a:solidFill>
              <a:srgbClr val="009E9A"/>
            </a:solidFill>
            <a:tailEnd type="triangle" w="sm" len="sm"/>
          </a:ln>
        </p:spPr>
      </p:cxnSp>
      <p:cxnSp>
        <p:nvCxnSpPr>
          <p:cNvPr id="16" name="">
            <a:extLst xmlns:a="http://schemas.openxmlformats.org/drawingml/2006/main">
              <a:ext uri="{FF2B5EF4-FFF2-40B4-BE49-F238E27FC236}">
                <a16:creationId xmlns:a16="http://schemas.microsoft.com/office/drawing/2014/main" id="{AEECC28D-6447-470B-B707-89C4BFAF1A4C}"/>
              </a:ext>
            </a:extLst>
          </p:cNvPr>
          <p:cNvCxnSpPr>
            <a:stCxn xmlns:a="http://schemas.openxmlformats.org/drawingml/2006/main" id="9" idx="3"/>
            <a:endCxn xmlns:a="http://schemas.openxmlformats.org/drawingml/2006/main" id="12" idx="1"/>
          </p:cNvCxnSpPr>
          <p:nvPr/>
        </p:nvCxnSpPr>
        <p:spPr>
          <a:xfrm xmlns:a="http://schemas.openxmlformats.org/drawingml/2006/main">
            <a:off x="6581775" y="2600325"/>
            <a:ext cx="457200" cy="0"/>
          </a:xfrm>
          <a:prstGeom xmlns:a="http://schemas.openxmlformats.org/drawingml/2006/main" prst="straightConnector1">
            <a:avLst/>
          </a:prstGeom>
          <a:ln xmlns:a="http://schemas.openxmlformats.org/drawingml/2006/main" w="19050">
            <a:solidFill>
              <a:srgbClr val="009E9A"/>
            </a:solidFill>
            <a:tailEnd type="triangle" w="sm" len="sm"/>
          </a:ln>
        </p:spPr>
      </p:cxnSp>
      <p:cxnSp>
        <p:nvCxnSpPr>
          <p:cNvPr id="15" name="">
            <a:extLst xmlns:a="http://schemas.openxmlformats.org/drawingml/2006/main">
              <a:ext uri="{FF2B5EF4-FFF2-40B4-BE49-F238E27FC236}">
                <a16:creationId xmlns:a16="http://schemas.microsoft.com/office/drawing/2014/main" id="{1A282199-352B-4915-A524-25FD6D700AB9}"/>
              </a:ext>
            </a:extLst>
          </p:cNvPr>
          <p:cNvCxnSpPr>
            <a:stCxn xmlns:a="http://schemas.openxmlformats.org/drawingml/2006/main" id="6" idx="3"/>
            <a:endCxn xmlns:a="http://schemas.openxmlformats.org/drawingml/2006/main" id="9" idx="1"/>
          </p:cNvCxnSpPr>
          <p:nvPr/>
        </p:nvCxnSpPr>
        <p:spPr>
          <a:xfrm xmlns:a="http://schemas.openxmlformats.org/drawingml/2006/main">
            <a:off x="3333750" y="2600325"/>
            <a:ext cx="438150" cy="0"/>
          </a:xfrm>
          <a:prstGeom xmlns:a="http://schemas.openxmlformats.org/drawingml/2006/main" prst="straightConnector1">
            <a:avLst/>
          </a:prstGeom>
          <a:ln xmlns:a="http://schemas.openxmlformats.org/drawingml/2006/main" w="19050">
            <a:solidFill>
              <a:srgbClr val="1673FF"/>
            </a:solidFill>
            <a:tailEnd type="triangle" w="sm" len="sm"/>
          </a:ln>
        </p:spPr>
      </p:cxnSp>
      <p:sp>
        <p:nvSpPr>
          <p:cNvPr id="27" name="Embedding retrieval setup">
            <a:extLst xmlns:a="http://schemas.openxmlformats.org/drawingml/2006/main">
              <a:ext uri="{FF2B5EF4-FFF2-40B4-BE49-F238E27FC236}">
                <a16:creationId xmlns:a16="http://schemas.microsoft.com/office/drawing/2014/main" id="{66506952-4FFF-43AB-AC5D-29054A7668D0}"/>
              </a:ext>
            </a:extLst>
          </p:cNvPr>
          <p:cNvSpPr>
            <a:spLocks xmlns:a="http://schemas.openxmlformats.org/drawingml/2006/main" noGrp="1"/>
          </p:cNvSpPr>
          <p:nvPr/>
        </p:nvSpPr>
        <p:spPr>
          <a:xfrm xmlns:a="http://schemas.openxmlformats.org/drawingml/2006/main">
            <a:off x="571500" y="285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61747"/>
                </a:solidFill>
                <a:latin typeface="Nimbus Sans"/>
                <a:ea typeface="Nimbus Sans"/>
                <a:cs typeface="Nimbus Sans"/>
              </a:defRPr>
            </a:defPPr>
          </a:lstStyle>
          <a:p xmlns:a="http://schemas.openxmlformats.org/drawingml/2006/main">
            <a:pPr algn="l">
              <a:buNone/>
              <a:defRPr sz="3075" b="1">
                <a:solidFill>
                  <a:srgbClr val="061747"/>
                </a:solidFill>
                <a:latin typeface="Nimbus Sans"/>
                <a:ea typeface="Nimbus Sans"/>
                <a:cs typeface="Nimbus Sans"/>
              </a:defRPr>
            </a:pPr>
            <a:r>
              <a:rPr sz="3075" b="1">
                <a:solidFill>
                  <a:srgbClr val="061747"/>
                </a:solidFill>
                <a:latin typeface="Nimbus Sans"/>
                <a:ea typeface="Nimbus Sans"/>
                <a:cs typeface="Nimbus Sans"/>
              </a:rPr>
              <a:t>Embedding retrieval setup</a:t>
            </a:r>
          </a:p>
        </p:txBody>
      </p:sp>
      <p:sp>
        <p:nvSpPr>
          <p:cNvPr id="2" name="Same five neighbors, two prediction methods">
            <a:extLst xmlns:a="http://schemas.openxmlformats.org/drawingml/2006/main">
              <a:ext uri="{FF2B5EF4-FFF2-40B4-BE49-F238E27FC236}">
                <a16:creationId xmlns:a16="http://schemas.microsoft.com/office/drawing/2014/main" id="{801AA002-A43B-4753-BB92-8D99F496E9CB}"/>
              </a:ext>
            </a:extLst>
          </p:cNvPr>
          <p:cNvSpPr>
            <a:spLocks xmlns:a="http://schemas.openxmlformats.org/drawingml/2006/main" noGrp="1"/>
          </p:cNvSpPr>
          <p:nvPr/>
        </p:nvSpPr>
        <p:spPr>
          <a:xfrm xmlns:a="http://schemas.openxmlformats.org/drawingml/2006/main">
            <a:off x="590550" y="914400"/>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Same five neighbors, two prediction methods</a:t>
            </a:r>
          </a:p>
        </p:txBody>
      </p:sp>
      <p:sp>
        <p:nvSpPr>
          <p:cNvPr id="3" name="">
            <a:extLst xmlns:a="http://schemas.openxmlformats.org/drawingml/2006/main">
              <a:ext uri="{FF2B5EF4-FFF2-40B4-BE49-F238E27FC236}">
                <a16:creationId xmlns:a16="http://schemas.microsoft.com/office/drawing/2014/main" id="{F5513FED-7C33-47A7-A622-73489DEE0BC7}"/>
              </a:ext>
            </a:extLst>
          </p:cNvPr>
          <p:cNvSpPr>
            <a:spLocks xmlns:a="http://schemas.openxmlformats.org/drawingml/2006/main" noGrp="1"/>
          </p:cNvSpPr>
          <p:nvPr/>
        </p:nvSpPr>
        <p:spPr>
          <a:xfrm xmlns:a="http://schemas.openxmlformats.org/drawingml/2006/main">
            <a:off x="571500" y="6229350"/>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4" name="The 595.78M embedding model is an additional experiment outside ">
            <a:extLst xmlns:a="http://schemas.openxmlformats.org/drawingml/2006/main">
              <a:ext uri="{FF2B5EF4-FFF2-40B4-BE49-F238E27FC236}">
                <a16:creationId xmlns:a16="http://schemas.microsoft.com/office/drawing/2014/main" id="{538BD720-EE48-4AF6-8069-C9705C438484}"/>
              </a:ext>
            </a:extLst>
          </p:cNvPr>
          <p:cNvSpPr>
            <a:spLocks xmlns:a="http://schemas.openxmlformats.org/drawingml/2006/main" noGrp="1"/>
          </p:cNvSpPr>
          <p:nvPr/>
        </p:nvSpPr>
        <p:spPr>
          <a:xfrm xmlns:a="http://schemas.openxmlformats.org/drawingml/2006/main">
            <a:off x="590550" y="636270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7B9C"/>
                </a:solidFill>
                <a:latin typeface="Nimbus Sans"/>
                <a:ea typeface="Nimbus Sans"/>
                <a:cs typeface="Nimbus Sans"/>
              </a:defRPr>
            </a:defPPr>
          </a:lstStyle>
          <a:p xmlns:a="http://schemas.openxmlformats.org/drawingml/2006/main">
            <a:pPr algn="l">
              <a:buNone/>
              <a:defRPr sz="1050" b="0">
                <a:solidFill>
                  <a:srgbClr val="637B9C"/>
                </a:solidFill>
                <a:latin typeface="Nimbus Sans"/>
                <a:ea typeface="Nimbus Sans"/>
                <a:cs typeface="Nimbus Sans"/>
              </a:defRPr>
            </a:pPr>
            <a:r>
              <a:rPr sz="1050" b="0">
                <a:solidFill>
                  <a:srgbClr val="637B9C"/>
                </a:solidFill>
                <a:latin typeface="Nimbus Sans"/>
                <a:ea typeface="Nimbus Sans"/>
                <a:cs typeface="Nimbus Sans"/>
              </a:rPr>
              <a:t>The 595.78M embedding model is an additional experiment outside the sub-0.5B fine-tuning POC claim.</a:t>
            </a:r>
          </a:p>
        </p:txBody>
      </p:sp>
      <p:sp>
        <p:nvSpPr>
          <p:cNvPr id="5" name="11">
            <a:extLst xmlns:a="http://schemas.openxmlformats.org/drawingml/2006/main">
              <a:ext uri="{FF2B5EF4-FFF2-40B4-BE49-F238E27FC236}">
                <a16:creationId xmlns:a16="http://schemas.microsoft.com/office/drawing/2014/main" id="{931831A5-D885-448C-A98D-CE712E4A0A7C}"/>
              </a:ext>
            </a:extLst>
          </p:cNvPr>
          <p:cNvSpPr>
            <a:spLocks xmlns:a="http://schemas.openxmlformats.org/drawingml/2006/main" noGrp="1"/>
          </p:cNvSpPr>
          <p:nvPr/>
        </p:nvSpPr>
        <p:spPr>
          <a:xfrm xmlns:a="http://schemas.openxmlformats.org/drawingml/2006/main">
            <a:off x="11182350"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37B9C"/>
                </a:solidFill>
                <a:latin typeface="Nimbus Sans"/>
                <a:ea typeface="Nimbus Sans"/>
                <a:cs typeface="Nimbus Sans"/>
              </a:defRPr>
            </a:defPPr>
          </a:lstStyle>
          <a:p xmlns:a="http://schemas.openxmlformats.org/drawingml/2006/main">
            <a:pPr algn="r">
              <a:buNone/>
              <a:defRPr sz="1125" b="0">
                <a:solidFill>
                  <a:srgbClr val="637B9C"/>
                </a:solidFill>
                <a:latin typeface="Nimbus Sans"/>
                <a:ea typeface="Nimbus Sans"/>
                <a:cs typeface="Nimbus Sans"/>
              </a:defRPr>
            </a:pPr>
            <a:r>
              <a:rPr sz="1125" b="0">
                <a:solidFill>
                  <a:srgbClr val="637B9C"/>
                </a:solidFill>
                <a:latin typeface="Nimbus Sans"/>
                <a:ea typeface="Nimbus Sans"/>
                <a:cs typeface="Nimbus Sans"/>
              </a:rPr>
              <a:t>13</a:t>
            </a:r>
          </a:p>
        </p:txBody>
      </p:sp>
      <p:sp>
        <p:nvSpPr>
          <p:cNvPr id="6" name="content-surface">
            <a:extLst xmlns:a="http://schemas.openxmlformats.org/drawingml/2006/main">
              <a:ext uri="{FF2B5EF4-FFF2-40B4-BE49-F238E27FC236}">
                <a16:creationId xmlns:a16="http://schemas.microsoft.com/office/drawing/2014/main" id="{0185D5F5-92D9-40D4-A4B2-008FC6EA1B1D}"/>
              </a:ext>
            </a:extLst>
          </p:cNvPr>
          <p:cNvSpPr>
            <a:spLocks xmlns:a="http://schemas.openxmlformats.org/drawingml/2006/main" noGrp="1"/>
          </p:cNvSpPr>
          <p:nvPr/>
        </p:nvSpPr>
        <p:spPr>
          <a:xfrm xmlns:a="http://schemas.openxmlformats.org/drawingml/2006/main">
            <a:off x="600075" y="1743075"/>
            <a:ext cx="2733675" cy="1714500"/>
          </a:xfrm>
          <a:prstGeom xmlns:a="http://schemas.openxmlformats.org/drawingml/2006/main" prst="roundRect">
            <a:avLst>
              <a:gd name="adj" fmla="val 7778"/>
            </a:avLst>
          </a:prstGeom>
          <a:solidFill xmlns:a="http://schemas.openxmlformats.org/drawingml/2006/main">
            <a:srgbClr val="EFF7FE"/>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7" name="A profile embedding">
            <a:extLst xmlns:a="http://schemas.openxmlformats.org/drawingml/2006/main">
              <a:ext uri="{FF2B5EF4-FFF2-40B4-BE49-F238E27FC236}">
                <a16:creationId xmlns:a16="http://schemas.microsoft.com/office/drawing/2014/main" id="{74C57850-0A9D-4587-B519-A75E0C62F205}"/>
              </a:ext>
            </a:extLst>
          </p:cNvPr>
          <p:cNvSpPr>
            <a:spLocks xmlns:a="http://schemas.openxmlformats.org/drawingml/2006/main" noGrp="1"/>
          </p:cNvSpPr>
          <p:nvPr/>
        </p:nvSpPr>
        <p:spPr>
          <a:xfrm xmlns:a="http://schemas.openxmlformats.org/drawingml/2006/main">
            <a:off x="790575" y="1924050"/>
            <a:ext cx="2352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673FF"/>
                </a:solidFill>
                <a:latin typeface="Nimbus Sans"/>
                <a:ea typeface="Nimbus Sans"/>
                <a:cs typeface="Nimbus Sans"/>
              </a:defRPr>
            </a:defPPr>
          </a:lstStyle>
          <a:p xmlns:a="http://schemas.openxmlformats.org/drawingml/2006/main">
            <a:pPr algn="l">
              <a:buNone/>
              <a:defRPr sz="1875" b="1">
                <a:solidFill>
                  <a:srgbClr val="1673FF"/>
                </a:solidFill>
                <a:latin typeface="Nimbus Sans"/>
                <a:ea typeface="Nimbus Sans"/>
                <a:cs typeface="Nimbus Sans"/>
              </a:defRPr>
            </a:pPr>
            <a:r>
              <a:rPr sz="1875" b="1">
                <a:solidFill>
                  <a:srgbClr val="1673FF"/>
                </a:solidFill>
                <a:latin typeface="Nimbus Sans"/>
                <a:ea typeface="Nimbus Sans"/>
                <a:cs typeface="Nimbus Sans"/>
              </a:rPr>
              <a:t>A profile embedding</a:t>
            </a:r>
          </a:p>
        </p:txBody>
      </p:sp>
      <p:sp>
        <p:nvSpPr>
          <p:cNvPr id="8" name="Frozen Qwen3&#10;Embedding-0.6B">
            <a:extLst xmlns:a="http://schemas.openxmlformats.org/drawingml/2006/main">
              <a:ext uri="{FF2B5EF4-FFF2-40B4-BE49-F238E27FC236}">
                <a16:creationId xmlns:a16="http://schemas.microsoft.com/office/drawing/2014/main" id="{C4B9FA3B-9F2B-4BB3-BDF6-DDD3472A58A7}"/>
              </a:ext>
            </a:extLst>
          </p:cNvPr>
          <p:cNvSpPr>
            <a:spLocks xmlns:a="http://schemas.openxmlformats.org/drawingml/2006/main" noGrp="1"/>
          </p:cNvSpPr>
          <p:nvPr/>
        </p:nvSpPr>
        <p:spPr>
          <a:xfrm xmlns:a="http://schemas.openxmlformats.org/drawingml/2006/main">
            <a:off x="790575" y="2352675"/>
            <a:ext cx="23526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37B9C"/>
                </a:solidFill>
                <a:latin typeface="Nimbus Sans"/>
                <a:ea typeface="Nimbus Sans"/>
                <a:cs typeface="Nimbus Sans"/>
              </a:defRPr>
            </a:defPPr>
          </a:lstStyle>
          <a:p xmlns:a="http://schemas.openxmlformats.org/drawingml/2006/main">
            <a:pPr algn="l">
              <a:buNone/>
              <a:defRPr sz="1575" b="0">
                <a:solidFill>
                  <a:srgbClr val="637B9C"/>
                </a:solidFill>
                <a:latin typeface="Nimbus Sans"/>
                <a:ea typeface="Nimbus Sans"/>
                <a:cs typeface="Nimbus Sans"/>
              </a:defRPr>
            </a:pPr>
            <a:r>
              <a:rPr sz="1575" b="0">
                <a:solidFill>
                  <a:srgbClr val="637B9C"/>
                </a:solidFill>
                <a:latin typeface="Nimbus Sans"/>
                <a:ea typeface="Nimbus Sans"/>
                <a:cs typeface="Nimbus Sans"/>
              </a:rPr>
              <a:t>Frozen Qwen3</a:t>
            </a:r>
          </a:p>
          <a:p xmlns:a="http://schemas.openxmlformats.org/drawingml/2006/main">
            <a:pPr algn="l">
              <a:buNone/>
              <a:defRPr sz="1575" b="0">
                <a:solidFill>
                  <a:srgbClr val="637B9C"/>
                </a:solidFill>
                <a:latin typeface="Nimbus Sans"/>
                <a:ea typeface="Nimbus Sans"/>
                <a:cs typeface="Nimbus Sans"/>
              </a:defRPr>
            </a:pPr>
            <a:r>
              <a:rPr sz="1575" b="0">
                <a:solidFill>
                  <a:srgbClr val="637B9C"/>
                </a:solidFill>
                <a:latin typeface="Nimbus Sans"/>
                <a:ea typeface="Nimbus Sans"/>
                <a:cs typeface="Nimbus Sans"/>
              </a:rPr>
              <a:t>Embedding-0.6B</a:t>
            </a:r>
          </a:p>
        </p:txBody>
      </p:sp>
      <p:sp>
        <p:nvSpPr>
          <p:cNvPr id="9" name="content-surface">
            <a:extLst xmlns:a="http://schemas.openxmlformats.org/drawingml/2006/main">
              <a:ext uri="{FF2B5EF4-FFF2-40B4-BE49-F238E27FC236}">
                <a16:creationId xmlns:a16="http://schemas.microsoft.com/office/drawing/2014/main" id="{6AC06BDC-8DEB-4A6B-8D05-BA858785AA3A}"/>
              </a:ext>
            </a:extLst>
          </p:cNvPr>
          <p:cNvSpPr>
            <a:spLocks xmlns:a="http://schemas.openxmlformats.org/drawingml/2006/main" noGrp="1"/>
          </p:cNvSpPr>
          <p:nvPr/>
        </p:nvSpPr>
        <p:spPr>
          <a:xfrm xmlns:a="http://schemas.openxmlformats.org/drawingml/2006/main">
            <a:off x="3771900" y="1743075"/>
            <a:ext cx="2809875" cy="1714500"/>
          </a:xfrm>
          <a:prstGeom xmlns:a="http://schemas.openxmlformats.org/drawingml/2006/main" prst="roundRect">
            <a:avLst>
              <a:gd name="adj" fmla="val 7778"/>
            </a:avLst>
          </a:prstGeom>
          <a:solidFill xmlns:a="http://schemas.openxmlformats.org/drawingml/2006/main">
            <a:srgbClr val="EFFBFA"/>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0" name="Training donors">
            <a:extLst xmlns:a="http://schemas.openxmlformats.org/drawingml/2006/main">
              <a:ext uri="{FF2B5EF4-FFF2-40B4-BE49-F238E27FC236}">
                <a16:creationId xmlns:a16="http://schemas.microsoft.com/office/drawing/2014/main" id="{DDB480AA-9EA5-400D-90B6-D19DFB02F4EE}"/>
              </a:ext>
            </a:extLst>
          </p:cNvPr>
          <p:cNvSpPr>
            <a:spLocks xmlns:a="http://schemas.openxmlformats.org/drawingml/2006/main" noGrp="1"/>
          </p:cNvSpPr>
          <p:nvPr/>
        </p:nvSpPr>
        <p:spPr>
          <a:xfrm xmlns:a="http://schemas.openxmlformats.org/drawingml/2006/main">
            <a:off x="3962400" y="1924050"/>
            <a:ext cx="242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9E9A"/>
                </a:solidFill>
                <a:latin typeface="Nimbus Sans"/>
                <a:ea typeface="Nimbus Sans"/>
                <a:cs typeface="Nimbus Sans"/>
              </a:defRPr>
            </a:defPPr>
          </a:lstStyle>
          <a:p xmlns:a="http://schemas.openxmlformats.org/drawingml/2006/main">
            <a:pPr algn="l">
              <a:buNone/>
              <a:defRPr sz="1875" b="1">
                <a:solidFill>
                  <a:srgbClr val="009E9A"/>
                </a:solidFill>
                <a:latin typeface="Nimbus Sans"/>
                <a:ea typeface="Nimbus Sans"/>
                <a:cs typeface="Nimbus Sans"/>
              </a:defRPr>
            </a:pPr>
            <a:r>
              <a:rPr sz="1875" b="1">
                <a:solidFill>
                  <a:srgbClr val="009E9A"/>
                </a:solidFill>
                <a:latin typeface="Nimbus Sans"/>
                <a:ea typeface="Nimbus Sans"/>
                <a:cs typeface="Nimbus Sans"/>
              </a:rPr>
              <a:t>Training donors</a:t>
            </a:r>
          </a:p>
        </p:txBody>
      </p:sp>
      <p:sp>
        <p:nvSpPr>
          <p:cNvPr id="11" name="Same target condition&#10;Product + exact price">
            <a:extLst xmlns:a="http://schemas.openxmlformats.org/drawingml/2006/main">
              <a:ext uri="{FF2B5EF4-FFF2-40B4-BE49-F238E27FC236}">
                <a16:creationId xmlns:a16="http://schemas.microsoft.com/office/drawing/2014/main" id="{EEBFF8D2-B794-487D-9DEF-F3BD63C0948F}"/>
              </a:ext>
            </a:extLst>
          </p:cNvPr>
          <p:cNvSpPr>
            <a:spLocks xmlns:a="http://schemas.openxmlformats.org/drawingml/2006/main" noGrp="1"/>
          </p:cNvSpPr>
          <p:nvPr/>
        </p:nvSpPr>
        <p:spPr>
          <a:xfrm xmlns:a="http://schemas.openxmlformats.org/drawingml/2006/main">
            <a:off x="3962400" y="2352675"/>
            <a:ext cx="2428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37B9C"/>
                </a:solidFill>
                <a:latin typeface="Nimbus Sans"/>
                <a:ea typeface="Nimbus Sans"/>
                <a:cs typeface="Nimbus Sans"/>
              </a:defRPr>
            </a:defPPr>
          </a:lstStyle>
          <a:p xmlns:a="http://schemas.openxmlformats.org/drawingml/2006/main">
            <a:pPr algn="l">
              <a:buNone/>
              <a:defRPr sz="1575" b="0">
                <a:solidFill>
                  <a:srgbClr val="637B9C"/>
                </a:solidFill>
                <a:latin typeface="Nimbus Sans"/>
                <a:ea typeface="Nimbus Sans"/>
                <a:cs typeface="Nimbus Sans"/>
              </a:defRPr>
            </a:pPr>
            <a:r>
              <a:rPr sz="1575" b="0">
                <a:solidFill>
                  <a:srgbClr val="637B9C"/>
                </a:solidFill>
                <a:latin typeface="Nimbus Sans"/>
                <a:ea typeface="Nimbus Sans"/>
                <a:cs typeface="Nimbus Sans"/>
              </a:rPr>
              <a:t>Same target condition</a:t>
            </a:r>
          </a:p>
          <a:p xmlns:a="http://schemas.openxmlformats.org/drawingml/2006/main">
            <a:pPr algn="l">
              <a:buNone/>
              <a:defRPr sz="1575" b="0">
                <a:solidFill>
                  <a:srgbClr val="637B9C"/>
                </a:solidFill>
                <a:latin typeface="Nimbus Sans"/>
                <a:ea typeface="Nimbus Sans"/>
                <a:cs typeface="Nimbus Sans"/>
              </a:defRPr>
            </a:pPr>
            <a:r>
              <a:rPr sz="1575" b="0">
                <a:solidFill>
                  <a:srgbClr val="637B9C"/>
                </a:solidFill>
                <a:latin typeface="Nimbus Sans"/>
                <a:ea typeface="Nimbus Sans"/>
                <a:cs typeface="Nimbus Sans"/>
              </a:rPr>
              <a:t>Product + exact price</a:t>
            </a:r>
          </a:p>
        </p:txBody>
      </p:sp>
      <p:sp>
        <p:nvSpPr>
          <p:cNvPr id="12" name="content-surface">
            <a:extLst xmlns:a="http://schemas.openxmlformats.org/drawingml/2006/main">
              <a:ext uri="{FF2B5EF4-FFF2-40B4-BE49-F238E27FC236}">
                <a16:creationId xmlns:a16="http://schemas.microsoft.com/office/drawing/2014/main" id="{DCF38F06-70D6-4AC0-8644-DA7DFAA0F6A8}"/>
              </a:ext>
            </a:extLst>
          </p:cNvPr>
          <p:cNvSpPr>
            <a:spLocks xmlns:a="http://schemas.openxmlformats.org/drawingml/2006/main" noGrp="1"/>
          </p:cNvSpPr>
          <p:nvPr/>
        </p:nvSpPr>
        <p:spPr>
          <a:xfrm xmlns:a="http://schemas.openxmlformats.org/drawingml/2006/main">
            <a:off x="7038975" y="1743075"/>
            <a:ext cx="4524375" cy="1714500"/>
          </a:xfrm>
          <a:prstGeom xmlns:a="http://schemas.openxmlformats.org/drawingml/2006/main" prst="roundRect">
            <a:avLst>
              <a:gd name="adj" fmla="val 7778"/>
            </a:avLst>
          </a:prstGeom>
          <a:solidFill xmlns:a="http://schemas.openxmlformats.org/drawingml/2006/main">
            <a:srgbClr val="F5F3FE"/>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3" name="Top 5 by cosine similarity">
            <a:extLst xmlns:a="http://schemas.openxmlformats.org/drawingml/2006/main">
              <a:ext uri="{FF2B5EF4-FFF2-40B4-BE49-F238E27FC236}">
                <a16:creationId xmlns:a16="http://schemas.microsoft.com/office/drawing/2014/main" id="{6D4ACFDA-EAA4-46C7-88F5-2B1A7D86C13B}"/>
              </a:ext>
            </a:extLst>
          </p:cNvPr>
          <p:cNvSpPr>
            <a:spLocks xmlns:a="http://schemas.openxmlformats.org/drawingml/2006/main" noGrp="1"/>
          </p:cNvSpPr>
          <p:nvPr/>
        </p:nvSpPr>
        <p:spPr>
          <a:xfrm xmlns:a="http://schemas.openxmlformats.org/drawingml/2006/main">
            <a:off x="7229475" y="1924050"/>
            <a:ext cx="4143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8254F5"/>
                </a:solidFill>
                <a:latin typeface="Nimbus Sans"/>
                <a:ea typeface="Nimbus Sans"/>
                <a:cs typeface="Nimbus Sans"/>
              </a:defRPr>
            </a:defPPr>
          </a:lstStyle>
          <a:p xmlns:a="http://schemas.openxmlformats.org/drawingml/2006/main">
            <a:pPr algn="l">
              <a:buNone/>
              <a:defRPr sz="1875" b="1">
                <a:solidFill>
                  <a:srgbClr val="8254F5"/>
                </a:solidFill>
                <a:latin typeface="Nimbus Sans"/>
                <a:ea typeface="Nimbus Sans"/>
                <a:cs typeface="Nimbus Sans"/>
              </a:defRPr>
            </a:pPr>
            <a:r>
              <a:rPr sz="1875" b="1">
                <a:solidFill>
                  <a:srgbClr val="8254F5"/>
                </a:solidFill>
                <a:latin typeface="Nimbus Sans"/>
                <a:ea typeface="Nimbus Sans"/>
                <a:cs typeface="Nimbus Sans"/>
              </a:rPr>
              <a:t>Top 5 by cosine similarity</a:t>
            </a:r>
          </a:p>
        </p:txBody>
      </p:sp>
      <p:sp>
        <p:nvSpPr>
          <p:cNvPr id="14" name="Retrieve A profiles and their training B answers">
            <a:extLst xmlns:a="http://schemas.openxmlformats.org/drawingml/2006/main">
              <a:ext uri="{FF2B5EF4-FFF2-40B4-BE49-F238E27FC236}">
                <a16:creationId xmlns:a16="http://schemas.microsoft.com/office/drawing/2014/main" id="{EDEA5C8D-2CF7-4206-9ADB-11135BE4089D}"/>
              </a:ext>
            </a:extLst>
          </p:cNvPr>
          <p:cNvSpPr>
            <a:spLocks xmlns:a="http://schemas.openxmlformats.org/drawingml/2006/main" noGrp="1"/>
          </p:cNvSpPr>
          <p:nvPr/>
        </p:nvSpPr>
        <p:spPr>
          <a:xfrm xmlns:a="http://schemas.openxmlformats.org/drawingml/2006/main">
            <a:off x="7229475" y="2352675"/>
            <a:ext cx="4143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37B9C"/>
                </a:solidFill>
                <a:latin typeface="Nimbus Sans"/>
                <a:ea typeface="Nimbus Sans"/>
                <a:cs typeface="Nimbus Sans"/>
              </a:defRPr>
            </a:defPPr>
          </a:lstStyle>
          <a:p xmlns:a="http://schemas.openxmlformats.org/drawingml/2006/main">
            <a:pPr algn="l">
              <a:buNone/>
              <a:defRPr sz="1575" b="0">
                <a:solidFill>
                  <a:srgbClr val="637B9C"/>
                </a:solidFill>
                <a:latin typeface="Nimbus Sans"/>
                <a:ea typeface="Nimbus Sans"/>
                <a:cs typeface="Nimbus Sans"/>
              </a:defRPr>
            </a:pPr>
            <a:r>
              <a:rPr sz="1575" b="0">
                <a:solidFill>
                  <a:srgbClr val="637B9C"/>
                </a:solidFill>
                <a:latin typeface="Nimbus Sans"/>
                <a:ea typeface="Nimbus Sans"/>
                <a:cs typeface="Nimbus Sans"/>
              </a:rPr>
              <a:t>Retrieve A profiles and their training B answers</a:t>
            </a:r>
          </a:p>
        </p:txBody>
      </p:sp>
      <p:sp>
        <p:nvSpPr>
          <p:cNvPr id="17" name="content-surface">
            <a:extLst xmlns:a="http://schemas.openxmlformats.org/drawingml/2006/main">
              <a:ext uri="{FF2B5EF4-FFF2-40B4-BE49-F238E27FC236}">
                <a16:creationId xmlns:a16="http://schemas.microsoft.com/office/drawing/2014/main" id="{1104C781-FDD3-43F6-963B-233E35D1FF79}"/>
              </a:ext>
            </a:extLst>
          </p:cNvPr>
          <p:cNvSpPr>
            <a:spLocks xmlns:a="http://schemas.openxmlformats.org/drawingml/2006/main" noGrp="1"/>
          </p:cNvSpPr>
          <p:nvPr/>
        </p:nvSpPr>
        <p:spPr>
          <a:xfrm xmlns:a="http://schemas.openxmlformats.org/drawingml/2006/main">
            <a:off x="4000500" y="4095750"/>
            <a:ext cx="3381375" cy="1362075"/>
          </a:xfrm>
          <a:prstGeom xmlns:a="http://schemas.openxmlformats.org/drawingml/2006/main" prst="roundRect">
            <a:avLst>
              <a:gd name="adj" fmla="val 9790"/>
            </a:avLst>
          </a:prstGeom>
          <a:solidFill xmlns:a="http://schemas.openxmlformats.org/drawingml/2006/main">
            <a:srgbClr val="EFFBFA"/>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8" name="Vote / median">
            <a:extLst xmlns:a="http://schemas.openxmlformats.org/drawingml/2006/main">
              <a:ext uri="{FF2B5EF4-FFF2-40B4-BE49-F238E27FC236}">
                <a16:creationId xmlns:a16="http://schemas.microsoft.com/office/drawing/2014/main" id="{5A006220-35A7-40AF-8A1F-C72F1626B5B2}"/>
              </a:ext>
            </a:extLst>
          </p:cNvPr>
          <p:cNvSpPr>
            <a:spLocks xmlns:a="http://schemas.openxmlformats.org/drawingml/2006/main" noGrp="1"/>
          </p:cNvSpPr>
          <p:nvPr/>
        </p:nvSpPr>
        <p:spPr>
          <a:xfrm xmlns:a="http://schemas.openxmlformats.org/drawingml/2006/main">
            <a:off x="4191000" y="42767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9E9A"/>
                </a:solidFill>
                <a:latin typeface="Nimbus Sans"/>
                <a:ea typeface="Nimbus Sans"/>
                <a:cs typeface="Nimbus Sans"/>
              </a:defRPr>
            </a:defPPr>
          </a:lstStyle>
          <a:p xmlns:a="http://schemas.openxmlformats.org/drawingml/2006/main">
            <a:pPr algn="l">
              <a:buNone/>
              <a:defRPr sz="1875" b="1">
                <a:solidFill>
                  <a:srgbClr val="009E9A"/>
                </a:solidFill>
                <a:latin typeface="Nimbus Sans"/>
                <a:ea typeface="Nimbus Sans"/>
                <a:cs typeface="Nimbus Sans"/>
              </a:defRPr>
            </a:pPr>
            <a:r>
              <a:rPr sz="1875" b="1">
                <a:solidFill>
                  <a:srgbClr val="009E9A"/>
                </a:solidFill>
                <a:latin typeface="Nimbus Sans"/>
                <a:ea typeface="Nimbus Sans"/>
                <a:cs typeface="Nimbus Sans"/>
              </a:rPr>
              <a:t>Vote / median</a:t>
            </a:r>
          </a:p>
        </p:txBody>
      </p:sp>
      <p:sp>
        <p:nvSpPr>
          <p:cNvPr id="19" name="Direct prediction from neighbor B">
            <a:extLst xmlns:a="http://schemas.openxmlformats.org/drawingml/2006/main">
              <a:ext uri="{FF2B5EF4-FFF2-40B4-BE49-F238E27FC236}">
                <a16:creationId xmlns:a16="http://schemas.microsoft.com/office/drawing/2014/main" id="{97BE0244-2E5A-451F-BD2A-21B4A236BBDE}"/>
              </a:ext>
            </a:extLst>
          </p:cNvPr>
          <p:cNvSpPr>
            <a:spLocks xmlns:a="http://schemas.openxmlformats.org/drawingml/2006/main" noGrp="1"/>
          </p:cNvSpPr>
          <p:nvPr/>
        </p:nvSpPr>
        <p:spPr>
          <a:xfrm xmlns:a="http://schemas.openxmlformats.org/drawingml/2006/main">
            <a:off x="4191000" y="4705350"/>
            <a:ext cx="3000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37B9C"/>
                </a:solidFill>
                <a:latin typeface="Nimbus Sans"/>
                <a:ea typeface="Nimbus Sans"/>
                <a:cs typeface="Nimbus Sans"/>
              </a:defRPr>
            </a:defPPr>
          </a:lstStyle>
          <a:p xmlns:a="http://schemas.openxmlformats.org/drawingml/2006/main">
            <a:pPr algn="l">
              <a:buNone/>
              <a:defRPr sz="1575" b="0">
                <a:solidFill>
                  <a:srgbClr val="637B9C"/>
                </a:solidFill>
                <a:latin typeface="Nimbus Sans"/>
                <a:ea typeface="Nimbus Sans"/>
                <a:cs typeface="Nimbus Sans"/>
              </a:defRPr>
            </a:pPr>
            <a:r>
              <a:rPr sz="1575" b="0">
                <a:solidFill>
                  <a:srgbClr val="637B9C"/>
                </a:solidFill>
                <a:latin typeface="Nimbus Sans"/>
                <a:ea typeface="Nimbus Sans"/>
                <a:cs typeface="Nimbus Sans"/>
              </a:rPr>
              <a:t>Direct prediction from neighbor B</a:t>
            </a:r>
          </a:p>
        </p:txBody>
      </p:sp>
      <p:sp>
        <p:nvSpPr>
          <p:cNvPr id="20" name="content-surface">
            <a:extLst xmlns:a="http://schemas.openxmlformats.org/drawingml/2006/main">
              <a:ext uri="{FF2B5EF4-FFF2-40B4-BE49-F238E27FC236}">
                <a16:creationId xmlns:a16="http://schemas.microsoft.com/office/drawing/2014/main" id="{D8F6FA27-3032-447F-B201-F723C2D6A765}"/>
              </a:ext>
            </a:extLst>
          </p:cNvPr>
          <p:cNvSpPr>
            <a:spLocks xmlns:a="http://schemas.openxmlformats.org/drawingml/2006/main" noGrp="1"/>
          </p:cNvSpPr>
          <p:nvPr/>
        </p:nvSpPr>
        <p:spPr>
          <a:xfrm xmlns:a="http://schemas.openxmlformats.org/drawingml/2006/main">
            <a:off x="7943850" y="4095750"/>
            <a:ext cx="3619500" cy="1362075"/>
          </a:xfrm>
          <a:prstGeom xmlns:a="http://schemas.openxmlformats.org/drawingml/2006/main" prst="roundRect">
            <a:avLst>
              <a:gd name="adj" fmla="val 9790"/>
            </a:avLst>
          </a:prstGeom>
          <a:solidFill xmlns:a="http://schemas.openxmlformats.org/drawingml/2006/main">
            <a:srgbClr val="EFF7FE"/>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21" name="Qwen + demonstrations">
            <a:extLst xmlns:a="http://schemas.openxmlformats.org/drawingml/2006/main">
              <a:ext uri="{FF2B5EF4-FFF2-40B4-BE49-F238E27FC236}">
                <a16:creationId xmlns:a16="http://schemas.microsoft.com/office/drawing/2014/main" id="{0BCF0914-8F59-418F-A874-4DA46E91427A}"/>
              </a:ext>
            </a:extLst>
          </p:cNvPr>
          <p:cNvSpPr>
            <a:spLocks xmlns:a="http://schemas.openxmlformats.org/drawingml/2006/main" noGrp="1"/>
          </p:cNvSpPr>
          <p:nvPr/>
        </p:nvSpPr>
        <p:spPr>
          <a:xfrm xmlns:a="http://schemas.openxmlformats.org/drawingml/2006/main">
            <a:off x="8134350" y="427672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673FF"/>
                </a:solidFill>
                <a:latin typeface="Nimbus Sans"/>
                <a:ea typeface="Nimbus Sans"/>
                <a:cs typeface="Nimbus Sans"/>
              </a:defRPr>
            </a:defPPr>
          </a:lstStyle>
          <a:p xmlns:a="http://schemas.openxmlformats.org/drawingml/2006/main">
            <a:pPr algn="l">
              <a:buNone/>
              <a:defRPr sz="1875" b="1">
                <a:solidFill>
                  <a:srgbClr val="1673FF"/>
                </a:solidFill>
                <a:latin typeface="Nimbus Sans"/>
                <a:ea typeface="Nimbus Sans"/>
                <a:cs typeface="Nimbus Sans"/>
              </a:defRPr>
            </a:pPr>
            <a:r>
              <a:rPr sz="1875" b="1">
                <a:solidFill>
                  <a:srgbClr val="1673FF"/>
                </a:solidFill>
                <a:latin typeface="Nimbus Sans"/>
                <a:ea typeface="Nimbus Sans"/>
                <a:cs typeface="Nimbus Sans"/>
              </a:rPr>
              <a:t>Qwen + demonstrations</a:t>
            </a:r>
          </a:p>
        </p:txBody>
      </p:sp>
      <p:sp>
        <p:nvSpPr>
          <p:cNvPr id="22" name="Base Qwen2.5-0.5B, no adapter">
            <a:extLst xmlns:a="http://schemas.openxmlformats.org/drawingml/2006/main">
              <a:ext uri="{FF2B5EF4-FFF2-40B4-BE49-F238E27FC236}">
                <a16:creationId xmlns:a16="http://schemas.microsoft.com/office/drawing/2014/main" id="{A1F10CFC-B1CF-4C89-AD9B-D54173574457}"/>
              </a:ext>
            </a:extLst>
          </p:cNvPr>
          <p:cNvSpPr>
            <a:spLocks xmlns:a="http://schemas.openxmlformats.org/drawingml/2006/main" noGrp="1"/>
          </p:cNvSpPr>
          <p:nvPr/>
        </p:nvSpPr>
        <p:spPr>
          <a:xfrm xmlns:a="http://schemas.openxmlformats.org/drawingml/2006/main">
            <a:off x="8134350" y="4705350"/>
            <a:ext cx="323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37B9C"/>
                </a:solidFill>
                <a:latin typeface="Nimbus Sans"/>
                <a:ea typeface="Nimbus Sans"/>
                <a:cs typeface="Nimbus Sans"/>
              </a:defRPr>
            </a:defPPr>
          </a:lstStyle>
          <a:p xmlns:a="http://schemas.openxmlformats.org/drawingml/2006/main">
            <a:pPr algn="l">
              <a:buNone/>
              <a:defRPr sz="1575" b="0">
                <a:solidFill>
                  <a:srgbClr val="637B9C"/>
                </a:solidFill>
                <a:latin typeface="Nimbus Sans"/>
                <a:ea typeface="Nimbus Sans"/>
                <a:cs typeface="Nimbus Sans"/>
              </a:defRPr>
            </a:pPr>
            <a:r>
              <a:rPr sz="1575" b="0">
                <a:solidFill>
                  <a:srgbClr val="637B9C"/>
                </a:solidFill>
                <a:latin typeface="Nimbus Sans"/>
                <a:ea typeface="Nimbus Sans"/>
                <a:cs typeface="Nimbus Sans"/>
              </a:rPr>
              <a:t>Base Qwen2.5-0.5B, no adapter</a:t>
            </a:r>
          </a:p>
        </p:txBody>
      </p:sp>
      <p:sp>
        <p:nvSpPr>
          <p:cNvPr id="25" name="Shared A definitions appear once.&#10;Each person keeps separate ans">
            <a:extLst xmlns:a="http://schemas.openxmlformats.org/drawingml/2006/main">
              <a:ext uri="{FF2B5EF4-FFF2-40B4-BE49-F238E27FC236}">
                <a16:creationId xmlns:a16="http://schemas.microsoft.com/office/drawing/2014/main" id="{164FE9FA-4D74-4F51-85A6-DF8C82780C6B}"/>
              </a:ext>
            </a:extLst>
          </p:cNvPr>
          <p:cNvSpPr>
            <a:spLocks xmlns:a="http://schemas.openxmlformats.org/drawingml/2006/main" noGrp="1"/>
          </p:cNvSpPr>
          <p:nvPr/>
        </p:nvSpPr>
        <p:spPr>
          <a:xfrm xmlns:a="http://schemas.openxmlformats.org/drawingml/2006/main">
            <a:off x="619125" y="4314825"/>
            <a:ext cx="29813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61747"/>
                </a:solidFill>
                <a:latin typeface="Nimbus Sans"/>
                <a:ea typeface="Nimbus Sans"/>
                <a:cs typeface="Nimbus Sans"/>
              </a:defRPr>
            </a:defPPr>
          </a:lstStyle>
          <a:p xmlns:a="http://schemas.openxmlformats.org/drawingml/2006/main">
            <a:pPr algn="l">
              <a:buNone/>
              <a:defRPr sz="1800" b="1">
                <a:solidFill>
                  <a:srgbClr val="061747"/>
                </a:solidFill>
                <a:latin typeface="Nimbus Sans"/>
                <a:ea typeface="Nimbus Sans"/>
                <a:cs typeface="Nimbus Sans"/>
              </a:defRPr>
            </a:pPr>
            <a:r>
              <a:rPr sz="1800" b="1">
                <a:solidFill>
                  <a:srgbClr val="061747"/>
                </a:solidFill>
                <a:latin typeface="Nimbus Sans"/>
                <a:ea typeface="Nimbus Sans"/>
                <a:cs typeface="Nimbus Sans"/>
              </a:rPr>
              <a:t>Shared A definitions appear once.</a:t>
            </a:r>
          </a:p>
          <a:p xmlns:a="http://schemas.openxmlformats.org/drawingml/2006/main">
            <a:pPr algn="l">
              <a:buNone/>
              <a:defRPr sz="1800" b="1">
                <a:solidFill>
                  <a:srgbClr val="061747"/>
                </a:solidFill>
                <a:latin typeface="Nimbus Sans"/>
                <a:ea typeface="Nimbus Sans"/>
                <a:cs typeface="Nimbus Sans"/>
              </a:defRPr>
            </a:pPr>
            <a:r>
              <a:rPr sz="1800" b="1">
                <a:solidFill>
                  <a:srgbClr val="061747"/>
                </a:solidFill>
                <a:latin typeface="Nimbus Sans"/>
                <a:ea typeface="Nimbus Sans"/>
                <a:cs typeface="Nimbus Sans"/>
              </a:rPr>
              <a:t>Each person keeps separate answers.</a:t>
            </a:r>
          </a:p>
        </p:txBody>
      </p:sp>
      <p:sp>
        <p:nvSpPr>
          <p:cNvPr id="26" name="Actual prompts: 2,357–4,961 tokens. All five neighbors fit.">
            <a:extLst xmlns:a="http://schemas.openxmlformats.org/drawingml/2006/main">
              <a:ext uri="{FF2B5EF4-FFF2-40B4-BE49-F238E27FC236}">
                <a16:creationId xmlns:a16="http://schemas.microsoft.com/office/drawing/2014/main" id="{C63CF941-C315-4C39-81C5-320EBB0E72AA}"/>
              </a:ext>
            </a:extLst>
          </p:cNvPr>
          <p:cNvSpPr>
            <a:spLocks xmlns:a="http://schemas.openxmlformats.org/drawingml/2006/main" noGrp="1"/>
          </p:cNvSpPr>
          <p:nvPr/>
        </p:nvSpPr>
        <p:spPr>
          <a:xfrm xmlns:a="http://schemas.openxmlformats.org/drawingml/2006/main">
            <a:off x="619125" y="5753100"/>
            <a:ext cx="1081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9E9A"/>
                </a:solidFill>
                <a:latin typeface="Nimbus Sans"/>
                <a:ea typeface="Nimbus Sans"/>
                <a:cs typeface="Nimbus Sans"/>
              </a:defRPr>
            </a:defPPr>
          </a:lstStyle>
          <a:p xmlns:a="http://schemas.openxmlformats.org/drawingml/2006/main">
            <a:pPr algn="l">
              <a:buNone/>
              <a:defRPr sz="1800" b="1">
                <a:solidFill>
                  <a:srgbClr val="009E9A"/>
                </a:solidFill>
                <a:latin typeface="Nimbus Sans"/>
                <a:ea typeface="Nimbus Sans"/>
                <a:cs typeface="Nimbus Sans"/>
              </a:defRPr>
            </a:pPr>
            <a:r>
              <a:rPr sz="1800" b="1">
                <a:solidFill>
                  <a:srgbClr val="009E9A"/>
                </a:solidFill>
                <a:latin typeface="Nimbus Sans"/>
                <a:ea typeface="Nimbus Sans"/>
                <a:cs typeface="Nimbus Sans"/>
              </a:rPr>
              <a:t>Actual prompts: 2,357–4,961 tokens. All five neighbors fit.</a:t>
            </a:r>
          </a:p>
        </p:txBody>
      </p:sp>
    </p:spTree>
    <p:extLst>
      <p:ext uri="{BB962C8B-B14F-4D97-AF65-F5344CB8AC3E}">
        <p14:creationId xmlns:p14="http://schemas.microsoft.com/office/powerpoint/2010/main" val="17897278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trieval with all answer options">
            <a:extLst xmlns:a="http://schemas.openxmlformats.org/drawingml/2006/main">
              <a:ext uri="{FF2B5EF4-FFF2-40B4-BE49-F238E27FC236}">
                <a16:creationId xmlns:a16="http://schemas.microsoft.com/office/drawing/2014/main" id="{C2867EB9-E9D3-466D-8F1A-4750A142E1CD}"/>
              </a:ext>
            </a:extLst>
          </p:cNvPr>
          <p:cNvSpPr>
            <a:spLocks xmlns:a="http://schemas.openxmlformats.org/drawingml/2006/main" noGrp="1"/>
          </p:cNvSpPr>
          <p:nvPr/>
        </p:nvSpPr>
        <p:spPr>
          <a:xfrm xmlns:a="http://schemas.openxmlformats.org/drawingml/2006/main">
            <a:off x="571500" y="285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61747"/>
                </a:solidFill>
                <a:latin typeface="Nimbus Sans"/>
                <a:ea typeface="Nimbus Sans"/>
                <a:cs typeface="Nimbus Sans"/>
              </a:defRPr>
            </a:defPPr>
          </a:lstStyle>
          <a:p xmlns:a="http://schemas.openxmlformats.org/drawingml/2006/main">
            <a:pPr algn="l">
              <a:buNone/>
              <a:defRPr sz="3075" b="1">
                <a:solidFill>
                  <a:srgbClr val="061747"/>
                </a:solidFill>
                <a:latin typeface="Nimbus Sans"/>
                <a:ea typeface="Nimbus Sans"/>
                <a:cs typeface="Nimbus Sans"/>
              </a:defRPr>
            </a:pPr>
            <a:r>
              <a:rPr sz="3075" b="1">
                <a:solidFill>
                  <a:srgbClr val="061747"/>
                </a:solidFill>
                <a:latin typeface="Nimbus Sans"/>
                <a:ea typeface="Nimbus Sans"/>
                <a:cs typeface="Nimbus Sans"/>
              </a:rPr>
              <a:t>Retrieval with all answer options</a:t>
            </a:r>
          </a:p>
        </p:txBody>
      </p:sp>
      <p:sp>
        <p:nvSpPr>
          <p:cNvPr id="2" name="Embedding input includes question wording, option lists and the ">
            <a:extLst xmlns:a="http://schemas.openxmlformats.org/drawingml/2006/main">
              <a:ext uri="{FF2B5EF4-FFF2-40B4-BE49-F238E27FC236}">
                <a16:creationId xmlns:a16="http://schemas.microsoft.com/office/drawing/2014/main" id="{ADE75BCB-262D-42F1-9AEB-7796379F3F02}"/>
              </a:ext>
            </a:extLst>
          </p:cNvPr>
          <p:cNvSpPr>
            <a:spLocks xmlns:a="http://schemas.openxmlformats.org/drawingml/2006/main" noGrp="1"/>
          </p:cNvSpPr>
          <p:nvPr/>
        </p:nvSpPr>
        <p:spPr>
          <a:xfrm xmlns:a="http://schemas.openxmlformats.org/drawingml/2006/main">
            <a:off x="590550" y="914400"/>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Embedding input includes question wording, option lists and the selected answer</a:t>
            </a:r>
          </a:p>
        </p:txBody>
      </p:sp>
      <p:sp>
        <p:nvSpPr>
          <p:cNvPr id="3" name="">
            <a:extLst xmlns:a="http://schemas.openxmlformats.org/drawingml/2006/main">
              <a:ext uri="{FF2B5EF4-FFF2-40B4-BE49-F238E27FC236}">
                <a16:creationId xmlns:a16="http://schemas.microsoft.com/office/drawing/2014/main" id="{D9A3784F-9DE6-4802-BDFF-5AF4282DB3EE}"/>
              </a:ext>
            </a:extLst>
          </p:cNvPr>
          <p:cNvSpPr>
            <a:spLocks xmlns:a="http://schemas.openxmlformats.org/drawingml/2006/main" noGrp="1"/>
          </p:cNvSpPr>
          <p:nvPr/>
        </p:nvSpPr>
        <p:spPr>
          <a:xfrm xmlns:a="http://schemas.openxmlformats.org/drawingml/2006/main">
            <a:off x="571500" y="6229350"/>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4" name="Qwen without neighbors is the matched own-A control. Both Qwen c">
            <a:extLst xmlns:a="http://schemas.openxmlformats.org/drawingml/2006/main">
              <a:ext uri="{FF2B5EF4-FFF2-40B4-BE49-F238E27FC236}">
                <a16:creationId xmlns:a16="http://schemas.microsoft.com/office/drawing/2014/main" id="{7317A1D1-58DA-4167-B28C-B96AF14326DD}"/>
              </a:ext>
            </a:extLst>
          </p:cNvPr>
          <p:cNvSpPr>
            <a:spLocks xmlns:a="http://schemas.openxmlformats.org/drawingml/2006/main" noGrp="1"/>
          </p:cNvSpPr>
          <p:nvPr/>
        </p:nvSpPr>
        <p:spPr>
          <a:xfrm xmlns:a="http://schemas.openxmlformats.org/drawingml/2006/main">
            <a:off x="590550" y="636270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7B9C"/>
                </a:solidFill>
                <a:latin typeface="Nimbus Sans"/>
                <a:ea typeface="Nimbus Sans"/>
                <a:cs typeface="Nimbus Sans"/>
              </a:defRPr>
            </a:defPPr>
          </a:lstStyle>
          <a:p xmlns:a="http://schemas.openxmlformats.org/drawingml/2006/main">
            <a:pPr algn="l">
              <a:buNone/>
              <a:defRPr sz="1050" b="0">
                <a:solidFill>
                  <a:srgbClr val="637B9C"/>
                </a:solidFill>
                <a:latin typeface="Nimbus Sans"/>
                <a:ea typeface="Nimbus Sans"/>
                <a:cs typeface="Nimbus Sans"/>
              </a:defRPr>
            </a:pPr>
            <a:r>
              <a:rPr sz="1050" b="0">
                <a:solidFill>
                  <a:srgbClr val="637B9C"/>
                </a:solidFill>
                <a:latin typeface="Nimbus Sans"/>
                <a:ea typeface="Nimbus Sans"/>
                <a:cs typeface="Nimbus Sans"/>
              </a:rPr>
              <a:t>Qwen without neighbors is the matched own-A control. Both Qwen columns use the original model without fine-tuning.</a:t>
            </a:r>
          </a:p>
        </p:txBody>
      </p:sp>
      <p:sp>
        <p:nvSpPr>
          <p:cNvPr id="5" name="12">
            <a:extLst xmlns:a="http://schemas.openxmlformats.org/drawingml/2006/main">
              <a:ext uri="{FF2B5EF4-FFF2-40B4-BE49-F238E27FC236}">
                <a16:creationId xmlns:a16="http://schemas.microsoft.com/office/drawing/2014/main" id="{CCD937C9-288B-43EB-AAD2-BE6C3D0920F8}"/>
              </a:ext>
            </a:extLst>
          </p:cNvPr>
          <p:cNvSpPr>
            <a:spLocks xmlns:a="http://schemas.openxmlformats.org/drawingml/2006/main" noGrp="1"/>
          </p:cNvSpPr>
          <p:nvPr/>
        </p:nvSpPr>
        <p:spPr>
          <a:xfrm xmlns:a="http://schemas.openxmlformats.org/drawingml/2006/main">
            <a:off x="11182350"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37B9C"/>
                </a:solidFill>
                <a:latin typeface="Nimbus Sans"/>
                <a:ea typeface="Nimbus Sans"/>
                <a:cs typeface="Nimbus Sans"/>
              </a:defRPr>
            </a:defPPr>
          </a:lstStyle>
          <a:p xmlns:a="http://schemas.openxmlformats.org/drawingml/2006/main">
            <a:pPr algn="r">
              <a:buNone/>
              <a:defRPr sz="1125" b="0">
                <a:solidFill>
                  <a:srgbClr val="637B9C"/>
                </a:solidFill>
                <a:latin typeface="Nimbus Sans"/>
                <a:ea typeface="Nimbus Sans"/>
                <a:cs typeface="Nimbus Sans"/>
              </a:defRPr>
            </a:pPr>
            <a:r>
              <a:rPr sz="1125" b="0">
                <a:solidFill>
                  <a:srgbClr val="637B9C"/>
                </a:solidFill>
                <a:latin typeface="Nimbus Sans"/>
                <a:ea typeface="Nimbus Sans"/>
                <a:cs typeface="Nimbus Sans"/>
              </a:rPr>
              <a:t>14</a:t>
            </a:r>
          </a:p>
        </p:txBody>
      </p:sp>
      <p:graphicFrame>
        <p:nvGraphicFramePr>
          <p:cNvPr id="6" name="">
            <a:extLst xmlns:a="http://schemas.openxmlformats.org/drawingml/2006/main">
              <a:ext uri="{FF2B5EF4-FFF2-40B4-BE49-F238E27FC236}">
                <a16:creationId xmlns:a16="http://schemas.microsoft.com/office/drawing/2014/main" id="{E7822096-AE91-4B62-B46C-8A6B60093CE7}"/>
              </a:ext>
            </a:extLst>
          </p:cNvPr>
          <p:cNvGraphicFramePr/>
          <p:nvPr/>
        </p:nvGraphicFramePr>
        <p:xfrm>
          <a:off xmlns:a="http://schemas.openxmlformats.org/drawingml/2006/main" x="609600" y="1562100"/>
          <a:ext xmlns:a="http://schemas.openxmlformats.org/drawingml/2006/main" cx="10972800" cy="4000500"/>
        </p:xfrm>
        <a:graphic xmlns:a="http://schemas.openxmlformats.org/drawingml/2006/main">
          <a:graphicData uri="http://schemas.openxmlformats.org/drawingml/2006/table">
            <a:tbl>
              <a:tblPr/>
              <a:tblGrid>
                <a:gridCol w="3810000"/>
                <a:gridCol w="1762125"/>
                <a:gridCol w="1781175"/>
                <a:gridCol w="1809750"/>
                <a:gridCol w="1809750"/>
              </a:tblGrid>
              <a:tr h="571500">
                <a:tc>
                  <a:txBody>
                    <a:bodyPr/>
                    <a:lstStyle/>
                    <a:p>
                      <a:pPr algn="l">
                        <a:buNone/>
                      </a:pPr>
                      <a:r>
                        <a:rPr sz="1425" b="1">
                          <a:solidFill>
                            <a:srgbClr val="061747"/>
                          </a:solidFill>
                          <a:latin typeface="Nimbus Sans"/>
                          <a:ea typeface="Nimbus Sans"/>
                          <a:cs typeface="Nimbus Sans"/>
                        </a:rPr>
                        <a:t>Question group / metric</a:t>
                      </a:r>
                    </a:p>
                  </a:txBody>
                  <a:tcPr marL="133350" marR="114300" marT="95250" marB="95250" anchor="ctr">
                    <a:lnL w="7620">
                      <a:solidFill>
                        <a:srgbClr val="C9DAEB"/>
                      </a:solidFill>
                      <a:prstDash val="solid"/>
                    </a:lnL>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425" b="1">
                          <a:solidFill>
                            <a:srgbClr val="061747"/>
                          </a:solidFill>
                          <a:latin typeface="Nimbus Sans"/>
                          <a:ea typeface="Nimbus Sans"/>
                          <a:cs typeface="Nimbus Sans"/>
                        </a:rPr>
                        <a:t>Question-only</a:t>
                      </a:r>
                    </a:p>
                    <a:p>
                      <a:pPr algn="ctr">
                        <a:buNone/>
                      </a:pPr>
                      <a:r>
                        <a:rPr sz="1425" b="1">
                          <a:solidFill>
                            <a:srgbClr val="061747"/>
                          </a:solidFill>
                          <a:latin typeface="Nimbus Sans"/>
                          <a:ea typeface="Nimbus Sans"/>
                          <a:cs typeface="Nimbus Sans"/>
                        </a:rPr>
                        <a:t>baseline</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425" b="1">
                          <a:solidFill>
                            <a:srgbClr val="061747"/>
                          </a:solidFill>
                          <a:latin typeface="Nimbus Sans"/>
                          <a:ea typeface="Nimbus Sans"/>
                          <a:cs typeface="Nimbus Sans"/>
                        </a:rPr>
                        <a:t>Top-5</a:t>
                      </a:r>
                    </a:p>
                    <a:p>
                      <a:pPr algn="ctr">
                        <a:buNone/>
                      </a:pPr>
                      <a:r>
                        <a:rPr sz="1425" b="1">
                          <a:solidFill>
                            <a:srgbClr val="061747"/>
                          </a:solidFill>
                          <a:latin typeface="Nimbus Sans"/>
                          <a:ea typeface="Nimbus Sans"/>
                          <a:cs typeface="Nimbus Sans"/>
                        </a:rPr>
                        <a:t>vote/median</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425" b="1">
                          <a:solidFill>
                            <a:srgbClr val="061747"/>
                          </a:solidFill>
                          <a:latin typeface="Nimbus Sans"/>
                          <a:ea typeface="Nimbus Sans"/>
                          <a:cs typeface="Nimbus Sans"/>
                        </a:rPr>
                        <a:t>Qwen without</a:t>
                      </a:r>
                    </a:p>
                    <a:p>
                      <a:pPr algn="ctr">
                        <a:buNone/>
                      </a:pPr>
                      <a:r>
                        <a:rPr sz="1425" b="1">
                          <a:solidFill>
                            <a:srgbClr val="061747"/>
                          </a:solidFill>
                          <a:latin typeface="Nimbus Sans"/>
                          <a:ea typeface="Nimbus Sans"/>
                          <a:cs typeface="Nimbus Sans"/>
                        </a:rPr>
                        <a:t>neighbors</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425" b="1">
                          <a:solidFill>
                            <a:srgbClr val="061747"/>
                          </a:solidFill>
                          <a:latin typeface="Nimbus Sans"/>
                          <a:ea typeface="Nimbus Sans"/>
                          <a:cs typeface="Nimbus Sans"/>
                        </a:rPr>
                        <a:t>Qwen with</a:t>
                      </a:r>
                    </a:p>
                    <a:p>
                      <a:pPr algn="ctr">
                        <a:buNone/>
                      </a:pPr>
                      <a:r>
                        <a:rPr sz="1425" b="1">
                          <a:solidFill>
                            <a:srgbClr val="061747"/>
                          </a:solidFill>
                          <a:latin typeface="Nimbus Sans"/>
                          <a:ea typeface="Nimbus Sans"/>
                          <a:cs typeface="Nimbus Sans"/>
                        </a:rPr>
                        <a:t>neighbors</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r>
              <a:tr h="571500">
                <a:tc>
                  <a:txBody>
                    <a:bodyPr/>
                    <a:lstStyle/>
                    <a:p>
                      <a:pPr algn="l">
                        <a:buNone/>
                      </a:pPr>
                      <a:r>
                        <a:rPr sz="1650" b="0">
                          <a:solidFill>
                            <a:srgbClr val="061747"/>
                          </a:solidFill>
                          <a:latin typeface="Nimbus Sans"/>
                          <a:ea typeface="Nimbus Sans"/>
                          <a:cs typeface="Nimbus Sans"/>
                        </a:rPr>
                        <a:t>Pricing accuracy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650" b="1">
                          <a:solidFill>
                            <a:srgbClr val="009E9A"/>
                          </a:solidFill>
                          <a:latin typeface="Nimbus Sans"/>
                          <a:ea typeface="Nimbus Sans"/>
                          <a:cs typeface="Nimbus Sans"/>
                        </a:rPr>
                        <a:t>73.41%</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650" b="0">
                          <a:solidFill>
                            <a:srgbClr val="061747"/>
                          </a:solidFill>
                          <a:latin typeface="Nimbus Sans"/>
                          <a:ea typeface="Nimbus Sans"/>
                          <a:cs typeface="Nimbus Sans"/>
                        </a:rPr>
                        <a:t>68.47%</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44.81%</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47.33%</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71500">
                <a:tc>
                  <a:txBody>
                    <a:bodyPr/>
                    <a:lstStyle/>
                    <a:p>
                      <a:pPr algn="l">
                        <a:buNone/>
                      </a:pPr>
                      <a:r>
                        <a:rPr sz="1650" b="0">
                          <a:solidFill>
                            <a:srgbClr val="061747"/>
                          </a:solidFill>
                          <a:latin typeface="Nimbus Sans"/>
                          <a:ea typeface="Nimbus Sans"/>
                          <a:cs typeface="Nimbus Sans"/>
                        </a:rPr>
                        <a:t>Pilot subset accuracy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650" b="1">
                          <a:solidFill>
                            <a:srgbClr val="009E9A"/>
                          </a:solidFill>
                          <a:latin typeface="Nimbus Sans"/>
                          <a:ea typeface="Nimbus Sans"/>
                          <a:cs typeface="Nimbus Sans"/>
                        </a:rPr>
                        <a:t>72.52%</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650" b="0">
                          <a:solidFill>
                            <a:srgbClr val="061747"/>
                          </a:solidFill>
                          <a:latin typeface="Nimbus Sans"/>
                          <a:ea typeface="Nimbus Sans"/>
                          <a:cs typeface="Nimbus Sans"/>
                        </a:rPr>
                        <a:t>62.15%</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44.76%</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44.68%</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r h="571500">
                <a:tc>
                  <a:txBody>
                    <a:bodyPr/>
                    <a:lstStyle/>
                    <a:p>
                      <a:pPr algn="l">
                        <a:buNone/>
                      </a:pPr>
                      <a:r>
                        <a:rPr sz="1650" b="0">
                          <a:solidFill>
                            <a:srgbClr val="061747"/>
                          </a:solidFill>
                          <a:latin typeface="Nimbus Sans"/>
                          <a:ea typeface="Nimbus Sans"/>
                          <a:cs typeface="Nimbus Sans"/>
                        </a:rPr>
                        <a:t>Nominal matrix accuracy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650" b="1">
                          <a:solidFill>
                            <a:srgbClr val="009E9A"/>
                          </a:solidFill>
                          <a:latin typeface="Nimbus Sans"/>
                          <a:ea typeface="Nimbus Sans"/>
                          <a:cs typeface="Nimbus Sans"/>
                        </a:rPr>
                        <a:t>74.60%</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650" b="0">
                          <a:solidFill>
                            <a:srgbClr val="061747"/>
                          </a:solidFill>
                          <a:latin typeface="Nimbus Sans"/>
                          <a:ea typeface="Nimbus Sans"/>
                          <a:cs typeface="Nimbus Sans"/>
                        </a:rPr>
                        <a:t>55.57%</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73.29%</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70.54%</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71500">
                <a:tc>
                  <a:txBody>
                    <a:bodyPr/>
                    <a:lstStyle/>
                    <a:p>
                      <a:pPr algn="l">
                        <a:buNone/>
                      </a:pPr>
                      <a:r>
                        <a:rPr sz="1650" b="0">
                          <a:solidFill>
                            <a:srgbClr val="061747"/>
                          </a:solidFill>
                          <a:latin typeface="Nimbus Sans"/>
                          <a:ea typeface="Nimbus Sans"/>
                          <a:cs typeface="Nimbus Sans"/>
                        </a:rPr>
                        <a:t>Ordinal error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650" b="1">
                          <a:solidFill>
                            <a:srgbClr val="009E9A"/>
                          </a:solidFill>
                          <a:latin typeface="Nimbus Sans"/>
                          <a:ea typeface="Nimbus Sans"/>
                          <a:cs typeface="Nimbus Sans"/>
                        </a:rPr>
                        <a:t>0.2041</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650" b="0">
                          <a:solidFill>
                            <a:srgbClr val="061747"/>
                          </a:solidFill>
                          <a:latin typeface="Nimbus Sans"/>
                          <a:ea typeface="Nimbus Sans"/>
                          <a:cs typeface="Nimbus Sans"/>
                        </a:rPr>
                        <a:t>0.2331</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0.3011</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0.2933</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r h="571500">
                <a:tc>
                  <a:txBody>
                    <a:bodyPr/>
                    <a:lstStyle/>
                    <a:p>
                      <a:pPr algn="l">
                        <a:buNone/>
                      </a:pPr>
                      <a:r>
                        <a:rPr sz="1650" b="0">
                          <a:solidFill>
                            <a:srgbClr val="061747"/>
                          </a:solidFill>
                          <a:latin typeface="Nimbus Sans"/>
                          <a:ea typeface="Nimbus Sans"/>
                          <a:cs typeface="Nimbus Sans"/>
                        </a:rPr>
                        <a:t>Ordinal matrix error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650" b="1">
                          <a:solidFill>
                            <a:srgbClr val="009E9A"/>
                          </a:solidFill>
                          <a:latin typeface="Nimbus Sans"/>
                          <a:ea typeface="Nimbus Sans"/>
                          <a:cs typeface="Nimbus Sans"/>
                        </a:rPr>
                        <a:t>0.1903</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650" b="0">
                          <a:solidFill>
                            <a:srgbClr val="061747"/>
                          </a:solidFill>
                          <a:latin typeface="Nimbus Sans"/>
                          <a:ea typeface="Nimbus Sans"/>
                          <a:cs typeface="Nimbus Sans"/>
                        </a:rPr>
                        <a:t>0.2395</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0.3431</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0.3405</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71500">
                <a:tc>
                  <a:txBody>
                    <a:bodyPr/>
                    <a:lstStyle/>
                    <a:p>
                      <a:pPr algn="l">
                        <a:buNone/>
                      </a:pPr>
                      <a:r>
                        <a:rPr sz="1650" b="0">
                          <a:solidFill>
                            <a:srgbClr val="061747"/>
                          </a:solidFill>
                          <a:latin typeface="Nimbus Sans"/>
                          <a:ea typeface="Nimbus Sans"/>
                          <a:cs typeface="Nimbus Sans"/>
                        </a:rPr>
                        <a:t>Bounded numeric error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650" b="1">
                          <a:solidFill>
                            <a:srgbClr val="009E9A"/>
                          </a:solidFill>
                          <a:latin typeface="Nimbus Sans"/>
                          <a:ea typeface="Nimbus Sans"/>
                          <a:cs typeface="Nimbus Sans"/>
                        </a:rPr>
                        <a:t>0.1959</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650" b="0">
                          <a:solidFill>
                            <a:srgbClr val="061747"/>
                          </a:solidFill>
                          <a:latin typeface="Nimbus Sans"/>
                          <a:ea typeface="Nimbus Sans"/>
                          <a:cs typeface="Nimbus Sans"/>
                        </a:rPr>
                        <a:t>0.2226</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0.3224</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0.3294</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bl>
          </a:graphicData>
        </a:graphic>
      </p:graphicFrame>
      <p:sp>
        <p:nvSpPr>
          <p:cNvPr id="7" name="The condition baseline leads all six displayed groups">
            <a:extLst xmlns:a="http://schemas.openxmlformats.org/drawingml/2006/main">
              <a:ext uri="{FF2B5EF4-FFF2-40B4-BE49-F238E27FC236}">
                <a16:creationId xmlns:a16="http://schemas.microsoft.com/office/drawing/2014/main" id="{A495756F-7214-475C-B3F7-12A2B2344BF8}"/>
              </a:ext>
            </a:extLst>
          </p:cNvPr>
          <p:cNvSpPr>
            <a:spLocks xmlns:a="http://schemas.openxmlformats.org/drawingml/2006/main" noGrp="1"/>
          </p:cNvSpPr>
          <p:nvPr/>
        </p:nvSpPr>
        <p:spPr>
          <a:xfrm xmlns:a="http://schemas.openxmlformats.org/drawingml/2006/main">
            <a:off x="619125" y="5753100"/>
            <a:ext cx="1095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9E9A"/>
                </a:solidFill>
                <a:latin typeface="Nimbus Sans"/>
                <a:ea typeface="Nimbus Sans"/>
                <a:cs typeface="Nimbus Sans"/>
              </a:defRPr>
            </a:defPPr>
          </a:lstStyle>
          <a:p xmlns:a="http://schemas.openxmlformats.org/drawingml/2006/main">
            <a:pPr algn="l">
              <a:buNone/>
              <a:defRPr sz="1725" b="1">
                <a:solidFill>
                  <a:srgbClr val="009E9A"/>
                </a:solidFill>
                <a:latin typeface="Nimbus Sans"/>
                <a:ea typeface="Nimbus Sans"/>
                <a:cs typeface="Nimbus Sans"/>
              </a:defRPr>
            </a:pPr>
            <a:r>
              <a:rPr sz="1725" b="1">
                <a:solidFill>
                  <a:srgbClr val="009E9A"/>
                </a:solidFill>
                <a:latin typeface="Nimbus Sans"/>
                <a:ea typeface="Nimbus Sans"/>
                <a:cs typeface="Nimbus Sans"/>
              </a:rPr>
              <a:t>The </a:t>
            </a:r>
            <a:r>
              <a:rPr sz="1725" b="1">
                <a:solidFill>
                  <a:srgbClr val="009E9A"/>
                </a:solidFill>
                <a:latin typeface="Nimbus Sans"/>
                <a:ea typeface="Nimbus Sans"/>
                <a:cs typeface="Nimbus Sans"/>
              </a:rPr>
              <a:t>question-only baseline</a:t>
            </a:r>
            <a:r>
              <a:rPr sz="1725" b="1">
                <a:solidFill>
                  <a:srgbClr val="009E9A"/>
                </a:solidFill>
                <a:latin typeface="Nimbus Sans"/>
                <a:ea typeface="Nimbus Sans"/>
                <a:cs typeface="Nimbus Sans"/>
              </a:rPr>
              <a:t> leads all six displayed groups</a:t>
            </a:r>
          </a:p>
        </p:txBody>
      </p:sp>
    </p:spTree>
    <p:extLst>
      <p:ext uri="{BB962C8B-B14F-4D97-AF65-F5344CB8AC3E}">
        <p14:creationId xmlns:p14="http://schemas.microsoft.com/office/powerpoint/2010/main" val="160929134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trieval with selected answers">
            <a:extLst xmlns:a="http://schemas.openxmlformats.org/drawingml/2006/main">
              <a:ext uri="{FF2B5EF4-FFF2-40B4-BE49-F238E27FC236}">
                <a16:creationId xmlns:a16="http://schemas.microsoft.com/office/drawing/2014/main" id="{CF198E75-9673-4160-883A-63AD721D84B2}"/>
              </a:ext>
            </a:extLst>
          </p:cNvPr>
          <p:cNvSpPr>
            <a:spLocks xmlns:a="http://schemas.openxmlformats.org/drawingml/2006/main" noGrp="1"/>
          </p:cNvSpPr>
          <p:nvPr/>
        </p:nvSpPr>
        <p:spPr>
          <a:xfrm xmlns:a="http://schemas.openxmlformats.org/drawingml/2006/main">
            <a:off x="571500" y="285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61747"/>
                </a:solidFill>
                <a:latin typeface="Nimbus Sans"/>
                <a:ea typeface="Nimbus Sans"/>
                <a:cs typeface="Nimbus Sans"/>
              </a:defRPr>
            </a:defPPr>
          </a:lstStyle>
          <a:p xmlns:a="http://schemas.openxmlformats.org/drawingml/2006/main">
            <a:pPr algn="l">
              <a:buNone/>
              <a:defRPr sz="3075" b="1">
                <a:solidFill>
                  <a:srgbClr val="061747"/>
                </a:solidFill>
                <a:latin typeface="Nimbus Sans"/>
                <a:ea typeface="Nimbus Sans"/>
                <a:cs typeface="Nimbus Sans"/>
              </a:defRPr>
            </a:pPr>
            <a:r>
              <a:rPr sz="3075" b="1">
                <a:solidFill>
                  <a:srgbClr val="061747"/>
                </a:solidFill>
                <a:latin typeface="Nimbus Sans"/>
                <a:ea typeface="Nimbus Sans"/>
                <a:cs typeface="Nimbus Sans"/>
              </a:rPr>
              <a:t>Retrieval with selected answers</a:t>
            </a:r>
          </a:p>
        </p:txBody>
      </p:sp>
      <p:sp>
        <p:nvSpPr>
          <p:cNvPr id="2" name="Keep the question context and selected meaning. Remove unselecte">
            <a:extLst xmlns:a="http://schemas.openxmlformats.org/drawingml/2006/main">
              <a:ext uri="{FF2B5EF4-FFF2-40B4-BE49-F238E27FC236}">
                <a16:creationId xmlns:a16="http://schemas.microsoft.com/office/drawing/2014/main" id="{405DEF9C-D482-4F02-882B-39DD3AD95DBB}"/>
              </a:ext>
            </a:extLst>
          </p:cNvPr>
          <p:cNvSpPr>
            <a:spLocks xmlns:a="http://schemas.openxmlformats.org/drawingml/2006/main" noGrp="1"/>
          </p:cNvSpPr>
          <p:nvPr/>
        </p:nvSpPr>
        <p:spPr>
          <a:xfrm xmlns:a="http://schemas.openxmlformats.org/drawingml/2006/main">
            <a:off x="590550" y="914400"/>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Keep the question context and selected meaning. Remove unselected options.</a:t>
            </a:r>
          </a:p>
        </p:txBody>
      </p:sp>
      <p:sp>
        <p:nvSpPr>
          <p:cNvPr id="3" name="">
            <a:extLst xmlns:a="http://schemas.openxmlformats.org/drawingml/2006/main">
              <a:ext uri="{FF2B5EF4-FFF2-40B4-BE49-F238E27FC236}">
                <a16:creationId xmlns:a16="http://schemas.microsoft.com/office/drawing/2014/main" id="{4FB403BD-FC03-4A50-A042-0B0ED455A1B9}"/>
              </a:ext>
            </a:extLst>
          </p:cNvPr>
          <p:cNvSpPr>
            <a:spLocks xmlns:a="http://schemas.openxmlformats.org/drawingml/2006/main" noGrp="1"/>
          </p:cNvSpPr>
          <p:nvPr/>
        </p:nvSpPr>
        <p:spPr>
          <a:xfrm xmlns:a="http://schemas.openxmlformats.org/drawingml/2006/main">
            <a:off x="571500" y="6229350"/>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4" name="Selected answers change neighbor selection. The generator prompt">
            <a:extLst xmlns:a="http://schemas.openxmlformats.org/drawingml/2006/main">
              <a:ext uri="{FF2B5EF4-FFF2-40B4-BE49-F238E27FC236}">
                <a16:creationId xmlns:a16="http://schemas.microsoft.com/office/drawing/2014/main" id="{3CF2199F-CA29-4A1F-9106-9A990D1859E6}"/>
              </a:ext>
            </a:extLst>
          </p:cNvPr>
          <p:cNvSpPr>
            <a:spLocks xmlns:a="http://schemas.openxmlformats.org/drawingml/2006/main" noGrp="1"/>
          </p:cNvSpPr>
          <p:nvPr/>
        </p:nvSpPr>
        <p:spPr>
          <a:xfrm xmlns:a="http://schemas.openxmlformats.org/drawingml/2006/main">
            <a:off x="590550" y="636270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7B9C"/>
                </a:solidFill>
                <a:latin typeface="Nimbus Sans"/>
                <a:ea typeface="Nimbus Sans"/>
                <a:cs typeface="Nimbus Sans"/>
              </a:defRPr>
            </a:defPPr>
          </a:lstStyle>
          <a:p xmlns:a="http://schemas.openxmlformats.org/drawingml/2006/main">
            <a:pPr algn="l">
              <a:buNone/>
              <a:defRPr sz="1050" b="0">
                <a:solidFill>
                  <a:srgbClr val="637B9C"/>
                </a:solidFill>
                <a:latin typeface="Nimbus Sans"/>
                <a:ea typeface="Nimbus Sans"/>
                <a:cs typeface="Nimbus Sans"/>
              </a:defRPr>
            </a:pPr>
            <a:r>
              <a:rPr sz="1050" b="0">
                <a:solidFill>
                  <a:srgbClr val="637B9C"/>
                </a:solidFill>
                <a:latin typeface="Nimbus Sans"/>
                <a:ea typeface="Nimbus Sans"/>
                <a:cs typeface="Nimbus Sans"/>
              </a:rPr>
              <a:t>Selected answers change neighbor selection. The generator prompt format stays the same.</a:t>
            </a:r>
          </a:p>
        </p:txBody>
      </p:sp>
      <p:sp>
        <p:nvSpPr>
          <p:cNvPr id="5" name="13">
            <a:extLst xmlns:a="http://schemas.openxmlformats.org/drawingml/2006/main">
              <a:ext uri="{FF2B5EF4-FFF2-40B4-BE49-F238E27FC236}">
                <a16:creationId xmlns:a16="http://schemas.microsoft.com/office/drawing/2014/main" id="{CF452668-7BD1-45B1-BDB4-CE9EC5A180CE}"/>
              </a:ext>
            </a:extLst>
          </p:cNvPr>
          <p:cNvSpPr>
            <a:spLocks xmlns:a="http://schemas.openxmlformats.org/drawingml/2006/main" noGrp="1"/>
          </p:cNvSpPr>
          <p:nvPr/>
        </p:nvSpPr>
        <p:spPr>
          <a:xfrm xmlns:a="http://schemas.openxmlformats.org/drawingml/2006/main">
            <a:off x="11182350"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37B9C"/>
                </a:solidFill>
                <a:latin typeface="Nimbus Sans"/>
                <a:ea typeface="Nimbus Sans"/>
                <a:cs typeface="Nimbus Sans"/>
              </a:defRPr>
            </a:defPPr>
          </a:lstStyle>
          <a:p xmlns:a="http://schemas.openxmlformats.org/drawingml/2006/main">
            <a:pPr algn="r">
              <a:buNone/>
              <a:defRPr sz="1125" b="0">
                <a:solidFill>
                  <a:srgbClr val="637B9C"/>
                </a:solidFill>
                <a:latin typeface="Nimbus Sans"/>
                <a:ea typeface="Nimbus Sans"/>
                <a:cs typeface="Nimbus Sans"/>
              </a:defRPr>
            </a:pPr>
            <a:r>
              <a:rPr sz="1125" b="0">
                <a:solidFill>
                  <a:srgbClr val="637B9C"/>
                </a:solidFill>
                <a:latin typeface="Nimbus Sans"/>
                <a:ea typeface="Nimbus Sans"/>
                <a:cs typeface="Nimbus Sans"/>
              </a:rPr>
              <a:t>15</a:t>
            </a:r>
          </a:p>
        </p:txBody>
      </p:sp>
      <p:graphicFrame>
        <p:nvGraphicFramePr>
          <p:cNvPr id="6" name="">
            <a:extLst xmlns:a="http://schemas.openxmlformats.org/drawingml/2006/main">
              <a:ext uri="{FF2B5EF4-FFF2-40B4-BE49-F238E27FC236}">
                <a16:creationId xmlns:a16="http://schemas.microsoft.com/office/drawing/2014/main" id="{08E8D36A-A3F4-42C1-AF1E-244A6BF7C93E}"/>
              </a:ext>
            </a:extLst>
          </p:cNvPr>
          <p:cNvGraphicFramePr/>
          <p:nvPr/>
        </p:nvGraphicFramePr>
        <p:xfrm>
          <a:off xmlns:a="http://schemas.openxmlformats.org/drawingml/2006/main" x="609600" y="1562100"/>
          <a:ext xmlns:a="http://schemas.openxmlformats.org/drawingml/2006/main" cx="10972800" cy="4000500"/>
        </p:xfrm>
        <a:graphic xmlns:a="http://schemas.openxmlformats.org/drawingml/2006/main">
          <a:graphicData uri="http://schemas.openxmlformats.org/drawingml/2006/table">
            <a:tbl>
              <a:tblPr/>
              <a:tblGrid>
                <a:gridCol w="3810000"/>
                <a:gridCol w="1762125"/>
                <a:gridCol w="1781175"/>
                <a:gridCol w="1809750"/>
                <a:gridCol w="1809750"/>
              </a:tblGrid>
              <a:tr h="571500">
                <a:tc>
                  <a:txBody>
                    <a:bodyPr/>
                    <a:lstStyle/>
                    <a:p>
                      <a:pPr algn="l">
                        <a:buNone/>
                      </a:pPr>
                      <a:r>
                        <a:rPr sz="1425" b="1">
                          <a:solidFill>
                            <a:srgbClr val="061747"/>
                          </a:solidFill>
                          <a:latin typeface="Nimbus Sans"/>
                          <a:ea typeface="Nimbus Sans"/>
                          <a:cs typeface="Nimbus Sans"/>
                        </a:rPr>
                        <a:t>Question group / metric</a:t>
                      </a:r>
                    </a:p>
                  </a:txBody>
                  <a:tcPr marL="133350" marR="114300" marT="95250" marB="95250" anchor="ctr">
                    <a:lnL w="7620">
                      <a:solidFill>
                        <a:srgbClr val="C9DAEB"/>
                      </a:solidFill>
                      <a:prstDash val="solid"/>
                    </a:lnL>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425" b="1">
                          <a:solidFill>
                            <a:srgbClr val="061747"/>
                          </a:solidFill>
                          <a:latin typeface="Nimbus Sans"/>
                          <a:ea typeface="Nimbus Sans"/>
                          <a:cs typeface="Nimbus Sans"/>
                        </a:rPr>
                        <a:t>Question-only</a:t>
                      </a:r>
                    </a:p>
                    <a:p>
                      <a:pPr algn="ctr">
                        <a:buNone/>
                      </a:pPr>
                      <a:r>
                        <a:rPr sz="1425" b="1">
                          <a:solidFill>
                            <a:srgbClr val="061747"/>
                          </a:solidFill>
                          <a:latin typeface="Nimbus Sans"/>
                          <a:ea typeface="Nimbus Sans"/>
                          <a:cs typeface="Nimbus Sans"/>
                        </a:rPr>
                        <a:t>baseline</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425" b="1">
                          <a:solidFill>
                            <a:srgbClr val="061747"/>
                          </a:solidFill>
                          <a:latin typeface="Nimbus Sans"/>
                          <a:ea typeface="Nimbus Sans"/>
                          <a:cs typeface="Nimbus Sans"/>
                        </a:rPr>
                        <a:t>Top-5</a:t>
                      </a:r>
                    </a:p>
                    <a:p>
                      <a:pPr algn="ctr">
                        <a:buNone/>
                      </a:pPr>
                      <a:r>
                        <a:rPr sz="1425" b="1">
                          <a:solidFill>
                            <a:srgbClr val="061747"/>
                          </a:solidFill>
                          <a:latin typeface="Nimbus Sans"/>
                          <a:ea typeface="Nimbus Sans"/>
                          <a:cs typeface="Nimbus Sans"/>
                        </a:rPr>
                        <a:t>vote/median</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425" b="1">
                          <a:solidFill>
                            <a:srgbClr val="061747"/>
                          </a:solidFill>
                          <a:latin typeface="Nimbus Sans"/>
                          <a:ea typeface="Nimbus Sans"/>
                          <a:cs typeface="Nimbus Sans"/>
                        </a:rPr>
                        <a:t>Qwen without</a:t>
                      </a:r>
                    </a:p>
                    <a:p>
                      <a:pPr algn="ctr">
                        <a:buNone/>
                      </a:pPr>
                      <a:r>
                        <a:rPr sz="1425" b="1">
                          <a:solidFill>
                            <a:srgbClr val="061747"/>
                          </a:solidFill>
                          <a:latin typeface="Nimbus Sans"/>
                          <a:ea typeface="Nimbus Sans"/>
                          <a:cs typeface="Nimbus Sans"/>
                        </a:rPr>
                        <a:t>neighbors</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425" b="1">
                          <a:solidFill>
                            <a:srgbClr val="061747"/>
                          </a:solidFill>
                          <a:latin typeface="Nimbus Sans"/>
                          <a:ea typeface="Nimbus Sans"/>
                          <a:cs typeface="Nimbus Sans"/>
                        </a:rPr>
                        <a:t>Qwen with</a:t>
                      </a:r>
                    </a:p>
                    <a:p>
                      <a:pPr algn="ctr">
                        <a:buNone/>
                      </a:pPr>
                      <a:r>
                        <a:rPr sz="1425" b="1">
                          <a:solidFill>
                            <a:srgbClr val="061747"/>
                          </a:solidFill>
                          <a:latin typeface="Nimbus Sans"/>
                          <a:ea typeface="Nimbus Sans"/>
                          <a:cs typeface="Nimbus Sans"/>
                        </a:rPr>
                        <a:t>neighbors</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r>
              <a:tr h="571500">
                <a:tc>
                  <a:txBody>
                    <a:bodyPr/>
                    <a:lstStyle/>
                    <a:p>
                      <a:pPr algn="l">
                        <a:buNone/>
                      </a:pPr>
                      <a:r>
                        <a:rPr sz="1650" b="0">
                          <a:solidFill>
                            <a:srgbClr val="061747"/>
                          </a:solidFill>
                          <a:latin typeface="Nimbus Sans"/>
                          <a:ea typeface="Nimbus Sans"/>
                          <a:cs typeface="Nimbus Sans"/>
                        </a:rPr>
                        <a:t>Pricing accuracy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650" b="1">
                          <a:solidFill>
                            <a:srgbClr val="009E9A"/>
                          </a:solidFill>
                          <a:latin typeface="Nimbus Sans"/>
                          <a:ea typeface="Nimbus Sans"/>
                          <a:cs typeface="Nimbus Sans"/>
                        </a:rPr>
                        <a:t>73.41%</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650" b="0">
                          <a:solidFill>
                            <a:srgbClr val="061747"/>
                          </a:solidFill>
                          <a:latin typeface="Nimbus Sans"/>
                          <a:ea typeface="Nimbus Sans"/>
                          <a:cs typeface="Nimbus Sans"/>
                        </a:rPr>
                        <a:t>69.13%</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44.81%</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47.01%</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71500">
                <a:tc>
                  <a:txBody>
                    <a:bodyPr/>
                    <a:lstStyle/>
                    <a:p>
                      <a:pPr algn="l">
                        <a:buNone/>
                      </a:pPr>
                      <a:r>
                        <a:rPr sz="1650" b="0">
                          <a:solidFill>
                            <a:srgbClr val="061747"/>
                          </a:solidFill>
                          <a:latin typeface="Nimbus Sans"/>
                          <a:ea typeface="Nimbus Sans"/>
                          <a:cs typeface="Nimbus Sans"/>
                        </a:rPr>
                        <a:t>Pilot subset accuracy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650" b="1">
                          <a:solidFill>
                            <a:srgbClr val="009E9A"/>
                          </a:solidFill>
                          <a:latin typeface="Nimbus Sans"/>
                          <a:ea typeface="Nimbus Sans"/>
                          <a:cs typeface="Nimbus Sans"/>
                        </a:rPr>
                        <a:t>72.52%</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650" b="0">
                          <a:solidFill>
                            <a:srgbClr val="061747"/>
                          </a:solidFill>
                          <a:latin typeface="Nimbus Sans"/>
                          <a:ea typeface="Nimbus Sans"/>
                          <a:cs typeface="Nimbus Sans"/>
                        </a:rPr>
                        <a:t>66.79%</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44.76%</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44.97%</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r h="571500">
                <a:tc>
                  <a:txBody>
                    <a:bodyPr/>
                    <a:lstStyle/>
                    <a:p>
                      <a:pPr algn="l">
                        <a:buNone/>
                      </a:pPr>
                      <a:r>
                        <a:rPr sz="1650" b="0">
                          <a:solidFill>
                            <a:srgbClr val="061747"/>
                          </a:solidFill>
                          <a:latin typeface="Nimbus Sans"/>
                          <a:ea typeface="Nimbus Sans"/>
                          <a:cs typeface="Nimbus Sans"/>
                        </a:rPr>
                        <a:t>Nominal matrix accuracy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650" b="1">
                          <a:solidFill>
                            <a:srgbClr val="009E9A"/>
                          </a:solidFill>
                          <a:latin typeface="Nimbus Sans"/>
                          <a:ea typeface="Nimbus Sans"/>
                          <a:cs typeface="Nimbus Sans"/>
                        </a:rPr>
                        <a:t>74.60%</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650" b="0">
                          <a:solidFill>
                            <a:srgbClr val="061747"/>
                          </a:solidFill>
                          <a:latin typeface="Nimbus Sans"/>
                          <a:ea typeface="Nimbus Sans"/>
                          <a:cs typeface="Nimbus Sans"/>
                        </a:rPr>
                        <a:t>74.51%</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73.29%</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74.54%</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71500">
                <a:tc>
                  <a:txBody>
                    <a:bodyPr/>
                    <a:lstStyle/>
                    <a:p>
                      <a:pPr algn="l">
                        <a:buNone/>
                      </a:pPr>
                      <a:r>
                        <a:rPr sz="1650" b="0">
                          <a:solidFill>
                            <a:srgbClr val="061747"/>
                          </a:solidFill>
                          <a:latin typeface="Nimbus Sans"/>
                          <a:ea typeface="Nimbus Sans"/>
                          <a:cs typeface="Nimbus Sans"/>
                        </a:rPr>
                        <a:t>Ordinal error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650" b="1">
                          <a:solidFill>
                            <a:srgbClr val="009E9A"/>
                          </a:solidFill>
                          <a:latin typeface="Nimbus Sans"/>
                          <a:ea typeface="Nimbus Sans"/>
                          <a:cs typeface="Nimbus Sans"/>
                        </a:rPr>
                        <a:t>0.2041</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650" b="0">
                          <a:solidFill>
                            <a:srgbClr val="061747"/>
                          </a:solidFill>
                          <a:latin typeface="Nimbus Sans"/>
                          <a:ea typeface="Nimbus Sans"/>
                          <a:cs typeface="Nimbus Sans"/>
                        </a:rPr>
                        <a:t>0.2321</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0.3011</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0.2818</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r h="571500">
                <a:tc>
                  <a:txBody>
                    <a:bodyPr/>
                    <a:lstStyle/>
                    <a:p>
                      <a:pPr algn="l">
                        <a:buNone/>
                      </a:pPr>
                      <a:r>
                        <a:rPr sz="1650" b="0">
                          <a:solidFill>
                            <a:srgbClr val="061747"/>
                          </a:solidFill>
                          <a:latin typeface="Nimbus Sans"/>
                          <a:ea typeface="Nimbus Sans"/>
                          <a:cs typeface="Nimbus Sans"/>
                        </a:rPr>
                        <a:t>Ordinal matrix error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650" b="1">
                          <a:solidFill>
                            <a:srgbClr val="009E9A"/>
                          </a:solidFill>
                          <a:latin typeface="Nimbus Sans"/>
                          <a:ea typeface="Nimbus Sans"/>
                          <a:cs typeface="Nimbus Sans"/>
                        </a:rPr>
                        <a:t>0.1903</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650" b="0">
                          <a:solidFill>
                            <a:srgbClr val="061747"/>
                          </a:solidFill>
                          <a:latin typeface="Nimbus Sans"/>
                          <a:ea typeface="Nimbus Sans"/>
                          <a:cs typeface="Nimbus Sans"/>
                        </a:rPr>
                        <a:t>0.2172</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0.3431</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650" b="0">
                          <a:solidFill>
                            <a:srgbClr val="061747"/>
                          </a:solidFill>
                          <a:latin typeface="Nimbus Sans"/>
                          <a:ea typeface="Nimbus Sans"/>
                          <a:cs typeface="Nimbus Sans"/>
                        </a:rPr>
                        <a:t>0.3322</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571500">
                <a:tc>
                  <a:txBody>
                    <a:bodyPr/>
                    <a:lstStyle/>
                    <a:p>
                      <a:pPr algn="l">
                        <a:buNone/>
                      </a:pPr>
                      <a:r>
                        <a:rPr sz="1650" b="0">
                          <a:solidFill>
                            <a:srgbClr val="061747"/>
                          </a:solidFill>
                          <a:latin typeface="Nimbus Sans"/>
                          <a:ea typeface="Nimbus Sans"/>
                          <a:cs typeface="Nimbus Sans"/>
                        </a:rPr>
                        <a:t>Bounded numeric error ↓</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650" b="1">
                          <a:solidFill>
                            <a:srgbClr val="009E9A"/>
                          </a:solidFill>
                          <a:latin typeface="Nimbus Sans"/>
                          <a:ea typeface="Nimbus Sans"/>
                          <a:cs typeface="Nimbus Sans"/>
                        </a:rPr>
                        <a:t>0.1959</a:t>
                      </a:r>
                    </a:p>
                  </a:txBody>
                  <a:tcPr marL="133350" marR="114300" marT="95250" marB="95250" anchor="ctr">
                    <a:lnR w="7620">
                      <a:solidFill>
                        <a:srgbClr val="C9DAEB"/>
                      </a:solidFill>
                      <a:prstDash val="solid"/>
                    </a:lnR>
                    <a:lnB w="7620">
                      <a:solidFill>
                        <a:srgbClr val="C9DAEB"/>
                      </a:solidFill>
                      <a:prstDash val="solid"/>
                    </a:lnB>
                    <a:solidFill>
                      <a:srgbClr val="EFFBFA"/>
                    </a:solidFill>
                  </a:tcPr>
                </a:tc>
                <a:tc>
                  <a:txBody>
                    <a:bodyPr/>
                    <a:lstStyle/>
                    <a:p>
                      <a:pPr algn="ctr">
                        <a:buNone/>
                      </a:pPr>
                      <a:r>
                        <a:rPr sz="1650" b="0">
                          <a:solidFill>
                            <a:srgbClr val="061747"/>
                          </a:solidFill>
                          <a:latin typeface="Nimbus Sans"/>
                          <a:ea typeface="Nimbus Sans"/>
                          <a:cs typeface="Nimbus Sans"/>
                        </a:rPr>
                        <a:t>0.2258</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0.3224</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650" b="0">
                          <a:solidFill>
                            <a:srgbClr val="061747"/>
                          </a:solidFill>
                          <a:latin typeface="Nimbus Sans"/>
                          <a:ea typeface="Nimbus Sans"/>
                          <a:cs typeface="Nimbus Sans"/>
                        </a:rPr>
                        <a:t>0.3066</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bl>
          </a:graphicData>
        </a:graphic>
      </p:graphicFrame>
      <p:sp>
        <p:nvSpPr>
          <p:cNvPr id="7" name="Top-5 improves in five of six groups, but still trails the basel">
            <a:extLst xmlns:a="http://schemas.openxmlformats.org/drawingml/2006/main">
              <a:ext uri="{FF2B5EF4-FFF2-40B4-BE49-F238E27FC236}">
                <a16:creationId xmlns:a16="http://schemas.microsoft.com/office/drawing/2014/main" id="{9910C5D9-E363-4FE9-A742-93E191F8436A}"/>
              </a:ext>
            </a:extLst>
          </p:cNvPr>
          <p:cNvSpPr>
            <a:spLocks xmlns:a="http://schemas.openxmlformats.org/drawingml/2006/main" noGrp="1"/>
          </p:cNvSpPr>
          <p:nvPr/>
        </p:nvSpPr>
        <p:spPr>
          <a:xfrm xmlns:a="http://schemas.openxmlformats.org/drawingml/2006/main">
            <a:off x="619125" y="5753100"/>
            <a:ext cx="1095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9E9A"/>
                </a:solidFill>
                <a:latin typeface="Nimbus Sans"/>
                <a:ea typeface="Nimbus Sans"/>
                <a:cs typeface="Nimbus Sans"/>
              </a:defRPr>
            </a:defPPr>
          </a:lstStyle>
          <a:p xmlns:a="http://schemas.openxmlformats.org/drawingml/2006/main">
            <a:pPr algn="l">
              <a:buNone/>
              <a:defRPr sz="1725" b="1">
                <a:solidFill>
                  <a:srgbClr val="009E9A"/>
                </a:solidFill>
                <a:latin typeface="Nimbus Sans"/>
                <a:ea typeface="Nimbus Sans"/>
                <a:cs typeface="Nimbus Sans"/>
              </a:defRPr>
            </a:pPr>
            <a:r>
              <a:rPr sz="1725" b="1">
                <a:solidFill>
                  <a:srgbClr val="009E9A"/>
                </a:solidFill>
                <a:latin typeface="Nimbus Sans"/>
                <a:ea typeface="Nimbus Sans"/>
                <a:cs typeface="Nimbus Sans"/>
              </a:rPr>
              <a:t>Top-5 improves in five of six groups, but still trails the baseline</a:t>
            </a:r>
          </a:p>
        </p:txBody>
      </p:sp>
    </p:spTree>
    <p:extLst>
      <p:ext uri="{BB962C8B-B14F-4D97-AF65-F5344CB8AC3E}">
        <p14:creationId xmlns:p14="http://schemas.microsoft.com/office/powerpoint/2010/main" val="106113870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Unbounded numeric results">
            <a:extLst xmlns:a="http://schemas.openxmlformats.org/drawingml/2006/main">
              <a:ext uri="{FF2B5EF4-FFF2-40B4-BE49-F238E27FC236}">
                <a16:creationId xmlns:a16="http://schemas.microsoft.com/office/drawing/2014/main" id="{CCA6722F-EA26-4B0E-8770-F28F90309521}"/>
              </a:ext>
            </a:extLst>
          </p:cNvPr>
          <p:cNvSpPr>
            <a:spLocks xmlns:a="http://schemas.openxmlformats.org/drawingml/2006/main" noGrp="1"/>
          </p:cNvSpPr>
          <p:nvPr/>
        </p:nvSpPr>
        <p:spPr>
          <a:xfrm xmlns:a="http://schemas.openxmlformats.org/drawingml/2006/main">
            <a:off x="571500" y="285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61747"/>
                </a:solidFill>
                <a:latin typeface="Nimbus Sans"/>
                <a:ea typeface="Nimbus Sans"/>
                <a:cs typeface="Nimbus Sans"/>
              </a:defRPr>
            </a:defPPr>
          </a:lstStyle>
          <a:p xmlns:a="http://schemas.openxmlformats.org/drawingml/2006/main">
            <a:pPr algn="l">
              <a:buNone/>
              <a:defRPr sz="3075" b="1">
                <a:solidFill>
                  <a:srgbClr val="061747"/>
                </a:solidFill>
                <a:latin typeface="Nimbus Sans"/>
                <a:ea typeface="Nimbus Sans"/>
                <a:cs typeface="Nimbus Sans"/>
              </a:defRPr>
            </a:pPr>
            <a:r>
              <a:rPr sz="3075" b="1">
                <a:solidFill>
                  <a:srgbClr val="061747"/>
                </a:solidFill>
                <a:latin typeface="Nimbus Sans"/>
                <a:ea typeface="Nimbus Sans"/>
                <a:cs typeface="Nimbus Sans"/>
              </a:rPr>
              <a:t>Unbounded numeric results</a:t>
            </a:r>
          </a:p>
        </p:txBody>
      </p:sp>
      <p:sp>
        <p:nvSpPr>
          <p:cNvPr id="2" name="Mean absolute error in each question’s original units. Lower is ">
            <a:extLst xmlns:a="http://schemas.openxmlformats.org/drawingml/2006/main">
              <a:ext uri="{FF2B5EF4-FFF2-40B4-BE49-F238E27FC236}">
                <a16:creationId xmlns:a16="http://schemas.microsoft.com/office/drawing/2014/main" id="{AC099025-BE4D-4D68-BD49-514A12A0F8EA}"/>
              </a:ext>
            </a:extLst>
          </p:cNvPr>
          <p:cNvSpPr>
            <a:spLocks xmlns:a="http://schemas.openxmlformats.org/drawingml/2006/main" noGrp="1"/>
          </p:cNvSpPr>
          <p:nvPr/>
        </p:nvSpPr>
        <p:spPr>
          <a:xfrm xmlns:a="http://schemas.openxmlformats.org/drawingml/2006/main">
            <a:off x="590550" y="914400"/>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Mean absolute error in each question’s original units. Lower is better.</a:t>
            </a:r>
          </a:p>
        </p:txBody>
      </p:sp>
      <p:sp>
        <p:nvSpPr>
          <p:cNvPr id="3" name="">
            <a:extLst xmlns:a="http://schemas.openxmlformats.org/drawingml/2006/main">
              <a:ext uri="{FF2B5EF4-FFF2-40B4-BE49-F238E27FC236}">
                <a16:creationId xmlns:a16="http://schemas.microsoft.com/office/drawing/2014/main" id="{E2639E57-4AE5-4CA1-B538-5EFEA1CB4E24}"/>
              </a:ext>
            </a:extLst>
          </p:cNvPr>
          <p:cNvSpPr>
            <a:spLocks xmlns:a="http://schemas.openxmlformats.org/drawingml/2006/main" noGrp="1"/>
          </p:cNvSpPr>
          <p:nvPr/>
        </p:nvSpPr>
        <p:spPr>
          <a:xfrm xmlns:a="http://schemas.openxmlformats.org/drawingml/2006/main">
            <a:off x="571500" y="6229350"/>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4" name="All four methods returned valid numeric outputs on these 618 cas">
            <a:extLst xmlns:a="http://schemas.openxmlformats.org/drawingml/2006/main">
              <a:ext uri="{FF2B5EF4-FFF2-40B4-BE49-F238E27FC236}">
                <a16:creationId xmlns:a16="http://schemas.microsoft.com/office/drawing/2014/main" id="{96C837E4-033D-4C6D-A77A-E24EE653E68F}"/>
              </a:ext>
            </a:extLst>
          </p:cNvPr>
          <p:cNvSpPr>
            <a:spLocks xmlns:a="http://schemas.openxmlformats.org/drawingml/2006/main" noGrp="1"/>
          </p:cNvSpPr>
          <p:nvPr/>
        </p:nvSpPr>
        <p:spPr>
          <a:xfrm xmlns:a="http://schemas.openxmlformats.org/drawingml/2006/main">
            <a:off x="590550" y="636270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7B9C"/>
                </a:solidFill>
                <a:latin typeface="Nimbus Sans"/>
                <a:ea typeface="Nimbus Sans"/>
                <a:cs typeface="Nimbus Sans"/>
              </a:defRPr>
            </a:defPPr>
          </a:lstStyle>
          <a:p xmlns:a="http://schemas.openxmlformats.org/drawingml/2006/main">
            <a:pPr algn="l">
              <a:buNone/>
              <a:defRPr sz="1050" b="0">
                <a:solidFill>
                  <a:srgbClr val="637B9C"/>
                </a:solidFill>
                <a:latin typeface="Nimbus Sans"/>
                <a:ea typeface="Nimbus Sans"/>
                <a:cs typeface="Nimbus Sans"/>
              </a:defRPr>
            </a:pPr>
            <a:r>
              <a:rPr sz="1050" b="0">
                <a:solidFill>
                  <a:srgbClr val="637B9C"/>
                </a:solidFill>
                <a:latin typeface="Nimbus Sans"/>
                <a:ea typeface="Nimbus Sans"/>
                <a:cs typeface="Nimbus Sans"/>
              </a:rPr>
              <a:t>All four methods returned valid numeric outputs on these 618 cases. Do not pool errors across countries and feet.</a:t>
            </a:r>
          </a:p>
        </p:txBody>
      </p:sp>
      <p:sp>
        <p:nvSpPr>
          <p:cNvPr id="5" name="14">
            <a:extLst xmlns:a="http://schemas.openxmlformats.org/drawingml/2006/main">
              <a:ext uri="{FF2B5EF4-FFF2-40B4-BE49-F238E27FC236}">
                <a16:creationId xmlns:a16="http://schemas.microsoft.com/office/drawing/2014/main" id="{83B2E8D1-59E9-4ECB-9CE8-CE443E03ACCA}"/>
              </a:ext>
            </a:extLst>
          </p:cNvPr>
          <p:cNvSpPr>
            <a:spLocks xmlns:a="http://schemas.openxmlformats.org/drawingml/2006/main" noGrp="1"/>
          </p:cNvSpPr>
          <p:nvPr/>
        </p:nvSpPr>
        <p:spPr>
          <a:xfrm xmlns:a="http://schemas.openxmlformats.org/drawingml/2006/main">
            <a:off x="11182350"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37B9C"/>
                </a:solidFill>
                <a:latin typeface="Nimbus Sans"/>
                <a:ea typeface="Nimbus Sans"/>
                <a:cs typeface="Nimbus Sans"/>
              </a:defRPr>
            </a:defPPr>
          </a:lstStyle>
          <a:p xmlns:a="http://schemas.openxmlformats.org/drawingml/2006/main">
            <a:pPr algn="r">
              <a:buNone/>
              <a:defRPr sz="1125" b="0">
                <a:solidFill>
                  <a:srgbClr val="637B9C"/>
                </a:solidFill>
                <a:latin typeface="Nimbus Sans"/>
                <a:ea typeface="Nimbus Sans"/>
                <a:cs typeface="Nimbus Sans"/>
              </a:defRPr>
            </a:pPr>
            <a:r>
              <a:rPr sz="1125" b="0">
                <a:solidFill>
                  <a:srgbClr val="637B9C"/>
                </a:solidFill>
                <a:latin typeface="Nimbus Sans"/>
                <a:ea typeface="Nimbus Sans"/>
                <a:cs typeface="Nimbus Sans"/>
              </a:rPr>
              <a:t>16</a:t>
            </a:r>
          </a:p>
        </p:txBody>
      </p:sp>
      <p:graphicFrame>
        <p:nvGraphicFramePr>
          <p:cNvPr id="6" name="">
            <a:extLst xmlns:a="http://schemas.openxmlformats.org/drawingml/2006/main">
              <a:ext uri="{FF2B5EF4-FFF2-40B4-BE49-F238E27FC236}">
                <a16:creationId xmlns:a16="http://schemas.microsoft.com/office/drawing/2014/main" id="{9FFDE19A-1737-4325-9F56-620B0FDFAE09}"/>
              </a:ext>
            </a:extLst>
          </p:cNvPr>
          <p:cNvGraphicFramePr/>
          <p:nvPr/>
        </p:nvGraphicFramePr>
        <p:xfrm>
          <a:off xmlns:a="http://schemas.openxmlformats.org/drawingml/2006/main" x="609600" y="1695450"/>
          <a:ext xmlns:a="http://schemas.openxmlformats.org/drawingml/2006/main" cx="10972800" cy="3714750"/>
        </p:xfrm>
        <a:graphic xmlns:a="http://schemas.openxmlformats.org/drawingml/2006/main">
          <a:graphicData uri="http://schemas.openxmlformats.org/drawingml/2006/table">
            <a:tbl>
              <a:tblPr/>
              <a:tblGrid>
                <a:gridCol w="4191000"/>
                <a:gridCol w="1695450"/>
                <a:gridCol w="1695450"/>
                <a:gridCol w="1695450"/>
                <a:gridCol w="1695450"/>
              </a:tblGrid>
              <a:tr h="742950">
                <a:tc>
                  <a:txBody>
                    <a:bodyPr/>
                    <a:lstStyle/>
                    <a:p>
                      <a:pPr algn="l">
                        <a:buNone/>
                      </a:pPr>
                      <a:r>
                        <a:rPr sz="1575" b="1">
                          <a:solidFill>
                            <a:srgbClr val="061747"/>
                          </a:solidFill>
                          <a:latin typeface="Nimbus Sans"/>
                          <a:ea typeface="Nimbus Sans"/>
                          <a:cs typeface="Nimbus Sans"/>
                        </a:rPr>
                        <a:t>Question / anchor</a:t>
                      </a:r>
                    </a:p>
                  </a:txBody>
                  <a:tcPr marL="133350" marR="114300" marT="95250" marB="95250" anchor="ctr">
                    <a:lnL w="7620">
                      <a:solidFill>
                        <a:srgbClr val="C9DAEB"/>
                      </a:solidFill>
                      <a:prstDash val="solid"/>
                    </a:lnL>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425" b="1">
                          <a:solidFill>
                            <a:srgbClr val="061747"/>
                          </a:solidFill>
                          <a:latin typeface="Nimbus Sans"/>
                          <a:ea typeface="Nimbus Sans"/>
                          <a:cs typeface="Nimbus Sans"/>
                        </a:rPr>
                        <a:t>Question-only</a:t>
                      </a:r>
                    </a:p>
                    <a:p>
                      <a:pPr algn="ctr">
                        <a:buNone/>
                      </a:pPr>
                      <a:r>
                        <a:rPr sz="1425" b="1">
                          <a:solidFill>
                            <a:srgbClr val="061747"/>
                          </a:solidFill>
                          <a:latin typeface="Nimbus Sans"/>
                          <a:ea typeface="Nimbus Sans"/>
                          <a:cs typeface="Nimbus Sans"/>
                        </a:rPr>
                        <a:t>baseline</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575" b="1">
                          <a:solidFill>
                            <a:srgbClr val="061747"/>
                          </a:solidFill>
                          <a:latin typeface="Nimbus Sans"/>
                          <a:ea typeface="Nimbus Sans"/>
                          <a:cs typeface="Nimbus Sans"/>
                        </a:rPr>
                        <a:t>Epoch-1</a:t>
                      </a:r>
                    </a:p>
                    <a:p>
                      <a:pPr algn="ctr">
                        <a:buNone/>
                      </a:pPr>
                      <a:r>
                        <a:rPr sz="1575" b="1">
                          <a:solidFill>
                            <a:srgbClr val="061747"/>
                          </a:solidFill>
                          <a:latin typeface="Nimbus Sans"/>
                          <a:ea typeface="Nimbus Sans"/>
                          <a:cs typeface="Nimbus Sans"/>
                        </a:rPr>
                        <a:t>LoRA</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575" b="1">
                          <a:solidFill>
                            <a:srgbClr val="061747"/>
                          </a:solidFill>
                          <a:latin typeface="Nimbus Sans"/>
                          <a:ea typeface="Nimbus Sans"/>
                          <a:cs typeface="Nimbus Sans"/>
                        </a:rPr>
                        <a:t>Selected</a:t>
                      </a:r>
                    </a:p>
                    <a:p>
                      <a:pPr algn="ctr">
                        <a:buNone/>
                      </a:pPr>
                      <a:r>
                        <a:rPr sz="1575" b="1">
                          <a:solidFill>
                            <a:srgbClr val="061747"/>
                          </a:solidFill>
                          <a:latin typeface="Nimbus Sans"/>
                          <a:ea typeface="Nimbus Sans"/>
                          <a:cs typeface="Nimbus Sans"/>
                        </a:rPr>
                        <a:t>top-5</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c>
                  <a:txBody>
                    <a:bodyPr/>
                    <a:lstStyle/>
                    <a:p>
                      <a:pPr algn="ctr">
                        <a:buNone/>
                      </a:pPr>
                      <a:r>
                        <a:rPr sz="1575" b="1">
                          <a:solidFill>
                            <a:srgbClr val="061747"/>
                          </a:solidFill>
                          <a:latin typeface="Nimbus Sans"/>
                          <a:ea typeface="Nimbus Sans"/>
                          <a:cs typeface="Nimbus Sans"/>
                        </a:rPr>
                        <a:t>Qwen with</a:t>
                      </a:r>
                    </a:p>
                    <a:p>
                      <a:pPr algn="ctr">
                        <a:buNone/>
                      </a:pPr>
                      <a:r>
                        <a:rPr sz="1575" b="1">
                          <a:solidFill>
                            <a:srgbClr val="061747"/>
                          </a:solidFill>
                          <a:latin typeface="Nimbus Sans"/>
                          <a:ea typeface="Nimbus Sans"/>
                          <a:cs typeface="Nimbus Sans"/>
                        </a:rPr>
                        <a:t>neighbors</a:t>
                      </a:r>
                    </a:p>
                  </a:txBody>
                  <a:tcPr marL="133350" marR="114300" marT="95250" marB="95250" anchor="ctr">
                    <a:lnR w="7620">
                      <a:solidFill>
                        <a:srgbClr val="C9DAEB"/>
                      </a:solidFill>
                      <a:prstDash val="solid"/>
                    </a:lnR>
                    <a:lnT w="7620">
                      <a:solidFill>
                        <a:srgbClr val="C9DAEB"/>
                      </a:solidFill>
                      <a:prstDash val="solid"/>
                    </a:lnT>
                    <a:lnB w="7620">
                      <a:solidFill>
                        <a:srgbClr val="C9DAEB"/>
                      </a:solidFill>
                      <a:prstDash val="solid"/>
                    </a:lnB>
                    <a:solidFill>
                      <a:srgbClr val="EFF7FE"/>
                    </a:solidFill>
                  </a:tcPr>
                </a:tc>
              </a:tr>
              <a:tr h="742950">
                <a:tc>
                  <a:txBody>
                    <a:bodyPr/>
                    <a:lstStyle/>
                    <a:p>
                      <a:pPr algn="l">
                        <a:buNone/>
                      </a:pPr>
                      <a:r>
                        <a:rPr sz="1800" b="0">
                          <a:solidFill>
                            <a:srgbClr val="061747"/>
                          </a:solidFill>
                          <a:latin typeface="Nimbus Sans"/>
                          <a:ea typeface="Nimbus Sans"/>
                          <a:cs typeface="Nimbus Sans"/>
                        </a:rPr>
                        <a:t>African countries / 12</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800" b="0">
                          <a:solidFill>
                            <a:srgbClr val="061747"/>
                          </a:solidFill>
                          <a:latin typeface="Nimbus Sans"/>
                          <a:ea typeface="Nimbus Sans"/>
                          <a:cs typeface="Nimbus Sans"/>
                        </a:rPr>
                        <a:t>16.55</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800" b="0">
                          <a:solidFill>
                            <a:srgbClr val="061747"/>
                          </a:solidFill>
                          <a:latin typeface="Nimbus Sans"/>
                          <a:ea typeface="Nimbus Sans"/>
                          <a:cs typeface="Nimbus Sans"/>
                        </a:rPr>
                        <a:t>20.46</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800" b="0">
                          <a:solidFill>
                            <a:srgbClr val="061747"/>
                          </a:solidFill>
                          <a:latin typeface="Nimbus Sans"/>
                          <a:ea typeface="Nimbus Sans"/>
                          <a:cs typeface="Nimbus Sans"/>
                        </a:rPr>
                        <a:t>17.60</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800" b="0">
                          <a:solidFill>
                            <a:srgbClr val="061747"/>
                          </a:solidFill>
                          <a:latin typeface="Nimbus Sans"/>
                          <a:ea typeface="Nimbus Sans"/>
                          <a:cs typeface="Nimbus Sans"/>
                        </a:rPr>
                        <a:t>23.71</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742950">
                <a:tc>
                  <a:txBody>
                    <a:bodyPr/>
                    <a:lstStyle/>
                    <a:p>
                      <a:pPr algn="l">
                        <a:buNone/>
                      </a:pPr>
                      <a:r>
                        <a:rPr sz="1800" b="0">
                          <a:solidFill>
                            <a:srgbClr val="061747"/>
                          </a:solidFill>
                          <a:latin typeface="Nimbus Sans"/>
                          <a:ea typeface="Nimbus Sans"/>
                          <a:cs typeface="Nimbus Sans"/>
                        </a:rPr>
                        <a:t>African countries / 65</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800" b="0">
                          <a:solidFill>
                            <a:srgbClr val="061747"/>
                          </a:solidFill>
                          <a:latin typeface="Nimbus Sans"/>
                          <a:ea typeface="Nimbus Sans"/>
                          <a:cs typeface="Nimbus Sans"/>
                        </a:rPr>
                        <a:t>17.35</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800" b="0">
                          <a:solidFill>
                            <a:srgbClr val="061747"/>
                          </a:solidFill>
                          <a:latin typeface="Nimbus Sans"/>
                          <a:ea typeface="Nimbus Sans"/>
                          <a:cs typeface="Nimbus Sans"/>
                        </a:rPr>
                        <a:t>16.14</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800" b="0">
                          <a:solidFill>
                            <a:srgbClr val="061747"/>
                          </a:solidFill>
                          <a:latin typeface="Nimbus Sans"/>
                          <a:ea typeface="Nimbus Sans"/>
                          <a:cs typeface="Nimbus Sans"/>
                        </a:rPr>
                        <a:t>19.49</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800" b="0">
                          <a:solidFill>
                            <a:srgbClr val="061747"/>
                          </a:solidFill>
                          <a:latin typeface="Nimbus Sans"/>
                          <a:ea typeface="Nimbus Sans"/>
                          <a:cs typeface="Nimbus Sans"/>
                        </a:rPr>
                        <a:t>47.63</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r h="742950">
                <a:tc>
                  <a:txBody>
                    <a:bodyPr/>
                    <a:lstStyle/>
                    <a:p>
                      <a:pPr algn="l">
                        <a:buNone/>
                      </a:pPr>
                      <a:r>
                        <a:rPr sz="1800" b="0">
                          <a:solidFill>
                            <a:srgbClr val="061747"/>
                          </a:solidFill>
                          <a:latin typeface="Nimbus Sans"/>
                          <a:ea typeface="Nimbus Sans"/>
                          <a:cs typeface="Nimbus Sans"/>
                        </a:rPr>
                        <a:t>Redwood height / 85 ft</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FFFFF"/>
                    </a:solidFill>
                  </a:tcPr>
                </a:tc>
                <a:tc>
                  <a:txBody>
                    <a:bodyPr/>
                    <a:lstStyle/>
                    <a:p>
                      <a:pPr algn="ctr">
                        <a:buNone/>
                      </a:pPr>
                      <a:r>
                        <a:rPr sz="1800" b="0">
                          <a:solidFill>
                            <a:srgbClr val="061747"/>
                          </a:solidFill>
                          <a:latin typeface="Nimbus Sans"/>
                          <a:ea typeface="Nimbus Sans"/>
                          <a:cs typeface="Nimbus Sans"/>
                        </a:rPr>
                        <a:t>86.82</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800" b="0">
                          <a:solidFill>
                            <a:srgbClr val="061747"/>
                          </a:solidFill>
                          <a:latin typeface="Nimbus Sans"/>
                          <a:ea typeface="Nimbus Sans"/>
                          <a:cs typeface="Nimbus Sans"/>
                        </a:rPr>
                        <a:t>98.85</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800" b="0">
                          <a:solidFill>
                            <a:srgbClr val="061747"/>
                          </a:solidFill>
                          <a:latin typeface="Nimbus Sans"/>
                          <a:ea typeface="Nimbus Sans"/>
                          <a:cs typeface="Nimbus Sans"/>
                        </a:rPr>
                        <a:t>98.92</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c>
                  <a:txBody>
                    <a:bodyPr/>
                    <a:lstStyle/>
                    <a:p>
                      <a:pPr algn="ctr">
                        <a:buNone/>
                      </a:pPr>
                      <a:r>
                        <a:rPr sz="1800" b="0">
                          <a:solidFill>
                            <a:srgbClr val="061747"/>
                          </a:solidFill>
                          <a:latin typeface="Nimbus Sans"/>
                          <a:ea typeface="Nimbus Sans"/>
                          <a:cs typeface="Nimbus Sans"/>
                        </a:rPr>
                        <a:t>140.62</a:t>
                      </a:r>
                    </a:p>
                  </a:txBody>
                  <a:tcPr marL="133350" marR="114300" marT="95250" marB="95250" anchor="ctr">
                    <a:lnR w="7620">
                      <a:solidFill>
                        <a:srgbClr val="C9DAEB"/>
                      </a:solidFill>
                      <a:prstDash val="solid"/>
                    </a:lnR>
                    <a:lnB w="7620">
                      <a:solidFill>
                        <a:srgbClr val="C9DAEB"/>
                      </a:solidFill>
                      <a:prstDash val="solid"/>
                    </a:lnB>
                    <a:solidFill>
                      <a:srgbClr val="FFFFFF"/>
                    </a:solidFill>
                  </a:tcPr>
                </a:tc>
              </a:tr>
              <a:tr h="742950">
                <a:tc>
                  <a:txBody>
                    <a:bodyPr/>
                    <a:lstStyle/>
                    <a:p>
                      <a:pPr algn="l">
                        <a:buNone/>
                      </a:pPr>
                      <a:r>
                        <a:rPr sz="1800" b="0">
                          <a:solidFill>
                            <a:srgbClr val="061747"/>
                          </a:solidFill>
                          <a:latin typeface="Nimbus Sans"/>
                          <a:ea typeface="Nimbus Sans"/>
                          <a:cs typeface="Nimbus Sans"/>
                        </a:rPr>
                        <a:t>Redwood height / 1,000 ft</a:t>
                      </a:r>
                    </a:p>
                  </a:txBody>
                  <a:tcPr marL="133350" marR="114300" marT="95250" marB="95250" anchor="ctr">
                    <a:lnL w="7620">
                      <a:solidFill>
                        <a:srgbClr val="C9DAEB"/>
                      </a:solidFill>
                      <a:prstDash val="solid"/>
                    </a:lnL>
                    <a:lnR w="7620">
                      <a:solidFill>
                        <a:srgbClr val="C9DAEB"/>
                      </a:solidFill>
                      <a:prstDash val="solid"/>
                    </a:lnR>
                    <a:lnB w="7620">
                      <a:solidFill>
                        <a:srgbClr val="C9DAEB"/>
                      </a:solidFill>
                      <a:prstDash val="solid"/>
                    </a:lnB>
                    <a:solidFill>
                      <a:srgbClr val="FAFCFF"/>
                    </a:solidFill>
                  </a:tcPr>
                </a:tc>
                <a:tc>
                  <a:txBody>
                    <a:bodyPr/>
                    <a:lstStyle/>
                    <a:p>
                      <a:pPr algn="ctr">
                        <a:buNone/>
                      </a:pPr>
                      <a:r>
                        <a:rPr sz="1800" b="0">
                          <a:solidFill>
                            <a:srgbClr val="061747"/>
                          </a:solidFill>
                          <a:latin typeface="Nimbus Sans"/>
                          <a:ea typeface="Nimbus Sans"/>
                          <a:cs typeface="Nimbus Sans"/>
                        </a:rPr>
                        <a:t>541.31</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800" b="0">
                          <a:solidFill>
                            <a:srgbClr val="061747"/>
                          </a:solidFill>
                          <a:latin typeface="Nimbus Sans"/>
                          <a:ea typeface="Nimbus Sans"/>
                          <a:cs typeface="Nimbus Sans"/>
                        </a:rPr>
                        <a:t>732.00</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800" b="0">
                          <a:solidFill>
                            <a:srgbClr val="061747"/>
                          </a:solidFill>
                          <a:latin typeface="Nimbus Sans"/>
                          <a:ea typeface="Nimbus Sans"/>
                          <a:cs typeface="Nimbus Sans"/>
                        </a:rPr>
                        <a:t>557.43</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c>
                  <a:txBody>
                    <a:bodyPr/>
                    <a:lstStyle/>
                    <a:p>
                      <a:pPr algn="ctr">
                        <a:buNone/>
                      </a:pPr>
                      <a:r>
                        <a:rPr sz="1800" b="0">
                          <a:solidFill>
                            <a:srgbClr val="061747"/>
                          </a:solidFill>
                          <a:latin typeface="Nimbus Sans"/>
                          <a:ea typeface="Nimbus Sans"/>
                          <a:cs typeface="Nimbus Sans"/>
                        </a:rPr>
                        <a:t>669.27</a:t>
                      </a:r>
                    </a:p>
                  </a:txBody>
                  <a:tcPr marL="133350" marR="114300" marT="95250" marB="95250" anchor="ctr">
                    <a:lnR w="7620">
                      <a:solidFill>
                        <a:srgbClr val="C9DAEB"/>
                      </a:solidFill>
                      <a:prstDash val="solid"/>
                    </a:lnR>
                    <a:lnB w="7620">
                      <a:solidFill>
                        <a:srgbClr val="C9DAEB"/>
                      </a:solidFill>
                      <a:prstDash val="solid"/>
                    </a:lnB>
                    <a:solidFill>
                      <a:srgbClr val="FAFCFF"/>
                    </a:solidFill>
                  </a:tcPr>
                </a:tc>
              </a:tr>
            </a:tbl>
          </a:graphicData>
        </a:graphic>
      </p:graphicFrame>
      <p:sp>
        <p:nvSpPr>
          <p:cNvPr id="7" name="LoRA improves one of four unbounded questions against the baseli">
            <a:extLst xmlns:a="http://schemas.openxmlformats.org/drawingml/2006/main">
              <a:ext uri="{FF2B5EF4-FFF2-40B4-BE49-F238E27FC236}">
                <a16:creationId xmlns:a16="http://schemas.microsoft.com/office/drawing/2014/main" id="{787467E7-7C2E-4B4A-99A4-6E897235E225}"/>
              </a:ext>
            </a:extLst>
          </p:cNvPr>
          <p:cNvSpPr>
            <a:spLocks xmlns:a="http://schemas.openxmlformats.org/drawingml/2006/main" noGrp="1"/>
          </p:cNvSpPr>
          <p:nvPr/>
        </p:nvSpPr>
        <p:spPr>
          <a:xfrm xmlns:a="http://schemas.openxmlformats.org/drawingml/2006/main">
            <a:off x="619125" y="5715000"/>
            <a:ext cx="1095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9E9A"/>
                </a:solidFill>
                <a:latin typeface="Nimbus Sans"/>
                <a:ea typeface="Nimbus Sans"/>
                <a:cs typeface="Nimbus Sans"/>
              </a:defRPr>
            </a:defPPr>
          </a:lstStyle>
          <a:p xmlns:a="http://schemas.openxmlformats.org/drawingml/2006/main">
            <a:pPr algn="l">
              <a:buNone/>
              <a:defRPr sz="1725" b="1">
                <a:solidFill>
                  <a:srgbClr val="009E9A"/>
                </a:solidFill>
                <a:latin typeface="Nimbus Sans"/>
                <a:ea typeface="Nimbus Sans"/>
                <a:cs typeface="Nimbus Sans"/>
              </a:defRPr>
            </a:pPr>
            <a:r>
              <a:rPr sz="1725" b="1">
                <a:solidFill>
                  <a:srgbClr val="009E9A"/>
                </a:solidFill>
                <a:latin typeface="Nimbus Sans"/>
                <a:ea typeface="Nimbus Sans"/>
                <a:cs typeface="Nimbus Sans"/>
              </a:rPr>
              <a:t>LoRA improves one of four unbounded questions against the baseline</a:t>
            </a:r>
          </a:p>
        </p:txBody>
      </p:sp>
    </p:spTree>
    <p:extLst>
      <p:ext uri="{BB962C8B-B14F-4D97-AF65-F5344CB8AC3E}">
        <p14:creationId xmlns:p14="http://schemas.microsoft.com/office/powerpoint/2010/main" val="18940685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What the experiments establish">
            <a:extLst xmlns:a="http://schemas.openxmlformats.org/drawingml/2006/main">
              <a:ext uri="{FF2B5EF4-FFF2-40B4-BE49-F238E27FC236}">
                <a16:creationId xmlns:a16="http://schemas.microsoft.com/office/drawing/2014/main" id="{149B7929-CD8A-4D2E-9620-FEAAD5CD2802}"/>
              </a:ext>
            </a:extLst>
          </p:cNvPr>
          <p:cNvSpPr>
            <a:spLocks xmlns:a="http://schemas.openxmlformats.org/drawingml/2006/main" noGrp="1"/>
          </p:cNvSpPr>
          <p:nvPr/>
        </p:nvSpPr>
        <p:spPr>
          <a:xfrm xmlns:a="http://schemas.openxmlformats.org/drawingml/2006/main">
            <a:off x="571500" y="285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061747"/>
                </a:solidFill>
                <a:latin typeface="Nimbus Sans"/>
                <a:ea typeface="Nimbus Sans"/>
                <a:cs typeface="Nimbus Sans"/>
              </a:defRPr>
            </a:defPPr>
          </a:lstStyle>
          <a:p xmlns:a="http://schemas.openxmlformats.org/drawingml/2006/main">
            <a:pPr algn="l">
              <a:buNone/>
              <a:defRPr sz="3075" b="1">
                <a:solidFill>
                  <a:srgbClr val="061747"/>
                </a:solidFill>
                <a:latin typeface="Nimbus Sans"/>
                <a:ea typeface="Nimbus Sans"/>
                <a:cs typeface="Nimbus Sans"/>
              </a:defRPr>
            </a:pPr>
            <a:r>
              <a:rPr sz="3075" b="1">
                <a:solidFill>
                  <a:srgbClr val="061747"/>
                </a:solidFill>
                <a:latin typeface="Nimbus Sans"/>
                <a:ea typeface="Nimbus Sans"/>
                <a:cs typeface="Nimbus Sans"/>
              </a:rPr>
              <a:t>What the experiments establish</a:t>
            </a:r>
          </a:p>
        </p:txBody>
      </p:sp>
      <p:sp>
        <p:nvSpPr>
          <p:cNvPr id="2" name="Useful diagnostics, with limited evidence of individual predicti">
            <a:extLst xmlns:a="http://schemas.openxmlformats.org/drawingml/2006/main">
              <a:ext uri="{FF2B5EF4-FFF2-40B4-BE49-F238E27FC236}">
                <a16:creationId xmlns:a16="http://schemas.microsoft.com/office/drawing/2014/main" id="{C8833D58-218A-4737-A8B8-81B0ADF639A0}"/>
              </a:ext>
            </a:extLst>
          </p:cNvPr>
          <p:cNvSpPr>
            <a:spLocks xmlns:a="http://schemas.openxmlformats.org/drawingml/2006/main" noGrp="1"/>
          </p:cNvSpPr>
          <p:nvPr/>
        </p:nvSpPr>
        <p:spPr>
          <a:xfrm xmlns:a="http://schemas.openxmlformats.org/drawingml/2006/main">
            <a:off x="590550" y="914400"/>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7B9C"/>
                </a:solidFill>
                <a:latin typeface="Nimbus Sans"/>
                <a:ea typeface="Nimbus Sans"/>
                <a:cs typeface="Nimbus Sans"/>
              </a:defRPr>
            </a:defPPr>
          </a:lstStyle>
          <a:p xmlns:a="http://schemas.openxmlformats.org/drawingml/2006/main">
            <a:pPr algn="l">
              <a:buNone/>
              <a:defRPr sz="1500" b="0">
                <a:solidFill>
                  <a:srgbClr val="637B9C"/>
                </a:solidFill>
                <a:latin typeface="Nimbus Sans"/>
                <a:ea typeface="Nimbus Sans"/>
                <a:cs typeface="Nimbus Sans"/>
              </a:defRPr>
            </a:pPr>
            <a:r>
              <a:rPr sz="1500" b="0">
                <a:solidFill>
                  <a:srgbClr val="637B9C"/>
                </a:solidFill>
                <a:latin typeface="Nimbus Sans"/>
                <a:ea typeface="Nimbus Sans"/>
                <a:cs typeface="Nimbus Sans"/>
              </a:rPr>
              <a:t>Useful diagnostics, with limited evidence of individual prediction gains</a:t>
            </a:r>
          </a:p>
        </p:txBody>
      </p:sp>
      <p:sp>
        <p:nvSpPr>
          <p:cNvPr id="3" name="">
            <a:extLst xmlns:a="http://schemas.openxmlformats.org/drawingml/2006/main">
              <a:ext uri="{FF2B5EF4-FFF2-40B4-BE49-F238E27FC236}">
                <a16:creationId xmlns:a16="http://schemas.microsoft.com/office/drawing/2014/main" id="{7122C885-A359-45F8-AE6F-8372B0D5803D}"/>
              </a:ext>
            </a:extLst>
          </p:cNvPr>
          <p:cNvSpPr>
            <a:spLocks xmlns:a="http://schemas.openxmlformats.org/drawingml/2006/main" noGrp="1"/>
          </p:cNvSpPr>
          <p:nvPr/>
        </p:nvSpPr>
        <p:spPr>
          <a:xfrm xmlns:a="http://schemas.openxmlformats.org/drawingml/2006/main">
            <a:off x="571500" y="6229350"/>
            <a:ext cx="11049000" cy="0"/>
          </a:xfrm>
          <a:prstGeom xmlns:a="http://schemas.openxmlformats.org/drawingml/2006/main" prst="line">
            <a:avLst/>
          </a:prstGeom>
          <a:noFill xmlns:a="http://schemas.openxmlformats.org/drawingml/2006/main"/>
          <a:ln xmlns:a="http://schemas.openxmlformats.org/drawingml/2006/main" w="9525">
            <a:solidFill>
              <a:srgbClr val="DBE8F4"/>
            </a:solidFill>
          </a:ln>
        </p:spPr>
      </p:sp>
      <p:sp>
        <p:nvSpPr>
          <p:cNvPr id="4" name="Every score shown is development validation. The final 309-perso">
            <a:extLst xmlns:a="http://schemas.openxmlformats.org/drawingml/2006/main">
              <a:ext uri="{FF2B5EF4-FFF2-40B4-BE49-F238E27FC236}">
                <a16:creationId xmlns:a16="http://schemas.microsoft.com/office/drawing/2014/main" id="{15BCA858-33FE-4AA7-BDE7-1EB46553CB5E}"/>
              </a:ext>
            </a:extLst>
          </p:cNvPr>
          <p:cNvSpPr>
            <a:spLocks xmlns:a="http://schemas.openxmlformats.org/drawingml/2006/main" noGrp="1"/>
          </p:cNvSpPr>
          <p:nvPr/>
        </p:nvSpPr>
        <p:spPr>
          <a:xfrm xmlns:a="http://schemas.openxmlformats.org/drawingml/2006/main">
            <a:off x="590550" y="6362700"/>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7B9C"/>
                </a:solidFill>
                <a:latin typeface="Nimbus Sans"/>
                <a:ea typeface="Nimbus Sans"/>
                <a:cs typeface="Nimbus Sans"/>
              </a:defRPr>
            </a:defPPr>
          </a:lstStyle>
          <a:p xmlns:a="http://schemas.openxmlformats.org/drawingml/2006/main">
            <a:pPr algn="l">
              <a:buNone/>
              <a:defRPr sz="1050" b="0">
                <a:solidFill>
                  <a:srgbClr val="637B9C"/>
                </a:solidFill>
                <a:latin typeface="Nimbus Sans"/>
                <a:ea typeface="Nimbus Sans"/>
                <a:cs typeface="Nimbus Sans"/>
              </a:defRPr>
            </a:pPr>
            <a:r>
              <a:rPr sz="1050" b="0">
                <a:solidFill>
                  <a:srgbClr val="637B9C"/>
                </a:solidFill>
                <a:latin typeface="Nimbus Sans"/>
                <a:ea typeface="Nimbus Sans"/>
                <a:cs typeface="Nimbus Sans"/>
              </a:rPr>
              <a:t>Every score shown is development validation. The final 309-person test set remains unscored.</a:t>
            </a:r>
          </a:p>
        </p:txBody>
      </p:sp>
      <p:sp>
        <p:nvSpPr>
          <p:cNvPr id="5" name="15">
            <a:extLst xmlns:a="http://schemas.openxmlformats.org/drawingml/2006/main">
              <a:ext uri="{FF2B5EF4-FFF2-40B4-BE49-F238E27FC236}">
                <a16:creationId xmlns:a16="http://schemas.microsoft.com/office/drawing/2014/main" id="{D768BB73-D599-4C2E-817F-9C56D2F2F085}"/>
              </a:ext>
            </a:extLst>
          </p:cNvPr>
          <p:cNvSpPr>
            <a:spLocks xmlns:a="http://schemas.openxmlformats.org/drawingml/2006/main" noGrp="1"/>
          </p:cNvSpPr>
          <p:nvPr/>
        </p:nvSpPr>
        <p:spPr>
          <a:xfrm xmlns:a="http://schemas.openxmlformats.org/drawingml/2006/main">
            <a:off x="11182350" y="63722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37B9C"/>
                </a:solidFill>
                <a:latin typeface="Nimbus Sans"/>
                <a:ea typeface="Nimbus Sans"/>
                <a:cs typeface="Nimbus Sans"/>
              </a:defRPr>
            </a:defPPr>
          </a:lstStyle>
          <a:p xmlns:a="http://schemas.openxmlformats.org/drawingml/2006/main">
            <a:pPr algn="r">
              <a:buNone/>
              <a:defRPr sz="1125" b="0">
                <a:solidFill>
                  <a:srgbClr val="637B9C"/>
                </a:solidFill>
                <a:latin typeface="Nimbus Sans"/>
                <a:ea typeface="Nimbus Sans"/>
                <a:cs typeface="Nimbus Sans"/>
              </a:defRPr>
            </a:pPr>
            <a:r>
              <a:rPr sz="1125" b="0">
                <a:solidFill>
                  <a:srgbClr val="637B9C"/>
                </a:solidFill>
                <a:latin typeface="Nimbus Sans"/>
                <a:ea typeface="Nimbus Sans"/>
                <a:cs typeface="Nimbus Sans"/>
              </a:rPr>
              <a:t>17</a:t>
            </a:r>
          </a:p>
        </p:txBody>
      </p:sp>
      <p:sp>
        <p:nvSpPr>
          <p:cNvPr id="6" name="content-surface">
            <a:extLst xmlns:a="http://schemas.openxmlformats.org/drawingml/2006/main">
              <a:ext uri="{FF2B5EF4-FFF2-40B4-BE49-F238E27FC236}">
                <a16:creationId xmlns:a16="http://schemas.microsoft.com/office/drawing/2014/main" id="{225E0A43-9D1C-42AF-A0FE-823B3A332308}"/>
              </a:ext>
            </a:extLst>
          </p:cNvPr>
          <p:cNvSpPr>
            <a:spLocks xmlns:a="http://schemas.openxmlformats.org/drawingml/2006/main" noGrp="1"/>
          </p:cNvSpPr>
          <p:nvPr/>
        </p:nvSpPr>
        <p:spPr>
          <a:xfrm xmlns:a="http://schemas.openxmlformats.org/drawingml/2006/main">
            <a:off x="609600" y="1676400"/>
            <a:ext cx="3495675" cy="3095625"/>
          </a:xfrm>
          <a:prstGeom xmlns:a="http://schemas.openxmlformats.org/drawingml/2006/main" prst="roundRect">
            <a:avLst>
              <a:gd name="adj" fmla="val 4308"/>
            </a:avLst>
          </a:prstGeom>
          <a:solidFill xmlns:a="http://schemas.openxmlformats.org/drawingml/2006/main">
            <a:srgbClr val="EFF7FE"/>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7" name="Fine-tuning">
            <a:extLst xmlns:a="http://schemas.openxmlformats.org/drawingml/2006/main">
              <a:ext uri="{FF2B5EF4-FFF2-40B4-BE49-F238E27FC236}">
                <a16:creationId xmlns:a16="http://schemas.microsoft.com/office/drawing/2014/main" id="{D8B41A92-40FE-4C8C-8600-FB13559FD4FB}"/>
              </a:ext>
            </a:extLst>
          </p:cNvPr>
          <p:cNvSpPr>
            <a:spLocks xmlns:a="http://schemas.openxmlformats.org/drawingml/2006/main" noGrp="1"/>
          </p:cNvSpPr>
          <p:nvPr/>
        </p:nvSpPr>
        <p:spPr>
          <a:xfrm xmlns:a="http://schemas.openxmlformats.org/drawingml/2006/main">
            <a:off x="838200" y="1914525"/>
            <a:ext cx="3057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673FF"/>
                </a:solidFill>
                <a:latin typeface="Nimbus Sans"/>
                <a:ea typeface="Nimbus Sans"/>
                <a:cs typeface="Nimbus Sans"/>
              </a:defRPr>
            </a:defPPr>
          </a:lstStyle>
          <a:p xmlns:a="http://schemas.openxmlformats.org/drawingml/2006/main">
            <a:pPr algn="l">
              <a:buNone/>
              <a:defRPr sz="2175" b="1">
                <a:solidFill>
                  <a:srgbClr val="1673FF"/>
                </a:solidFill>
                <a:latin typeface="Nimbus Sans"/>
                <a:ea typeface="Nimbus Sans"/>
                <a:cs typeface="Nimbus Sans"/>
              </a:defRPr>
            </a:pPr>
            <a:r>
              <a:rPr sz="2175" b="1">
                <a:solidFill>
                  <a:srgbClr val="1673FF"/>
                </a:solidFill>
                <a:latin typeface="Nimbus Sans"/>
                <a:ea typeface="Nimbus Sans"/>
                <a:cs typeface="Nimbus Sans"/>
              </a:rPr>
              <a:t>Fine-tuning</a:t>
            </a:r>
          </a:p>
        </p:txBody>
      </p:sp>
      <p:sp>
        <p:nvSpPr>
          <p:cNvPr id="8" name="Full training reaches the majority pattern in the nine-question ">
            <a:extLst xmlns:a="http://schemas.openxmlformats.org/drawingml/2006/main">
              <a:ext uri="{FF2B5EF4-FFF2-40B4-BE49-F238E27FC236}">
                <a16:creationId xmlns:a16="http://schemas.microsoft.com/office/drawing/2014/main" id="{63583820-1AE4-40B2-899C-F79D291780BB}"/>
              </a:ext>
            </a:extLst>
          </p:cNvPr>
          <p:cNvSpPr>
            <a:spLocks xmlns:a="http://schemas.openxmlformats.org/drawingml/2006/main" noGrp="1"/>
          </p:cNvSpPr>
          <p:nvPr/>
        </p:nvSpPr>
        <p:spPr>
          <a:xfrm xmlns:a="http://schemas.openxmlformats.org/drawingml/2006/main">
            <a:off x="838200" y="2628900"/>
            <a:ext cx="30384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61747"/>
                </a:solidFill>
                <a:latin typeface="Nimbus Sans"/>
                <a:ea typeface="Nimbus Sans"/>
                <a:cs typeface="Nimbus Sans"/>
              </a:defRPr>
            </a:defPPr>
          </a:lstStyle>
          <a:p xmlns:a="http://schemas.openxmlformats.org/drawingml/2006/main">
            <a:pPr algn="l">
              <a:buNone/>
              <a:defRPr sz="1875" b="0">
                <a:solidFill>
                  <a:srgbClr val="061747"/>
                </a:solidFill>
                <a:latin typeface="Nimbus Sans"/>
                <a:ea typeface="Nimbus Sans"/>
                <a:cs typeface="Nimbus Sans"/>
              </a:defRPr>
            </a:pPr>
            <a:r>
              <a:rPr sz="1875" b="0">
                <a:solidFill>
                  <a:srgbClr val="061747"/>
                </a:solidFill>
                <a:latin typeface="Nimbus Sans"/>
                <a:ea typeface="Nimbus Sans"/>
                <a:cs typeface="Nimbus Sans"/>
              </a:rPr>
              <a:t>Full training reaches the majority pattern in the </a:t>
            </a:r>
            <a:r>
              <a:rPr sz="1875" b="0">
                <a:solidFill>
                  <a:srgbClr val="061747"/>
                </a:solidFill>
                <a:latin typeface="Nimbus Sans"/>
                <a:ea typeface="Nimbus Sans"/>
                <a:cs typeface="Nimbus Sans"/>
              </a:rPr>
              <a:t>binary-choice pilot</a:t>
            </a:r>
            <a:r>
              <a:rPr sz="1875" b="0">
                <a:solidFill>
                  <a:srgbClr val="061747"/>
                </a:solidFill>
                <a:latin typeface="Nimbus Sans"/>
                <a:ea typeface="Nimbus Sans"/>
                <a:cs typeface="Nimbus Sans"/>
              </a:rPr>
              <a:t>. Full-B LoRA is essentially tied with the pricing baseline.</a:t>
            </a:r>
          </a:p>
        </p:txBody>
      </p:sp>
      <p:sp>
        <p:nvSpPr>
          <p:cNvPr id="9" name="content-surface">
            <a:extLst xmlns:a="http://schemas.openxmlformats.org/drawingml/2006/main">
              <a:ext uri="{FF2B5EF4-FFF2-40B4-BE49-F238E27FC236}">
                <a16:creationId xmlns:a16="http://schemas.microsoft.com/office/drawing/2014/main" id="{97F2CC96-3F34-4993-9C39-9877AB4F270D}"/>
              </a:ext>
            </a:extLst>
          </p:cNvPr>
          <p:cNvSpPr>
            <a:spLocks xmlns:a="http://schemas.openxmlformats.org/drawingml/2006/main" noGrp="1"/>
          </p:cNvSpPr>
          <p:nvPr/>
        </p:nvSpPr>
        <p:spPr>
          <a:xfrm xmlns:a="http://schemas.openxmlformats.org/drawingml/2006/main">
            <a:off x="4400550" y="1676400"/>
            <a:ext cx="3495675" cy="3095625"/>
          </a:xfrm>
          <a:prstGeom xmlns:a="http://schemas.openxmlformats.org/drawingml/2006/main" prst="roundRect">
            <a:avLst>
              <a:gd name="adj" fmla="val 4308"/>
            </a:avLst>
          </a:prstGeom>
          <a:solidFill xmlns:a="http://schemas.openxmlformats.org/drawingml/2006/main">
            <a:srgbClr val="EFFBFA"/>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0" name="Personalization">
            <a:extLst xmlns:a="http://schemas.openxmlformats.org/drawingml/2006/main">
              <a:ext uri="{FF2B5EF4-FFF2-40B4-BE49-F238E27FC236}">
                <a16:creationId xmlns:a16="http://schemas.microsoft.com/office/drawing/2014/main" id="{5CEC1E67-5AC5-4145-A9FA-DDBC60716A03}"/>
              </a:ext>
            </a:extLst>
          </p:cNvPr>
          <p:cNvSpPr>
            <a:spLocks xmlns:a="http://schemas.openxmlformats.org/drawingml/2006/main" noGrp="1"/>
          </p:cNvSpPr>
          <p:nvPr/>
        </p:nvSpPr>
        <p:spPr>
          <a:xfrm xmlns:a="http://schemas.openxmlformats.org/drawingml/2006/main">
            <a:off x="4629150" y="1914525"/>
            <a:ext cx="3057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9E9A"/>
                </a:solidFill>
                <a:latin typeface="Nimbus Sans"/>
                <a:ea typeface="Nimbus Sans"/>
                <a:cs typeface="Nimbus Sans"/>
              </a:defRPr>
            </a:defPPr>
          </a:lstStyle>
          <a:p xmlns:a="http://schemas.openxmlformats.org/drawingml/2006/main">
            <a:pPr algn="l">
              <a:buNone/>
              <a:defRPr sz="2175" b="1">
                <a:solidFill>
                  <a:srgbClr val="009E9A"/>
                </a:solidFill>
                <a:latin typeface="Nimbus Sans"/>
                <a:ea typeface="Nimbus Sans"/>
                <a:cs typeface="Nimbus Sans"/>
              </a:defRPr>
            </a:pPr>
            <a:r>
              <a:rPr sz="2175" b="1">
                <a:solidFill>
                  <a:srgbClr val="009E9A"/>
                </a:solidFill>
                <a:latin typeface="Nimbus Sans"/>
                <a:ea typeface="Nimbus Sans"/>
                <a:cs typeface="Nimbus Sans"/>
              </a:rPr>
              <a:t>Personalization</a:t>
            </a:r>
          </a:p>
        </p:txBody>
      </p:sp>
      <p:sp>
        <p:nvSpPr>
          <p:cNvPr id="11" name="Removing or shuffling A changes predictions and several scores. ">
            <a:extLst xmlns:a="http://schemas.openxmlformats.org/drawingml/2006/main">
              <a:ext uri="{FF2B5EF4-FFF2-40B4-BE49-F238E27FC236}">
                <a16:creationId xmlns:a16="http://schemas.microsoft.com/office/drawing/2014/main" id="{74DB6B70-845F-4F5E-AFBC-192B3F53C94D}"/>
              </a:ext>
            </a:extLst>
          </p:cNvPr>
          <p:cNvSpPr>
            <a:spLocks xmlns:a="http://schemas.openxmlformats.org/drawingml/2006/main" noGrp="1"/>
          </p:cNvSpPr>
          <p:nvPr/>
        </p:nvSpPr>
        <p:spPr>
          <a:xfrm xmlns:a="http://schemas.openxmlformats.org/drawingml/2006/main">
            <a:off x="4629150" y="2628900"/>
            <a:ext cx="30384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61747"/>
                </a:solidFill>
                <a:latin typeface="Nimbus Sans"/>
                <a:ea typeface="Nimbus Sans"/>
                <a:cs typeface="Nimbus Sans"/>
              </a:defRPr>
            </a:defPPr>
          </a:lstStyle>
          <a:p xmlns:a="http://schemas.openxmlformats.org/drawingml/2006/main">
            <a:pPr algn="l">
              <a:buNone/>
              <a:defRPr sz="1875" b="0">
                <a:solidFill>
                  <a:srgbClr val="061747"/>
                </a:solidFill>
                <a:latin typeface="Nimbus Sans"/>
                <a:ea typeface="Nimbus Sans"/>
                <a:cs typeface="Nimbus Sans"/>
              </a:defRPr>
            </a:pPr>
            <a:r>
              <a:rPr sz="1875" b="0">
                <a:solidFill>
                  <a:srgbClr val="061747"/>
                </a:solidFill>
                <a:latin typeface="Nimbus Sans"/>
                <a:ea typeface="Nimbus Sans"/>
                <a:cs typeface="Nimbus Sans"/>
              </a:rPr>
              <a:t>Removing or shuffling A changes predictions and several scores. These results do not establish a reliable gain over strong baselines.</a:t>
            </a:r>
          </a:p>
        </p:txBody>
      </p:sp>
      <p:sp>
        <p:nvSpPr>
          <p:cNvPr id="12" name="content-surface">
            <a:extLst xmlns:a="http://schemas.openxmlformats.org/drawingml/2006/main">
              <a:ext uri="{FF2B5EF4-FFF2-40B4-BE49-F238E27FC236}">
                <a16:creationId xmlns:a16="http://schemas.microsoft.com/office/drawing/2014/main" id="{CD31E729-69D7-44EC-80CB-E230E4E72A7F}"/>
              </a:ext>
            </a:extLst>
          </p:cNvPr>
          <p:cNvSpPr>
            <a:spLocks xmlns:a="http://schemas.openxmlformats.org/drawingml/2006/main" noGrp="1"/>
          </p:cNvSpPr>
          <p:nvPr/>
        </p:nvSpPr>
        <p:spPr>
          <a:xfrm xmlns:a="http://schemas.openxmlformats.org/drawingml/2006/main">
            <a:off x="8191500" y="1676400"/>
            <a:ext cx="3495675" cy="3095625"/>
          </a:xfrm>
          <a:prstGeom xmlns:a="http://schemas.openxmlformats.org/drawingml/2006/main" prst="roundRect">
            <a:avLst>
              <a:gd name="adj" fmla="val 4308"/>
            </a:avLst>
          </a:prstGeom>
          <a:solidFill xmlns:a="http://schemas.openxmlformats.org/drawingml/2006/main">
            <a:srgbClr val="F5F3FE"/>
          </a:solidFill>
          <a:ln xmlns:a="http://schemas.openxmlformats.org/drawingml/2006/main" w="9525">
            <a:solidFill>
              <a:srgbClr val="DBE8F4"/>
            </a:solid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3" name="Retrieval">
            <a:extLst xmlns:a="http://schemas.openxmlformats.org/drawingml/2006/main">
              <a:ext uri="{FF2B5EF4-FFF2-40B4-BE49-F238E27FC236}">
                <a16:creationId xmlns:a16="http://schemas.microsoft.com/office/drawing/2014/main" id="{39D130FB-5582-41E5-B8F7-63D527E6250E}"/>
              </a:ext>
            </a:extLst>
          </p:cNvPr>
          <p:cNvSpPr>
            <a:spLocks xmlns:a="http://schemas.openxmlformats.org/drawingml/2006/main" noGrp="1"/>
          </p:cNvSpPr>
          <p:nvPr/>
        </p:nvSpPr>
        <p:spPr>
          <a:xfrm xmlns:a="http://schemas.openxmlformats.org/drawingml/2006/main">
            <a:off x="8420100" y="1914525"/>
            <a:ext cx="30575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8254F5"/>
                </a:solidFill>
                <a:latin typeface="Nimbus Sans"/>
                <a:ea typeface="Nimbus Sans"/>
                <a:cs typeface="Nimbus Sans"/>
              </a:defRPr>
            </a:defPPr>
          </a:lstStyle>
          <a:p xmlns:a="http://schemas.openxmlformats.org/drawingml/2006/main">
            <a:pPr algn="l">
              <a:buNone/>
              <a:defRPr sz="2175" b="1">
                <a:solidFill>
                  <a:srgbClr val="8254F5"/>
                </a:solidFill>
                <a:latin typeface="Nimbus Sans"/>
                <a:ea typeface="Nimbus Sans"/>
                <a:cs typeface="Nimbus Sans"/>
              </a:defRPr>
            </a:pPr>
            <a:r>
              <a:rPr sz="2175" b="1">
                <a:solidFill>
                  <a:srgbClr val="8254F5"/>
                </a:solidFill>
                <a:latin typeface="Nimbus Sans"/>
                <a:ea typeface="Nimbus Sans"/>
                <a:cs typeface="Nimbus Sans"/>
              </a:rPr>
              <a:t>Retrieval</a:t>
            </a:r>
          </a:p>
        </p:txBody>
      </p:sp>
      <p:sp>
        <p:nvSpPr>
          <p:cNvPr id="14" name="Selected-answer embeddings help neighbor voting. The small answe">
            <a:extLst xmlns:a="http://schemas.openxmlformats.org/drawingml/2006/main">
              <a:ext uri="{FF2B5EF4-FFF2-40B4-BE49-F238E27FC236}">
                <a16:creationId xmlns:a16="http://schemas.microsoft.com/office/drawing/2014/main" id="{F159D217-30BF-494A-8F6D-58D74C8C4197}"/>
              </a:ext>
            </a:extLst>
          </p:cNvPr>
          <p:cNvSpPr>
            <a:spLocks xmlns:a="http://schemas.openxmlformats.org/drawingml/2006/main" noGrp="1"/>
          </p:cNvSpPr>
          <p:nvPr/>
        </p:nvSpPr>
        <p:spPr>
          <a:xfrm xmlns:a="http://schemas.openxmlformats.org/drawingml/2006/main">
            <a:off x="8420100" y="2628900"/>
            <a:ext cx="30384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61747"/>
                </a:solidFill>
                <a:latin typeface="Nimbus Sans"/>
                <a:ea typeface="Nimbus Sans"/>
                <a:cs typeface="Nimbus Sans"/>
              </a:defRPr>
            </a:defPPr>
          </a:lstStyle>
          <a:p xmlns:a="http://schemas.openxmlformats.org/drawingml/2006/main">
            <a:pPr algn="l">
              <a:buNone/>
              <a:defRPr sz="1875" b="0">
                <a:solidFill>
                  <a:srgbClr val="061747"/>
                </a:solidFill>
                <a:latin typeface="Nimbus Sans"/>
                <a:ea typeface="Nimbus Sans"/>
                <a:cs typeface="Nimbus Sans"/>
              </a:defRPr>
            </a:pPr>
            <a:r>
              <a:rPr sz="1875" b="0">
                <a:solidFill>
                  <a:srgbClr val="061747"/>
                </a:solidFill>
                <a:latin typeface="Nimbus Sans"/>
                <a:ea typeface="Nimbus Sans"/>
                <a:cs typeface="Nimbus Sans"/>
              </a:rPr>
              <a:t>Selected-answer embeddings help neighbor voting. The small answering model still performs below the </a:t>
            </a:r>
            <a:r>
              <a:rPr sz="1875" b="0">
                <a:solidFill>
                  <a:srgbClr val="061747"/>
                </a:solidFill>
                <a:latin typeface="Nimbus Sans"/>
                <a:ea typeface="Nimbus Sans"/>
                <a:cs typeface="Nimbus Sans"/>
              </a:rPr>
              <a:t>question-only baseline</a:t>
            </a:r>
            <a:r>
              <a:rPr sz="1875" b="0">
                <a:solidFill>
                  <a:srgbClr val="061747"/>
                </a:solidFill>
                <a:latin typeface="Nimbus Sans"/>
                <a:ea typeface="Nimbus Sans"/>
                <a:cs typeface="Nimbus Sans"/>
              </a:rPr>
              <a:t>.</a:t>
            </a:r>
          </a:p>
        </p:txBody>
      </p:sp>
      <p:sp>
        <p:nvSpPr>
          <p:cNvPr id="15" name="Next step">
            <a:extLst xmlns:a="http://schemas.openxmlformats.org/drawingml/2006/main">
              <a:ext uri="{FF2B5EF4-FFF2-40B4-BE49-F238E27FC236}">
                <a16:creationId xmlns:a16="http://schemas.microsoft.com/office/drawing/2014/main" id="{F9DEA30A-5E79-4A5F-8899-342E9329AA57}"/>
              </a:ext>
            </a:extLst>
          </p:cNvPr>
          <p:cNvSpPr>
            <a:spLocks xmlns:a="http://schemas.openxmlformats.org/drawingml/2006/main" noGrp="1"/>
          </p:cNvSpPr>
          <p:nvPr/>
        </p:nvSpPr>
        <p:spPr>
          <a:xfrm xmlns:a="http://schemas.openxmlformats.org/drawingml/2006/main">
            <a:off x="619125" y="5248275"/>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61747"/>
                </a:solidFill>
                <a:latin typeface="Nimbus Sans"/>
                <a:ea typeface="Nimbus Sans"/>
                <a:cs typeface="Nimbus Sans"/>
              </a:defRPr>
            </a:defPPr>
          </a:lstStyle>
          <a:p xmlns:a="http://schemas.openxmlformats.org/drawingml/2006/main">
            <a:pPr algn="l">
              <a:buNone/>
              <a:defRPr sz="2175" b="1">
                <a:solidFill>
                  <a:srgbClr val="061747"/>
                </a:solidFill>
                <a:latin typeface="Nimbus Sans"/>
                <a:ea typeface="Nimbus Sans"/>
                <a:cs typeface="Nimbus Sans"/>
              </a:defRPr>
            </a:pPr>
            <a:r>
              <a:rPr sz="2175" b="1">
                <a:solidFill>
                  <a:srgbClr val="061747"/>
                </a:solidFill>
                <a:latin typeface="Nimbus Sans"/>
                <a:ea typeface="Nimbus Sans"/>
                <a:cs typeface="Nimbus Sans"/>
              </a:rPr>
              <a:t>Next step</a:t>
            </a:r>
          </a:p>
        </p:txBody>
      </p:sp>
      <p:sp>
        <p:nvSpPr>
          <p:cNvPr id="16" name="Freeze the model and scoring rule, then compare once on the rese">
            <a:extLst xmlns:a="http://schemas.openxmlformats.org/drawingml/2006/main">
              <a:ext uri="{FF2B5EF4-FFF2-40B4-BE49-F238E27FC236}">
                <a16:creationId xmlns:a16="http://schemas.microsoft.com/office/drawing/2014/main" id="{2AA6AD31-68DE-4EAE-B741-1DB1D82DEE38}"/>
              </a:ext>
            </a:extLst>
          </p:cNvPr>
          <p:cNvSpPr>
            <a:spLocks xmlns:a="http://schemas.openxmlformats.org/drawingml/2006/main" noGrp="1"/>
          </p:cNvSpPr>
          <p:nvPr/>
        </p:nvSpPr>
        <p:spPr>
          <a:xfrm xmlns:a="http://schemas.openxmlformats.org/drawingml/2006/main">
            <a:off x="2466975" y="5219700"/>
            <a:ext cx="89439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9E9A"/>
                </a:solidFill>
                <a:latin typeface="Nimbus Sans"/>
                <a:ea typeface="Nimbus Sans"/>
                <a:cs typeface="Nimbus Sans"/>
              </a:defRPr>
            </a:defPPr>
          </a:lstStyle>
          <a:p xmlns:a="http://schemas.openxmlformats.org/drawingml/2006/main">
            <a:pPr algn="l">
              <a:buNone/>
              <a:defRPr sz="2025" b="1">
                <a:solidFill>
                  <a:srgbClr val="009E9A"/>
                </a:solidFill>
                <a:latin typeface="Nimbus Sans"/>
                <a:ea typeface="Nimbus Sans"/>
                <a:cs typeface="Nimbus Sans"/>
              </a:defRPr>
            </a:pPr>
            <a:r>
              <a:rPr sz="2025" b="1">
                <a:solidFill>
                  <a:srgbClr val="009E9A"/>
                </a:solidFill>
                <a:latin typeface="Nimbus Sans"/>
                <a:ea typeface="Nimbus Sans"/>
                <a:cs typeface="Nimbus Sans"/>
              </a:rPr>
              <a:t>Freeze the model and scoring rule, then compare once on the reserved test set with participant-level uncertainty estimates.</a:t>
            </a:r>
          </a:p>
        </p:txBody>
      </p:sp>
    </p:spTree>
    <p:extLst>
      <p:ext uri="{BB962C8B-B14F-4D97-AF65-F5344CB8AC3E}">
        <p14:creationId xmlns:p14="http://schemas.microsoft.com/office/powerpoint/2010/main" val="15694149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42875" dist="51294" dir="4091915">
              <a:srgbClr val="327BC3">
                <a:alpha val="9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2026-10-12T13:02:25.5350000Z</dcterms:created>
  <dcterms:modified xsi:type="dcterms:W3CDTF">2026-10-12T13:02:25.5350000Z</dcterms:modified>
</coreProperties>
</file>